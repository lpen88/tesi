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8" r:id="rId22"/>
    <p:sldId id="279" r:id="rId23"/>
    <p:sldId id="28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CCC"/>
    <a:srgbClr val="EA9999"/>
    <a:srgbClr val="B7E1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A35D5A-2F8F-4E7A-83D5-81749FFD959E}" v="2923" dt="2025-12-05T10:42:56.594"/>
    <p1510:client id="{B797F5BD-98D0-47E7-94A5-1C436E9EC037}" v="3802" dt="2025-12-05T11:56:41.3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Risulato Filtraggio</c:v>
                </c:pt>
              </c:strCache>
            </c:strRef>
          </c:tx>
          <c:dPt>
            <c:idx val="0"/>
            <c:bubble3D val="0"/>
            <c:spPr>
              <a:solidFill>
                <a:srgbClr val="EA99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81-4595-A2B7-A2A355FBA90E}"/>
              </c:ext>
            </c:extLst>
          </c:dPt>
          <c:dPt>
            <c:idx val="1"/>
            <c:bubble3D val="0"/>
            <c:spPr>
              <a:solidFill>
                <a:srgbClr val="F4CCC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5481-4595-A2B7-A2A355FBA90E}"/>
              </c:ext>
            </c:extLst>
          </c:dPt>
          <c:dPt>
            <c:idx val="2"/>
            <c:bubble3D val="0"/>
            <c:spPr>
              <a:solidFill>
                <a:srgbClr val="B7E1CD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5481-4595-A2B7-A2A355FBA9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5B2-4F07-9DE4-B162922D3E3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Non Rilevanti</c:v>
                </c:pt>
                <c:pt idx="1">
                  <c:v>Non Documentati</c:v>
                </c:pt>
                <c:pt idx="2">
                  <c:v>Rilevanti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81-4595-A2B7-A2A355FBA9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legendEntry>
      <c:legendEntry>
        <c:idx val="3"/>
        <c:delete val="1"/>
      </c:legendEntry>
      <c:layout>
        <c:manualLayout>
          <c:xMode val="edge"/>
          <c:yMode val="edge"/>
          <c:x val="0.16216308878858862"/>
          <c:y val="0.85967925913516485"/>
          <c:w val="0.70158023021705684"/>
          <c:h val="0.120201451574756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88E82-1176-EE3E-1BA5-19ED0E324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CBCE5-CF02-BE2A-18D3-75E24276F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9D2E0-3389-1911-B387-CC6D045C5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19C0-717A-BDBB-E12A-D1A29B17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BAEC8-FD5E-C1A4-9268-A1586A1B7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793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ABFB-E19D-809F-36B2-9BBC5D86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4B48-EF6B-5513-7A58-D50E91AB7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2E2B-2438-DF5C-B27A-148B7E02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B466-562D-B481-45C9-78799103C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94964-5084-8838-05E4-CED2005B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658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A234-9799-4416-0B08-3DADA5B96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6D823-659C-80E3-EE40-730ED83D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F58C5-A344-77CA-1964-04D5B284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8FC0C-B1F7-56AB-59A1-0C3B2BCAA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AC812-1970-1671-768F-B1B99D8E1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8532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B58B5-9DCE-8102-9BA1-5171CB05C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A4C98-85BE-8968-411D-85DA8F948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B790-1E6F-44E9-128D-671D25766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73023-EA24-7B8A-966C-5B202874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289CE-D455-F2DD-07DD-B4D16132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1AF2C-D1F7-E1E8-A22F-6BC12A20D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955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5587C-2B08-714C-5EC1-0D55D048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A109A-12D6-6712-1F96-65A6C50A4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A8F3-B250-511D-6653-1363A08D4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EE68F-95AE-660C-5534-08340B1C0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D7D7F6-A6FC-A32D-3E0C-4595C2B0A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0C1A75-3106-C0C1-9253-831CB924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CE1D0-C8ED-1DE5-E31F-7683533D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384D5A-BBAC-574B-0615-D6D60099D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8758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C0A-A28E-BB37-51AB-F3E01D5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91C10-07D3-AD17-C08D-60990D40D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C3DD1-C973-506F-1C2F-6F1BF946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0C126-2680-ED41-DDA0-2F417D36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9509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CDE19-22FF-3770-2E0D-3435B6DA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28985E-F722-48B6-311D-20C17D442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3B9AC-E68E-7F2D-65C9-462760A6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6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6D39-F814-7544-7B8C-48CF352E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AA5D5-6390-BF9D-C15F-893C9F6CE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D12AC1-F07F-A826-4DF4-2C8360DB4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373E4D-D131-5931-9C1D-1281A6B39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D501D-8AFD-79E9-5994-3310E5D8D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0951-8A79-A772-06CC-91387739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419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6E45-CD92-A080-713F-B0A2F3BAF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D44045-2961-4C2F-8029-AA477DBB0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8E220-CEB0-CB93-BB97-9831CF57E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0F319-7778-E56D-5171-F210F1A2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0DDEF-43B7-A34D-FF26-4802D2513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991C1-E86B-0A4D-7931-C4DE67EFD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6913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1F017-12B5-0C8D-55B4-22528912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14C7A6-256C-48A5-9620-43B31BAD4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5C123-E4A3-C152-0EE2-E47873964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EC93F-5E6D-0118-DE43-FCAD22C62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579C-D7F1-045C-F32E-94D5F39B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012B5F-D184-03BD-7BF9-202E18B084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6ED5A4-84EA-6DD3-0EE2-A40F89AC5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691C-1371-8821-F65E-A2B338898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5356-BAFF-4C91-CA11-BBE0E26C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6568-7BE8-EDCB-23DD-F72E5B6C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2448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8E6AE8-61FD-79F5-0B61-97E0FBAE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657B4-2785-3D1E-3382-28910A980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54441-B849-8C8E-BCF1-09D4FBF196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E073-91E7-9C58-44F0-727BD583E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69F31-E570-31F2-5289-4986314BD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06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CDFA3-29B2-2C5F-3B65-7B3B622C6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737" y="3094843"/>
            <a:ext cx="11434527" cy="1320163"/>
          </a:xfrm>
        </p:spPr>
        <p:txBody>
          <a:bodyPr>
            <a:normAutofit/>
          </a:bodyPr>
          <a:lstStyle/>
          <a:p>
            <a:r>
              <a:rPr lang="it-IT" sz="3200" noProof="0" dirty="0"/>
              <a:t>Pre-trained models reuse: a case-study in precision farming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0DEF1D-E288-A8DD-E337-6B8C22780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09432" y="428907"/>
            <a:ext cx="2227154" cy="708434"/>
          </a:xfrm>
        </p:spPr>
        <p:txBody>
          <a:bodyPr>
            <a:normAutofit fontScale="90000"/>
          </a:bodyPr>
          <a:lstStyle/>
          <a:p>
            <a:r>
              <a:rPr lang="it-IT" sz="2600" b="1" noProof="0" dirty="0">
                <a:solidFill>
                  <a:schemeClr val="tx2"/>
                </a:solidFill>
              </a:rPr>
              <a:t>Università degli </a:t>
            </a:r>
            <a:br>
              <a:rPr lang="it-IT" sz="2600" b="1" noProof="0" dirty="0">
                <a:solidFill>
                  <a:schemeClr val="tx2"/>
                </a:solidFill>
              </a:rPr>
            </a:br>
            <a:r>
              <a:rPr lang="it-IT" sz="2600" b="1" noProof="0" dirty="0">
                <a:solidFill>
                  <a:schemeClr val="tx2"/>
                </a:solidFill>
              </a:rPr>
              <a:t>Studi del Sannio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4D617B-04B4-87BC-51B9-E12EED80F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0015" y="72428"/>
            <a:ext cx="1267350" cy="14213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E37B07-CE02-8DED-2F0C-8F1CA9E72EAB}"/>
              </a:ext>
            </a:extLst>
          </p:cNvPr>
          <p:cNvSpPr txBox="1"/>
          <p:nvPr/>
        </p:nvSpPr>
        <p:spPr>
          <a:xfrm>
            <a:off x="3303006" y="2082290"/>
            <a:ext cx="5585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noProof="0" dirty="0">
                <a:solidFill>
                  <a:schemeClr val="tx2"/>
                </a:solidFill>
              </a:rPr>
              <a:t>Dipartimento di Ingegneria</a:t>
            </a:r>
          </a:p>
          <a:p>
            <a:pPr algn="ctr"/>
            <a:r>
              <a:rPr lang="it-IT" i="1" noProof="0" dirty="0">
                <a:solidFill>
                  <a:schemeClr val="tx2"/>
                </a:solidFill>
              </a:rPr>
              <a:t>Corso di Laurea in Ingegneria Informatica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F9A90-42DE-83F5-BAD3-F8A2B2951487}"/>
              </a:ext>
            </a:extLst>
          </p:cNvPr>
          <p:cNvSpPr txBox="1"/>
          <p:nvPr/>
        </p:nvSpPr>
        <p:spPr>
          <a:xfrm>
            <a:off x="1056237" y="4606336"/>
            <a:ext cx="30962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Relatore</a:t>
            </a:r>
          </a:p>
          <a:p>
            <a:r>
              <a:rPr lang="it-IT" noProof="0" dirty="0"/>
              <a:t>Prof. Damian Andrew Tamburri</a:t>
            </a:r>
          </a:p>
          <a:p>
            <a:endParaRPr lang="it-IT" noProof="0" dirty="0"/>
          </a:p>
          <a:p>
            <a:r>
              <a:rPr lang="it-IT" sz="1400" noProof="0" dirty="0"/>
              <a:t>Correlatrice</a:t>
            </a:r>
          </a:p>
          <a:p>
            <a:r>
              <a:rPr lang="it-IT" noProof="0" dirty="0"/>
              <a:t>Federica Pepe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3DA0F-131A-6367-70FA-2B67687987B8}"/>
              </a:ext>
            </a:extLst>
          </p:cNvPr>
          <p:cNvSpPr txBox="1"/>
          <p:nvPr/>
        </p:nvSpPr>
        <p:spPr>
          <a:xfrm>
            <a:off x="8724526" y="4608220"/>
            <a:ext cx="24112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Candidato</a:t>
            </a:r>
          </a:p>
          <a:p>
            <a:r>
              <a:rPr lang="it-IT" noProof="0" dirty="0"/>
              <a:t>Loris Umberto Pennucci</a:t>
            </a:r>
          </a:p>
          <a:p>
            <a:r>
              <a:rPr lang="it-IT" noProof="0" dirty="0"/>
              <a:t>Matr. 863003783</a:t>
            </a:r>
          </a:p>
          <a:p>
            <a:endParaRPr lang="it-IT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4A858-E361-2356-F66D-95B48DB667E4}"/>
              </a:ext>
            </a:extLst>
          </p:cNvPr>
          <p:cNvSpPr txBox="1"/>
          <p:nvPr/>
        </p:nvSpPr>
        <p:spPr>
          <a:xfrm>
            <a:off x="4556911" y="6495905"/>
            <a:ext cx="30781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noProof="0" dirty="0"/>
              <a:t>Anno Accademico 2024-2025</a:t>
            </a:r>
          </a:p>
        </p:txBody>
      </p:sp>
    </p:spTree>
    <p:extLst>
      <p:ext uri="{BB962C8B-B14F-4D97-AF65-F5344CB8AC3E}">
        <p14:creationId xmlns:p14="http://schemas.microsoft.com/office/powerpoint/2010/main" val="85857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CF9F3-0A4B-2598-4BD4-CFEFAA8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Perchè riusare i modelli?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A285E-0CBB-4FCB-DFD4-8CF59BD2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1800" noProof="0" dirty="0"/>
              <a:t>Il riuso consiste nell’adattare modelli AI già addestrati su grandi dataset a nuovi compiti</a:t>
            </a:r>
          </a:p>
          <a:p>
            <a:r>
              <a:rPr lang="it-IT" sz="1800" noProof="0" dirty="0"/>
              <a:t>Solo su HuggingFace sono caricati più di 2 milioni di modelli</a:t>
            </a:r>
          </a:p>
          <a:p>
            <a:r>
              <a:rPr lang="it-IT" sz="1800" noProof="0" dirty="0"/>
              <a:t>Riusare modelli pre-addestrati conviene in quanto:</a:t>
            </a:r>
          </a:p>
          <a:p>
            <a:pPr lvl="1"/>
            <a:r>
              <a:rPr lang="it-IT" sz="1400" noProof="0" dirty="0"/>
              <a:t>riduce tempi e costi di addestramento</a:t>
            </a:r>
          </a:p>
          <a:p>
            <a:pPr lvl="1"/>
            <a:r>
              <a:rPr lang="it-IT" sz="1400" noProof="0" dirty="0"/>
              <a:t>sfrutta conoscenze già acquisite su grandi dataset</a:t>
            </a:r>
          </a:p>
          <a:p>
            <a:pPr lvl="1"/>
            <a:r>
              <a:rPr lang="it-IT" sz="1400" noProof="0" dirty="0"/>
              <a:t>‘’facile’’ adattamento a compiti specifici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67086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615A3-6A60-2DB8-0F24-37460B30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E178E-8652-7D50-4A1D-4E2B2CC7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Precision Farming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59A99-3365-E7E8-0F5A-CAF5657DB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1800" noProof="0" dirty="0"/>
              <a:t>Approccio innovativo all’agricoltura che integra tecnologie digitali per ottimizzare la gestione delle colture</a:t>
            </a:r>
          </a:p>
          <a:p>
            <a:pPr lvl="1"/>
            <a:r>
              <a:rPr lang="it-IT" sz="1400" noProof="0" dirty="0"/>
              <a:t>Sensori IoT, droni, immagini satellitarie...</a:t>
            </a:r>
          </a:p>
          <a:p>
            <a:r>
              <a:rPr lang="it-IT" sz="1800" noProof="0" dirty="0"/>
              <a:t>Aumentare le rese agricole</a:t>
            </a:r>
          </a:p>
          <a:p>
            <a:r>
              <a:rPr lang="it-IT" sz="1800" noProof="0" dirty="0"/>
              <a:t>Ridurre sprechi</a:t>
            </a:r>
          </a:p>
          <a:p>
            <a:r>
              <a:rPr lang="it-IT" sz="1800" noProof="0" dirty="0"/>
              <a:t>Fornire un tool decisionale agli agricoltori</a:t>
            </a:r>
          </a:p>
          <a:p>
            <a:endParaRPr lang="it-IT" sz="1800" noProof="0" dirty="0"/>
          </a:p>
          <a:p>
            <a:pPr marL="0" indent="0">
              <a:buNone/>
            </a:pPr>
            <a:r>
              <a:rPr lang="it-IT" sz="1800" noProof="0" dirty="0"/>
              <a:t>Vista l’elevata quantità di dati coinvolta in questa tecnica, l’AI si presta bene a processarli e analizzarli</a:t>
            </a:r>
          </a:p>
          <a:p>
            <a:pPr marL="0" indent="0">
              <a:buNone/>
            </a:pPr>
            <a:r>
              <a:rPr lang="it-IT" sz="1800" noProof="0" dirty="0"/>
              <a:t>Progetto di riferimento: Farm-Tech</a:t>
            </a:r>
          </a:p>
          <a:p>
            <a:pPr lvl="1"/>
            <a:endParaRPr lang="it-IT" sz="1400" noProof="0" dirty="0"/>
          </a:p>
          <a:p>
            <a:pPr lvl="1"/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211411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E7DC-01BA-7A78-9498-DBEAD39D8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FDEB-58DA-E349-BD4E-94940C6A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Farm-Tech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DD7A-2BD1-39E5-0364-97DDD222C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025" y="1518966"/>
            <a:ext cx="10692897" cy="4351338"/>
          </a:xfrm>
        </p:spPr>
        <p:txBody>
          <a:bodyPr>
            <a:normAutofit/>
          </a:bodyPr>
          <a:lstStyle/>
          <a:p>
            <a:r>
              <a:rPr lang="it-IT" sz="1800" noProof="0" dirty="0"/>
              <a:t>Progetto di ricerca congiunto tra SmartShaped e Trace Technologies, parte dell’ecosistema Tech4You</a:t>
            </a:r>
          </a:p>
          <a:p>
            <a:r>
              <a:rPr lang="it-IT" sz="1800" noProof="0" dirty="0"/>
              <a:t>Implementazione pratica del Precision Farming, mirata a supportare l’agricoltura sostenibile in ambienti Mediterranei</a:t>
            </a:r>
          </a:p>
          <a:p>
            <a:r>
              <a:rPr lang="it-IT" sz="1800" noProof="0" dirty="0"/>
              <a:t>Architettura Modulare</a:t>
            </a:r>
          </a:p>
          <a:p>
            <a:pPr lvl="1"/>
            <a:r>
              <a:rPr lang="it-IT" sz="1400" noProof="0" dirty="0"/>
              <a:t>Immagazzinamento e gestione dati (MinIO, GeoNode)</a:t>
            </a:r>
          </a:p>
          <a:p>
            <a:pPr lvl="1"/>
            <a:r>
              <a:rPr lang="it-IT" sz="1400" noProof="0" dirty="0"/>
              <a:t>Presentazione dati (GeoServer)</a:t>
            </a:r>
          </a:p>
          <a:p>
            <a:pPr lvl="1"/>
            <a:r>
              <a:rPr lang="it-IT" sz="1400" noProof="0" dirty="0"/>
              <a:t>Machine Learning (chaM3Leon)</a:t>
            </a:r>
          </a:p>
          <a:p>
            <a:pPr lvl="1"/>
            <a:r>
              <a:rPr lang="it-IT" sz="1400" noProof="0" dirty="0"/>
              <a:t>Moduli di supporto (PostgreSQL, Spark, Django...)</a:t>
            </a:r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0" indent="0">
              <a:buNone/>
            </a:pPr>
            <a:r>
              <a:rPr lang="it-IT" sz="1800" noProof="0" dirty="0"/>
              <a:t>chaM3Leon è un framework modulare sviluppato da Smart Shaped</a:t>
            </a:r>
            <a:br>
              <a:rPr lang="it-IT" sz="1800" noProof="0" dirty="0"/>
            </a:br>
            <a:r>
              <a:rPr lang="it-IT" sz="1800" noProof="0" dirty="0"/>
              <a:t>a supporto di applicazioni machine learning; è in questo modulo</a:t>
            </a:r>
            <a:br>
              <a:rPr lang="it-IT" sz="1800" noProof="0" dirty="0"/>
            </a:br>
            <a:r>
              <a:rPr lang="it-IT" sz="1800" noProof="0" dirty="0"/>
              <a:t>che vengono addestrati/usati modelli di 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B6F499-F3EE-CFB6-56BF-515EE4169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279" y="2501391"/>
            <a:ext cx="5112190" cy="426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62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E772-0061-E370-DF05-C823AA14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2AA5-70E4-A2A4-7D37-D8FF08EF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Obbiettivo della tesi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80ABC-DDAB-3C84-FA86-2E1C8C3C5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72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Definire criteri e metriche per valutare la riusabilità dei modelli pre-addestrati nel contesto di </a:t>
            </a:r>
            <a:br>
              <a:rPr lang="it-IT" sz="2000" noProof="0" dirty="0"/>
            </a:br>
            <a:r>
              <a:rPr lang="it-IT" sz="2000" noProof="0" dirty="0"/>
              <a:t>Farm-Tech</a:t>
            </a:r>
          </a:p>
          <a:p>
            <a:pPr marL="0" indent="0">
              <a:buNone/>
            </a:pPr>
            <a:r>
              <a:rPr lang="it-IT" sz="2000" noProof="0" dirty="0"/>
              <a:t>Formalmente:</a:t>
            </a:r>
          </a:p>
          <a:p>
            <a:pPr lvl="1"/>
            <a:r>
              <a:rPr lang="it-IT" sz="1800" noProof="0" dirty="0"/>
              <a:t>What criteria and metrics can be considered to evaluate the reusability of pre-trained models in precision farming, and how can these be applied within the Farm-Tech project?</a:t>
            </a:r>
          </a:p>
          <a:p>
            <a:pPr lvl="1"/>
            <a:endParaRPr lang="it-IT" sz="1800" noProof="0" dirty="0"/>
          </a:p>
          <a:p>
            <a:pPr marL="0" indent="0">
              <a:buNone/>
            </a:pPr>
            <a:r>
              <a:rPr lang="it-IT" sz="2000" noProof="0" dirty="0"/>
              <a:t>Stabilito un metodo per valutare la riusabilità di modelli pre-addestrati, verrà applicato a un elenco di modelli selezionati, analizzando in modo sistematico il loro potenziale impiego in Farm-Tech.</a:t>
            </a:r>
          </a:p>
          <a:p>
            <a:pPr marL="457200" lvl="1" indent="0">
              <a:buNone/>
            </a:pPr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6490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656F-233C-2639-7CC3-1588ED464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88BB31-1D8D-B07A-4F5D-70AFCE10B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092" y="1954779"/>
            <a:ext cx="8865816" cy="453809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00D084-7EEB-6DF6-CF3F-9962FE3BD990}"/>
              </a:ext>
            </a:extLst>
          </p:cNvPr>
          <p:cNvSpPr txBox="1"/>
          <p:nvPr/>
        </p:nvSpPr>
        <p:spPr>
          <a:xfrm>
            <a:off x="950614" y="1421394"/>
            <a:ext cx="843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La metodologia seguita in questa ricerca si basa sullo standard CRISP-DM</a:t>
            </a:r>
          </a:p>
        </p:txBody>
      </p:sp>
    </p:spTree>
    <p:extLst>
      <p:ext uri="{BB962C8B-B14F-4D97-AF65-F5344CB8AC3E}">
        <p14:creationId xmlns:p14="http://schemas.microsoft.com/office/powerpoint/2010/main" val="423413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56913-B985-2897-46E7-126F1908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3BF40-BE79-5D10-B38A-BFDC94D64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167E6-727B-C726-3DBC-2D0319334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000" noProof="0" dirty="0"/>
              <a:t>Business Understanding: valutare la riusabilità di modelli pre-addestrati all’interno di Farm-Tech</a:t>
            </a:r>
          </a:p>
          <a:p>
            <a:r>
              <a:rPr lang="it-IT" sz="2000" noProof="0" dirty="0"/>
              <a:t>Data Understanding: partendo da una lista di modelli, possiamo determinare il loro scopo in base alle informazioni fornite sulla loro model card</a:t>
            </a:r>
          </a:p>
          <a:p>
            <a:r>
              <a:rPr lang="it-IT" sz="2000" noProof="0" dirty="0"/>
              <a:t>Data Preparation: rimozione dei modelli non rilevanti dalla lista (revisione manuale)</a:t>
            </a:r>
          </a:p>
          <a:p>
            <a:r>
              <a:rPr lang="it-IT" sz="2000" noProof="0" dirty="0"/>
              <a:t>Modeling: I modelli rilevanti possono essere raggruppati in base alla task che compiono e analizzati a livello di dati, architettura, licenza</a:t>
            </a:r>
          </a:p>
          <a:p>
            <a:r>
              <a:rPr lang="it-IT" sz="2000" noProof="0" dirty="0"/>
              <a:t>Evaluation: combinando le informazioni ottenute dalle fasi precedenti, possiamo formulare una metrica per valutare la riusabilità di ogni modello considerato</a:t>
            </a:r>
          </a:p>
          <a:p>
            <a:r>
              <a:rPr lang="it-IT" sz="2000" dirty="0"/>
              <a:t>Deployment (?): considerazioni sulle implementazioni pratiche di ogni modello in Farm-Tech</a:t>
            </a:r>
            <a:endParaRPr lang="it-IT" sz="2000" noProof="0" dirty="0"/>
          </a:p>
        </p:txBody>
      </p:sp>
    </p:spTree>
    <p:extLst>
      <p:ext uri="{BB962C8B-B14F-4D97-AF65-F5344CB8AC3E}">
        <p14:creationId xmlns:p14="http://schemas.microsoft.com/office/powerpoint/2010/main" val="347807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EC75E-C1D6-1EB5-1CB0-BA9E3EF59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D171-A5BB-F727-5758-F41FB23FA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Ricerca dei modelli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356F6-74D1-DCD4-6B04-47189E6D2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 modelli considerati sono stati recuperati da HuggingFace se soddisfano le seguenti condizioni:</a:t>
            </a:r>
          </a:p>
          <a:p>
            <a:pPr lvl="1"/>
            <a:r>
              <a:rPr lang="it-IT" sz="1800" noProof="0" dirty="0"/>
              <a:t>Contiene uno qualunque dei seguenti termini all’interno della model card</a:t>
            </a:r>
          </a:p>
          <a:p>
            <a:pPr lvl="2"/>
            <a:r>
              <a:rPr lang="it-IT" sz="1400" dirty="0"/>
              <a:t>"agriculture", "crop", "biomass", "yield", "nitrogen", "phosphorus", "soil", "plant", "drone", "remote sensing", "time series", "field", "tomato", "heatmap", "organism", "vegetable"</a:t>
            </a:r>
            <a:endParaRPr lang="it-IT" sz="1400" noProof="0" dirty="0"/>
          </a:p>
          <a:p>
            <a:pPr lvl="1"/>
            <a:r>
              <a:rPr lang="it-IT" sz="1800" dirty="0"/>
              <a:t>Il modello deve avere più di 100 download totali</a:t>
            </a:r>
          </a:p>
          <a:p>
            <a:pPr lvl="2"/>
            <a:r>
              <a:rPr lang="it-IT" sz="1400" dirty="0"/>
              <a:t>Rilevanza</a:t>
            </a:r>
          </a:p>
          <a:p>
            <a:pPr lvl="2"/>
            <a:r>
              <a:rPr lang="it-IT" sz="1400" dirty="0"/>
              <a:t>Sicurezza</a:t>
            </a:r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r>
              <a:rPr lang="it-IT" sz="2000" dirty="0"/>
              <a:t>In tutto, 100 modelli sono stati recuperati</a:t>
            </a:r>
          </a:p>
        </p:txBody>
      </p:sp>
    </p:spTree>
    <p:extLst>
      <p:ext uri="{BB962C8B-B14F-4D97-AF65-F5344CB8AC3E}">
        <p14:creationId xmlns:p14="http://schemas.microsoft.com/office/powerpoint/2010/main" val="2444327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4F27-527F-22FC-0391-10EDD204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58BCF-83B9-5EA4-F734-FED57584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65CCF-D6F2-938E-822E-1C43FF2CE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Il metodo di raccolta dei modelli potrebbe includere un elevata quantità di falsi positivi</a:t>
            </a:r>
          </a:p>
          <a:p>
            <a:pPr marL="0" indent="0">
              <a:buNone/>
            </a:pPr>
            <a:r>
              <a:rPr lang="it-IT" sz="2000" noProof="0" dirty="0"/>
              <a:t>Per ovviare, una verifica manuale è stata eseguita in maniera indipendente da due ricercatori, rimuovendo modelli secondo questi parametri:</a:t>
            </a:r>
          </a:p>
          <a:p>
            <a:pPr lvl="1"/>
            <a:r>
              <a:rPr lang="it-IT" sz="1800" dirty="0"/>
              <a:t>Scopo del modello non rilevante a Farm-Tech</a:t>
            </a:r>
          </a:p>
          <a:p>
            <a:pPr lvl="1"/>
            <a:r>
              <a:rPr lang="it-IT" sz="1800" dirty="0"/>
              <a:t>Modello non documentato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0411A3-BFA2-0BC1-2E80-E2A0F332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56" y="3076753"/>
            <a:ext cx="3781991" cy="34161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24914E-7E2C-242B-03C6-79FC448F7D9E}"/>
              </a:ext>
            </a:extLst>
          </p:cNvPr>
          <p:cNvSpPr txBox="1"/>
          <p:nvPr/>
        </p:nvSpPr>
        <p:spPr>
          <a:xfrm>
            <a:off x="1156543" y="6492874"/>
            <a:ext cx="2387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documentato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84E678-520D-5C23-FC22-E70D49D4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644" y="3076752"/>
            <a:ext cx="4828962" cy="34161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ABC328-B5AB-3529-A906-BD3A61098DFE}"/>
              </a:ext>
            </a:extLst>
          </p:cNvPr>
          <p:cNvSpPr txBox="1"/>
          <p:nvPr/>
        </p:nvSpPr>
        <p:spPr>
          <a:xfrm>
            <a:off x="7970408" y="6492874"/>
            <a:ext cx="20034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rilevante</a:t>
            </a:r>
          </a:p>
        </p:txBody>
      </p:sp>
    </p:spTree>
    <p:extLst>
      <p:ext uri="{BB962C8B-B14F-4D97-AF65-F5344CB8AC3E}">
        <p14:creationId xmlns:p14="http://schemas.microsoft.com/office/powerpoint/2010/main" val="1465074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5AE15-F7CC-911E-0A0B-427E474E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C11CF-743E-D110-4E8E-DC4AE4E10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7B235-AABE-407D-A715-B06DA6886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In tutto:</a:t>
            </a:r>
          </a:p>
          <a:p>
            <a:pPr lvl="1"/>
            <a:r>
              <a:rPr lang="it-IT" sz="2000" dirty="0"/>
              <a:t>60 modelli rimossi perchè non rilevanti</a:t>
            </a:r>
          </a:p>
          <a:p>
            <a:pPr lvl="1"/>
            <a:r>
              <a:rPr lang="it-IT" sz="2000" noProof="0" dirty="0"/>
              <a:t>25 modell</a:t>
            </a:r>
            <a:r>
              <a:rPr lang="it-IT" sz="2000" dirty="0"/>
              <a:t>i rimossi perchè non documentati</a:t>
            </a:r>
          </a:p>
          <a:p>
            <a:pPr lvl="1"/>
            <a:r>
              <a:rPr lang="it-IT" sz="2000" noProof="0" dirty="0"/>
              <a:t>15 modelli approvati come </a:t>
            </a:r>
            <a:r>
              <a:rPr lang="it-IT" sz="2000" dirty="0"/>
              <a:t>‘’rilevanti’’</a:t>
            </a:r>
            <a:endParaRPr lang="it-IT" sz="2000" noProof="0" dirty="0"/>
          </a:p>
          <a:p>
            <a:pPr marL="0" indent="0">
              <a:buNone/>
            </a:pPr>
            <a:endParaRPr lang="it-IT" sz="1800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C8802C40-067F-D040-4D14-92204662DC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084117"/>
              </p:ext>
            </p:extLst>
          </p:nvPr>
        </p:nvGraphicFramePr>
        <p:xfrm>
          <a:off x="6427960" y="1720159"/>
          <a:ext cx="5687589" cy="4870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96E66FA2-D553-DCF2-92C2-9AC5C2260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31" y="3930059"/>
            <a:ext cx="6605006" cy="27695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F91A73-5C3A-7167-1416-C81158F1F11F}"/>
              </a:ext>
            </a:extLst>
          </p:cNvPr>
          <p:cNvSpPr txBox="1"/>
          <p:nvPr/>
        </p:nvSpPr>
        <p:spPr>
          <a:xfrm>
            <a:off x="1744880" y="3509574"/>
            <a:ext cx="29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Lista Intera accessibile da [12]</a:t>
            </a:r>
          </a:p>
        </p:txBody>
      </p:sp>
    </p:spTree>
    <p:extLst>
      <p:ext uri="{BB962C8B-B14F-4D97-AF65-F5344CB8AC3E}">
        <p14:creationId xmlns:p14="http://schemas.microsoft.com/office/powerpoint/2010/main" val="2235080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6D1DD-CAF5-5B43-24D9-C2AFD5BF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298ED-78F5-6C8A-A53E-2834298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EA30E-715D-CF1B-8468-3304A7F48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dirty="0"/>
              <a:t>I 15 modelli rilevanti svolgono 4 task:</a:t>
            </a:r>
          </a:p>
          <a:p>
            <a:pPr lvl="1"/>
            <a:r>
              <a:rPr lang="it-IT" sz="2000" dirty="0"/>
              <a:t>Analisi di Serie Temporali</a:t>
            </a:r>
          </a:p>
          <a:p>
            <a:pPr lvl="1"/>
            <a:r>
              <a:rPr lang="it-IT" sz="2000" dirty="0"/>
              <a:t>Classificazione di Immagini</a:t>
            </a:r>
          </a:p>
          <a:p>
            <a:pPr lvl="1"/>
            <a:r>
              <a:rPr lang="it-IT" sz="2000" dirty="0"/>
              <a:t>Analisi di immagini acquisite da droni (remote sensing)</a:t>
            </a:r>
            <a:endParaRPr lang="it-IT" sz="2000" dirty="0">
              <a:ea typeface="Calibri"/>
              <a:cs typeface="Calibri"/>
            </a:endParaRPr>
          </a:p>
          <a:p>
            <a:pPr lvl="1"/>
            <a:r>
              <a:rPr lang="it-IT" sz="2000" dirty="0"/>
              <a:t>Assistente chatbot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55469E-0F76-91F6-0E0C-7B626250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517629"/>
            <a:ext cx="9103740" cy="277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33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717C-F8F5-0091-E9F1-FD738401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1A99-5626-AAE2-7C1D-A3D9FA43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1DC8D-9C88-0C83-BE7F-DEF2D2EE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38" y="117695"/>
            <a:ext cx="7021162" cy="662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57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DAD5-FF8A-0D1A-835E-F1816F72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E4392-CCFA-B0B2-A005-ED9B61C1D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- Licenze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ACEF4-7552-94A1-327C-48A27C559D9A}"/>
              </a:ext>
            </a:extLst>
          </p:cNvPr>
          <p:cNvSpPr txBox="1"/>
          <p:nvPr/>
        </p:nvSpPr>
        <p:spPr>
          <a:xfrm>
            <a:off x="986828" y="1276540"/>
            <a:ext cx="10773623" cy="46474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/>
              <a:t>Fattore importante è la licenza con cui il modello è rilasciato.</a:t>
            </a:r>
          </a:p>
          <a:p>
            <a:r>
              <a:rPr lang="it-IT" sz="2000" dirty="0"/>
              <a:t>Maggior parte dei modelli è rilasciato sotto Apache 2.0, permette l’uso in ambito commerciale</a:t>
            </a:r>
          </a:p>
          <a:p>
            <a:endParaRPr lang="it-IT" sz="2000" dirty="0"/>
          </a:p>
          <a:p>
            <a:r>
              <a:rPr lang="it-IT" sz="2000" dirty="0"/>
              <a:t>I modelli segnati da (*) sono descritti in seguito:</a:t>
            </a:r>
            <a:endParaRPr lang="it-IT" sz="2000" dirty="0">
              <a:ea typeface="Calibri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Disease Detection [17]: rilasciato sotto MIT, è un fine-tune di ViT che presenta Apache 2.0; entrambe sono licenze permissive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AdaptLLM Remote Sensing [20][25]: nessuna licenza sulla model card, una repository GitHub linkata da entrambe riporta licenza BIGAI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Leaf Detection and Classification [22]: non </a:t>
            </a:r>
            <a:r>
              <a:rPr lang="en-US" dirty="0" err="1"/>
              <a:t>presenta</a:t>
            </a:r>
            <a:r>
              <a:rPr lang="en-US" dirty="0"/>
              <a:t> alcuna </a:t>
            </a:r>
            <a:r>
              <a:rPr lang="en-US" dirty="0" err="1"/>
              <a:t>licenza</a:t>
            </a:r>
            <a:r>
              <a:rPr lang="en-US" dirty="0"/>
              <a:t>, ma </a:t>
            </a:r>
            <a:r>
              <a:rPr lang="en-US" dirty="0" err="1"/>
              <a:t>basato</a:t>
            </a:r>
            <a:r>
              <a:rPr lang="en-US" dirty="0"/>
              <a:t> </a:t>
            </a:r>
            <a:r>
              <a:rPr lang="en-US" dirty="0" err="1"/>
              <a:t>sull’architettura</a:t>
            </a:r>
            <a:r>
              <a:rPr lang="en-US" dirty="0"/>
              <a:t> YOLOv8, </a:t>
            </a:r>
            <a:r>
              <a:rPr lang="en-US" dirty="0" err="1"/>
              <a:t>disponibile</a:t>
            </a:r>
            <a:r>
              <a:rPr lang="en-US" dirty="0"/>
              <a:t> sotto </a:t>
            </a:r>
            <a:r>
              <a:rPr lang="en-US" dirty="0" err="1"/>
              <a:t>licenza</a:t>
            </a:r>
            <a:r>
              <a:rPr lang="en-US" dirty="0"/>
              <a:t> AGPL-3.0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CropSeekLLM [23]: fine-tune di DeepSeek-r1 (MIT), il modello presenta la licenza DARJYO 1.0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Classification of Leaf Diseases [24]: fine-tune di </a:t>
            </a:r>
            <a:r>
              <a:rPr lang="en-US" dirty="0" err="1"/>
              <a:t>LLaVA</a:t>
            </a:r>
            <a:r>
              <a:rPr lang="en-US" dirty="0"/>
              <a:t> 1.5,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presenta</a:t>
            </a:r>
            <a:r>
              <a:rPr lang="en-US" dirty="0"/>
              <a:t> </a:t>
            </a:r>
            <a:r>
              <a:rPr lang="en-US" dirty="0" err="1"/>
              <a:t>licenza</a:t>
            </a:r>
            <a:r>
              <a:rPr lang="en-US" dirty="0"/>
              <a:t> llama2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3047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9961-027D-0841-6E8B-60556459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1515-E6AB-3D64-B6A3-3A63AC46F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Analisi Serie Temporali - TinyTimeMixers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EF3E6-216F-8141-B60D-4939C290C789}"/>
              </a:ext>
            </a:extLst>
          </p:cNvPr>
          <p:cNvSpPr txBox="1"/>
          <p:nvPr/>
        </p:nvSpPr>
        <p:spPr>
          <a:xfrm>
            <a:off x="986828" y="1276540"/>
            <a:ext cx="1077362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Parte della IBM Granite Suite, una famiglia di general-</a:t>
            </a:r>
            <a:r>
              <a:rPr lang="it-IT" sz="2000" dirty="0" err="1"/>
              <a:t>purpose</a:t>
            </a:r>
            <a:r>
              <a:rPr lang="it-IT" sz="2000" dirty="0"/>
              <a:t> </a:t>
            </a:r>
            <a:r>
              <a:rPr lang="it-IT" sz="2000" dirty="0" err="1"/>
              <a:t>foundation</a:t>
            </a:r>
            <a:r>
              <a:rPr lang="it-IT" sz="2000" dirty="0"/>
              <a:t>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Serie Temporale Multivariata: una sequenza di osservazioni raccolte nel tempo che include più variabili misurate simultaneamente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TinyTimeMixer (TTM) sono dei modelli che eseguono previsioni su serie temporali di grandi dimensioni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915C21-347A-5AB9-D871-B3F56D1DD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890" y="3708793"/>
            <a:ext cx="6642048" cy="26211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15C9EA-128D-3DD0-B789-ABF9DAC6262A}"/>
              </a:ext>
            </a:extLst>
          </p:cNvPr>
          <p:cNvSpPr txBox="1"/>
          <p:nvPr/>
        </p:nvSpPr>
        <p:spPr>
          <a:xfrm>
            <a:off x="4112090" y="6329912"/>
            <a:ext cx="3535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Esempio di Serie Temporale Multivariata</a:t>
            </a:r>
          </a:p>
        </p:txBody>
      </p:sp>
    </p:spTree>
    <p:extLst>
      <p:ext uri="{BB962C8B-B14F-4D97-AF65-F5344CB8AC3E}">
        <p14:creationId xmlns:p14="http://schemas.microsoft.com/office/powerpoint/2010/main" val="1479624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A805-0160-25AA-6EB4-B75A6EAB2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F28E-7882-FE63-B296-FB7382E4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Analisi Serie Temporali - TinyTimeMixers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4B36A-82E9-2307-0A83-82F4E733C056}"/>
              </a:ext>
            </a:extLst>
          </p:cNvPr>
          <p:cNvSpPr txBox="1"/>
          <p:nvPr/>
        </p:nvSpPr>
        <p:spPr>
          <a:xfrm>
            <a:off x="986828" y="1276540"/>
            <a:ext cx="10773623" cy="390876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Basati sull’architettura TSMixer, garantendo dimensioni molto ridotte (~1M parametri)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Addestrati su un’elevata quantità di dati eterogenei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Clima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Consumi elettrici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Produzione centrali eoliche e solari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/>
              <a:t>Fluttuazioni del Bitcoin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 panose="020F0502020204030204"/>
                <a:cs typeface="Calibri" panose="020F0502020204030204"/>
              </a:rPr>
              <a:t>…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/>
              <a:t>Due varianti principali, </a:t>
            </a:r>
            <a:r>
              <a:rPr lang="it-IT" sz="2000" i="1" dirty="0"/>
              <a:t>r1</a:t>
            </a:r>
            <a:r>
              <a:rPr lang="it-IT" sz="2000" dirty="0"/>
              <a:t> ed </a:t>
            </a:r>
            <a:r>
              <a:rPr lang="it-IT" sz="2000" i="1" dirty="0"/>
              <a:t>r2</a:t>
            </a:r>
            <a:r>
              <a:rPr lang="it-IT" sz="2000" dirty="0"/>
              <a:t>; differiscono per quantità </a:t>
            </a:r>
            <a:br>
              <a:rPr lang="it-IT" sz="2000" dirty="0"/>
            </a:br>
            <a:r>
              <a:rPr lang="it-IT" sz="2000" dirty="0"/>
              <a:t>di dati usati durante l’addestramento</a:t>
            </a:r>
            <a:br>
              <a:rPr lang="it-IT" sz="2000" dirty="0"/>
            </a:br>
            <a:r>
              <a:rPr lang="it-IT" sz="2000" dirty="0"/>
              <a:t>(~750M r2 e ~250M r1)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it-IT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3F6C6-764E-3E5B-A8C5-DF089E294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307" y="2910569"/>
            <a:ext cx="4427144" cy="35823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17293-2E6D-558B-57AE-11A61E1593BB}"/>
              </a:ext>
            </a:extLst>
          </p:cNvPr>
          <p:cNvSpPr txBox="1"/>
          <p:nvPr/>
        </p:nvSpPr>
        <p:spPr>
          <a:xfrm>
            <a:off x="7186990" y="6492874"/>
            <a:ext cx="46911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Rapporto dimensione/tempo previsione di vari modelli</a:t>
            </a:r>
          </a:p>
        </p:txBody>
      </p:sp>
    </p:spTree>
    <p:extLst>
      <p:ext uri="{BB962C8B-B14F-4D97-AF65-F5344CB8AC3E}">
        <p14:creationId xmlns:p14="http://schemas.microsoft.com/office/powerpoint/2010/main" val="26076923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105E7-66C8-8FF6-CECB-1F41CC54F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C7EA6-E654-7447-417C-F7DC221BE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Analisi Serie Temporali - TinyTimeMixers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83338E-515E-35B2-C4FF-E2FDB94A3169}"/>
              </a:ext>
            </a:extLst>
          </p:cNvPr>
          <p:cNvSpPr txBox="1"/>
          <p:nvPr/>
        </p:nvSpPr>
        <p:spPr>
          <a:xfrm>
            <a:off x="986828" y="1276540"/>
            <a:ext cx="10773623" cy="160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Esistono vari modelli, diversi in termini di </a:t>
            </a:r>
            <a:r>
              <a:rPr lang="it-IT" sz="2000" i="1" dirty="0"/>
              <a:t>context </a:t>
            </a:r>
            <a:r>
              <a:rPr lang="it-IT" sz="2000" dirty="0"/>
              <a:t>e </a:t>
            </a:r>
            <a:r>
              <a:rPr lang="it-IT" sz="2000" i="1" dirty="0"/>
              <a:t>prediction length</a:t>
            </a:r>
            <a:r>
              <a:rPr lang="it-IT" sz="2000" dirty="0"/>
              <a:t> (</a:t>
            </a:r>
            <a:r>
              <a:rPr lang="it-IT" sz="2000" i="1" dirty="0"/>
              <a:t>cl </a:t>
            </a:r>
            <a:r>
              <a:rPr lang="it-IT" sz="2000" dirty="0"/>
              <a:t>e </a:t>
            </a:r>
            <a:r>
              <a:rPr lang="it-IT" sz="2000" i="1" dirty="0"/>
              <a:t>pl</a:t>
            </a:r>
            <a:r>
              <a:rPr lang="it-IT" sz="2000" dirty="0"/>
              <a:t> 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i="1" dirty="0"/>
              <a:t>cl</a:t>
            </a:r>
            <a:r>
              <a:rPr lang="it-IT" dirty="0"/>
              <a:t>-</a:t>
            </a:r>
            <a:r>
              <a:rPr lang="it-IT" i="1" dirty="0"/>
              <a:t>pl</a:t>
            </a:r>
            <a:r>
              <a:rPr lang="it-IT" dirty="0"/>
              <a:t>-</a:t>
            </a:r>
            <a:r>
              <a:rPr lang="it-IT" i="1" dirty="0"/>
              <a:t>rn, </a:t>
            </a:r>
            <a:r>
              <a:rPr lang="it-IT" dirty="0"/>
              <a:t>quest’ultimo indica la versione </a:t>
            </a:r>
            <a:r>
              <a:rPr lang="it-IT" i="1" dirty="0"/>
              <a:t>r1</a:t>
            </a:r>
            <a:r>
              <a:rPr lang="it-IT" dirty="0"/>
              <a:t> o </a:t>
            </a:r>
            <a:r>
              <a:rPr lang="it-IT" i="1" dirty="0"/>
              <a:t>r2</a:t>
            </a:r>
            <a:endParaRPr lang="it-IT" i="1"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IBM ha rilasciato una grande quantità di guide e tutorial per eseguire il fine-tuning dei modelli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B16C81-C12B-B0EF-A5C4-0CFC5DD16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788" y="2458330"/>
            <a:ext cx="3220557" cy="38402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CAEC72-60B0-06CD-269A-82C0A4BDA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94956"/>
            <a:ext cx="4501398" cy="42940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ABD6BF-E073-2652-4608-D976C1C2FC74}"/>
              </a:ext>
            </a:extLst>
          </p:cNvPr>
          <p:cNvSpPr txBox="1"/>
          <p:nvPr/>
        </p:nvSpPr>
        <p:spPr>
          <a:xfrm>
            <a:off x="7857655" y="6323597"/>
            <a:ext cx="1924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Varie versioni di TTM</a:t>
            </a:r>
          </a:p>
        </p:txBody>
      </p:sp>
    </p:spTree>
    <p:extLst>
      <p:ext uri="{BB962C8B-B14F-4D97-AF65-F5344CB8AC3E}">
        <p14:creationId xmlns:p14="http://schemas.microsoft.com/office/powerpoint/2010/main" val="2383543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7B16E-52EE-0827-7017-DF8BDD2E7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B87C-5FDC-3CA5-C263-C64A9C461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Classificazione</a:t>
            </a:r>
            <a:r>
              <a:rPr lang="it-IT" sz="3200" noProof="0" dirty="0">
                <a:latin typeface="+mn-lt"/>
              </a:rPr>
              <a:t> </a:t>
            </a:r>
            <a:r>
              <a:rPr lang="it-IT" sz="3200" dirty="0">
                <a:latin typeface="+mn-lt"/>
              </a:rPr>
              <a:t>Immagini – </a:t>
            </a:r>
            <a:r>
              <a:rPr lang="it-IT" sz="3200" dirty="0" err="1">
                <a:latin typeface="+mn-lt"/>
              </a:rPr>
              <a:t>Disease</a:t>
            </a:r>
            <a:r>
              <a:rPr lang="it-IT" sz="3200" dirty="0">
                <a:latin typeface="+mn-lt"/>
              </a:rPr>
              <a:t> </a:t>
            </a:r>
            <a:r>
              <a:rPr lang="it-IT" sz="3200" dirty="0" err="1">
                <a:latin typeface="+mn-lt"/>
              </a:rPr>
              <a:t>Detection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D181B2-3585-0130-51D5-DCD370A44FFA}"/>
              </a:ext>
            </a:extLst>
          </p:cNvPr>
          <p:cNvSpPr txBox="1"/>
          <p:nvPr/>
        </p:nvSpPr>
        <p:spPr>
          <a:xfrm>
            <a:off x="986828" y="1276540"/>
            <a:ext cx="10773623" cy="329320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Rileva malattie in una coltura in base ad un immagine delle foglie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Fine-</a:t>
            </a:r>
            <a:r>
              <a:rPr lang="it-IT" sz="2000" dirty="0" err="1">
                <a:ea typeface="Calibri"/>
                <a:cs typeface="Calibri"/>
              </a:rPr>
              <a:t>tune</a:t>
            </a:r>
            <a:r>
              <a:rPr lang="it-IT" sz="2000" dirty="0">
                <a:ea typeface="Calibri"/>
                <a:cs typeface="Calibri"/>
              </a:rPr>
              <a:t> del Vision Transformer (</a:t>
            </a:r>
            <a:r>
              <a:rPr lang="it-IT" sz="2000" dirty="0" err="1">
                <a:ea typeface="Calibri"/>
                <a:cs typeface="Calibri"/>
              </a:rPr>
              <a:t>ViT</a:t>
            </a:r>
            <a:r>
              <a:rPr lang="it-IT" sz="2000" dirty="0">
                <a:ea typeface="Calibri"/>
                <a:cs typeface="Calibri"/>
              </a:rPr>
              <a:t>) di Google (</a:t>
            </a:r>
            <a:r>
              <a:rPr lang="it-IT" sz="2000" dirty="0">
                <a:ea typeface="+mn-lt"/>
                <a:cs typeface="+mn-lt"/>
              </a:rPr>
              <a:t>vit-tiny-patch16-224</a:t>
            </a:r>
            <a:r>
              <a:rPr lang="it-IT" sz="2000" dirty="0">
                <a:ea typeface="Calibri"/>
                <a:cs typeface="Calibri"/>
              </a:rPr>
              <a:t>)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Il dataset di addestramento non è stato condivise, ma è descritto il contenuto:</a:t>
            </a:r>
          </a:p>
          <a:p>
            <a:pPr marL="800100" indent="-342900">
              <a:buFont typeface="Arial"/>
              <a:buChar char="•"/>
            </a:pPr>
            <a:r>
              <a:rPr lang="it-IT" dirty="0">
                <a:ea typeface="+mn-lt"/>
                <a:cs typeface="+mn-lt"/>
              </a:rPr>
              <a:t>Corn: Common Rust, Gray Leaf Spot, Leaf Blight, Healthy</a:t>
            </a:r>
          </a:p>
          <a:p>
            <a:pPr marL="800100" indent="-342900">
              <a:buFont typeface="Arial"/>
              <a:buChar char="•"/>
            </a:pPr>
            <a:r>
              <a:rPr lang="it-IT" dirty="0">
                <a:ea typeface="+mn-lt"/>
                <a:cs typeface="+mn-lt"/>
              </a:rPr>
              <a:t>Potato: Early Blight, Late Blight, Healthy</a:t>
            </a:r>
            <a:endParaRPr lang="it-IT" u="sng" dirty="0">
              <a:ea typeface="Calibri"/>
              <a:cs typeface="Calibri"/>
            </a:endParaRPr>
          </a:p>
          <a:p>
            <a:pPr marL="800100" indent="-342900">
              <a:buFont typeface="Arial"/>
              <a:buChar char="•"/>
            </a:pPr>
            <a:r>
              <a:rPr lang="it-IT" dirty="0">
                <a:ea typeface="+mn-lt"/>
                <a:cs typeface="+mn-lt"/>
              </a:rPr>
              <a:t>Rice: Brown Spot, Hispa, Leaf Blast, Healthy</a:t>
            </a:r>
            <a:endParaRPr lang="it-IT" u="sng" dirty="0">
              <a:ea typeface="Calibri"/>
              <a:cs typeface="Calibri"/>
            </a:endParaRPr>
          </a:p>
          <a:p>
            <a:pPr marL="800100" indent="-342900">
              <a:buFont typeface="Arial"/>
              <a:buChar char="•"/>
            </a:pPr>
            <a:r>
              <a:rPr lang="it-IT" dirty="0" err="1">
                <a:ea typeface="+mn-lt"/>
                <a:cs typeface="+mn-lt"/>
              </a:rPr>
              <a:t>Wheat</a:t>
            </a:r>
            <a:r>
              <a:rPr lang="it-IT" dirty="0">
                <a:ea typeface="+mn-lt"/>
                <a:cs typeface="+mn-lt"/>
              </a:rPr>
              <a:t>: Brown Rust, Yellow Rust, </a:t>
            </a:r>
            <a:r>
              <a:rPr lang="it-IT" dirty="0" err="1">
                <a:ea typeface="+mn-lt"/>
                <a:cs typeface="+mn-lt"/>
              </a:rPr>
              <a:t>Healthy</a:t>
            </a:r>
            <a:endParaRPr lang="it-IT" dirty="0">
              <a:ea typeface="+mn-lt"/>
              <a:cs typeface="+mn-lt"/>
            </a:endParaRPr>
          </a:p>
          <a:p>
            <a:pPr marL="800100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800100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"</a:t>
            </a:r>
            <a:r>
              <a:rPr lang="it-IT" sz="2000" dirty="0">
                <a:ea typeface="+mn-lt"/>
                <a:cs typeface="+mn-lt"/>
              </a:rPr>
              <a:t>The model </a:t>
            </a:r>
            <a:r>
              <a:rPr lang="it-IT" sz="2000" dirty="0" err="1">
                <a:ea typeface="+mn-lt"/>
                <a:cs typeface="+mn-lt"/>
              </a:rPr>
              <a:t>may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dirty="0" err="1">
                <a:ea typeface="+mn-lt"/>
                <a:cs typeface="+mn-lt"/>
              </a:rPr>
              <a:t>exhibit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dirty="0" err="1">
                <a:ea typeface="+mn-lt"/>
                <a:cs typeface="+mn-lt"/>
              </a:rPr>
              <a:t>bias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dirty="0" err="1">
                <a:ea typeface="+mn-lt"/>
                <a:cs typeface="+mn-lt"/>
              </a:rPr>
              <a:t>toward</a:t>
            </a:r>
            <a:r>
              <a:rPr lang="it-IT" sz="2000" dirty="0">
                <a:ea typeface="+mn-lt"/>
                <a:cs typeface="+mn-lt"/>
              </a:rPr>
              <a:t> the </a:t>
            </a:r>
            <a:r>
              <a:rPr lang="it-IT" sz="2000" dirty="0" err="1">
                <a:ea typeface="+mn-lt"/>
                <a:cs typeface="+mn-lt"/>
              </a:rPr>
              <a:t>crops</a:t>
            </a:r>
            <a:r>
              <a:rPr lang="it-IT" sz="2000" dirty="0">
                <a:ea typeface="+mn-lt"/>
                <a:cs typeface="+mn-lt"/>
              </a:rPr>
              <a:t> and </a:t>
            </a:r>
            <a:r>
              <a:rPr lang="it-IT" sz="2000" dirty="0" err="1">
                <a:ea typeface="+mn-lt"/>
                <a:cs typeface="+mn-lt"/>
              </a:rPr>
              <a:t>diseases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dirty="0" err="1">
                <a:ea typeface="+mn-lt"/>
                <a:cs typeface="+mn-lt"/>
              </a:rPr>
              <a:t>present</a:t>
            </a:r>
            <a:r>
              <a:rPr lang="it-IT" sz="2000" dirty="0">
                <a:ea typeface="+mn-lt"/>
                <a:cs typeface="+mn-lt"/>
              </a:rPr>
              <a:t> in the training dataset, </a:t>
            </a:r>
            <a:r>
              <a:rPr lang="it-IT" sz="2000" dirty="0" err="1">
                <a:ea typeface="+mn-lt"/>
                <a:cs typeface="+mn-lt"/>
              </a:rPr>
              <a:t>leading</a:t>
            </a:r>
            <a:r>
              <a:rPr lang="it-IT" sz="2000" dirty="0">
                <a:ea typeface="+mn-lt"/>
                <a:cs typeface="+mn-lt"/>
              </a:rPr>
              <a:t> to </a:t>
            </a:r>
            <a:r>
              <a:rPr lang="it-IT" sz="2000" dirty="0" err="1">
                <a:ea typeface="+mn-lt"/>
                <a:cs typeface="+mn-lt"/>
              </a:rPr>
              <a:t>lower</a:t>
            </a:r>
            <a:r>
              <a:rPr lang="it-IT" sz="2000" dirty="0">
                <a:ea typeface="+mn-lt"/>
                <a:cs typeface="+mn-lt"/>
              </a:rPr>
              <a:t> performance on </a:t>
            </a:r>
            <a:r>
              <a:rPr lang="it-IT" sz="2000" dirty="0" err="1">
                <a:ea typeface="+mn-lt"/>
                <a:cs typeface="+mn-lt"/>
              </a:rPr>
              <a:t>unrepresented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dirty="0" err="1">
                <a:ea typeface="+mn-lt"/>
                <a:cs typeface="+mn-lt"/>
              </a:rPr>
              <a:t>diseases</a:t>
            </a:r>
            <a:r>
              <a:rPr lang="it-IT" sz="2000" dirty="0">
                <a:ea typeface="+mn-lt"/>
                <a:cs typeface="+mn-lt"/>
              </a:rPr>
              <a:t> or </a:t>
            </a:r>
            <a:r>
              <a:rPr lang="it-IT" sz="2000" dirty="0" err="1">
                <a:ea typeface="+mn-lt"/>
                <a:cs typeface="+mn-lt"/>
              </a:rPr>
              <a:t>crop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dirty="0" err="1">
                <a:ea typeface="+mn-lt"/>
                <a:cs typeface="+mn-lt"/>
              </a:rPr>
              <a:t>varieties</a:t>
            </a:r>
            <a:r>
              <a:rPr lang="it-IT" sz="2000" dirty="0">
                <a:ea typeface="+mn-lt"/>
                <a:cs typeface="+mn-lt"/>
              </a:rPr>
              <a:t>"</a:t>
            </a:r>
            <a:endParaRPr lang="it-IT" sz="2000" u="sng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7391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0BBE-E7F2-925E-7321-35A9125C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6FAA5-D3E9-6482-3707-4C00438F0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Classificazione</a:t>
            </a:r>
            <a:r>
              <a:rPr lang="it-IT" sz="3200" noProof="0" dirty="0">
                <a:latin typeface="+mn-lt"/>
              </a:rPr>
              <a:t> </a:t>
            </a:r>
            <a:r>
              <a:rPr lang="it-IT" sz="3200" dirty="0">
                <a:latin typeface="+mn-lt"/>
              </a:rPr>
              <a:t>Immagini – </a:t>
            </a:r>
            <a:r>
              <a:rPr lang="it-IT" sz="3200" dirty="0" err="1">
                <a:latin typeface="+mn-lt"/>
              </a:rPr>
              <a:t>Disease</a:t>
            </a:r>
            <a:r>
              <a:rPr lang="it-IT" sz="3200" dirty="0">
                <a:latin typeface="+mn-lt"/>
              </a:rPr>
              <a:t> </a:t>
            </a:r>
            <a:r>
              <a:rPr lang="it-IT" sz="3200" dirty="0" err="1">
                <a:latin typeface="+mn-lt"/>
              </a:rPr>
              <a:t>Detection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274042-2DA5-8ECA-978A-1B6103B656B3}"/>
              </a:ext>
            </a:extLst>
          </p:cNvPr>
          <p:cNvSpPr txBox="1"/>
          <p:nvPr/>
        </p:nvSpPr>
        <p:spPr>
          <a:xfrm>
            <a:off x="722668" y="1134300"/>
            <a:ext cx="10773623" cy="30162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/>
              <a:t>Il modello è stato valutato su un set di validazione il 20% del dataset di addestramento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 err="1">
                <a:ea typeface="Calibri"/>
                <a:cs typeface="Calibri"/>
              </a:rPr>
              <a:t>Accuracy</a:t>
            </a:r>
            <a:r>
              <a:rPr lang="it-IT" dirty="0">
                <a:ea typeface="Calibri"/>
                <a:cs typeface="Calibri"/>
              </a:rPr>
              <a:t> 98%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Precision 97%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Recall 97%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F1 Score 96%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Se la matrice di confusione fa riferimento</a:t>
            </a:r>
            <a:br>
              <a:rPr lang="it-IT" sz="2000" dirty="0">
                <a:ea typeface="Calibri"/>
                <a:cs typeface="Calibri"/>
              </a:rPr>
            </a:br>
            <a:r>
              <a:rPr lang="it-IT" sz="2000" dirty="0">
                <a:ea typeface="Calibri"/>
                <a:cs typeface="Calibri"/>
              </a:rPr>
              <a:t>alla validazione di sopra, il dataset di</a:t>
            </a:r>
            <a:br>
              <a:rPr lang="it-IT" sz="2000" dirty="0">
                <a:ea typeface="Calibri"/>
                <a:cs typeface="Calibri"/>
              </a:rPr>
            </a:br>
            <a:r>
              <a:rPr lang="it-IT" sz="2000" dirty="0">
                <a:ea typeface="Calibri"/>
                <a:cs typeface="Calibri"/>
              </a:rPr>
              <a:t>addestramento è composto da</a:t>
            </a:r>
            <a:br>
              <a:rPr lang="it-IT" sz="2000" dirty="0">
                <a:ea typeface="Calibri"/>
                <a:cs typeface="Calibri"/>
              </a:rPr>
            </a:br>
            <a:r>
              <a:rPr lang="it-IT" sz="2000" dirty="0">
                <a:ea typeface="Calibri"/>
                <a:cs typeface="Calibri"/>
              </a:rPr>
              <a:t>4578/0.2</a:t>
            </a:r>
            <a:r>
              <a:rPr lang="it-IT" sz="2000" b="1" dirty="0">
                <a:ea typeface="+mn-lt"/>
                <a:cs typeface="+mn-lt"/>
              </a:rPr>
              <a:t>≈23k </a:t>
            </a:r>
            <a:r>
              <a:rPr lang="it-IT" sz="2000" dirty="0">
                <a:ea typeface="+mn-lt"/>
                <a:cs typeface="+mn-lt"/>
              </a:rPr>
              <a:t>immagini</a:t>
            </a:r>
            <a:endParaRPr lang="it-IT" sz="2000" dirty="0">
              <a:ea typeface="Calibri"/>
              <a:cs typeface="Calibri"/>
            </a:endParaRPr>
          </a:p>
        </p:txBody>
      </p:sp>
      <p:pic>
        <p:nvPicPr>
          <p:cNvPr id="3" name="Immagine 2" descr="disease_classification_metrics.png">
            <a:extLst>
              <a:ext uri="{FF2B5EF4-FFF2-40B4-BE49-F238E27FC236}">
                <a16:creationId xmlns:a16="http://schemas.microsoft.com/office/drawing/2014/main" id="{874ECD65-1253-6E56-13CD-47F7B485E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880" y="1613366"/>
            <a:ext cx="6187439" cy="51146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8970176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94B5F-FC11-2960-4AE9-7FF83867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2CB3A-9C14-55BF-3B69-B694827BC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Remote Sensing – </a:t>
            </a:r>
            <a:r>
              <a:rPr lang="it-IT" sz="3200" dirty="0" err="1">
                <a:latin typeface="+mn-lt"/>
              </a:rPr>
              <a:t>AdaptLLM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D615C6-C4D4-A9C8-F3BA-0D701DED08E5}"/>
              </a:ext>
            </a:extLst>
          </p:cNvPr>
          <p:cNvSpPr txBox="1"/>
          <p:nvPr/>
        </p:nvSpPr>
        <p:spPr>
          <a:xfrm>
            <a:off x="986828" y="1276540"/>
            <a:ext cx="10773623" cy="298543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Progetto di ricerca atto ad adattare LLM Multimodali a campi specifici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L'output finale è la classificazione + una giustificazione (in linguaggio naturale) che supporta la classe scelta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dirty="0">
                <a:ea typeface="Calibri"/>
                <a:cs typeface="Calibri"/>
              </a:rPr>
              <a:t>Procedimento (ad alto livello):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Ad un primo modello (sintetizzatore) viene fornita una coppia immagine-descrizione, più alcune triplette che contengono un istruzione ("classifica questa immagine in base al suo dominio"), una risposta precisa ("dipinto") ed una giustificazione alla risposta ("l'immagine contiene un quadro..."); il sintetizzatore viene addestrato a generare più triplette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Il sintetizzatore viene valutato da un LLM terzo che verifica le triplette generate siano consistenti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dirty="0">
                <a:ea typeface="Calibri"/>
                <a:cs typeface="Calibri"/>
              </a:rPr>
              <a:t>Le triplette consistenti vengono utilizzate per adattare l'MLLM al campo d'interesse</a:t>
            </a:r>
          </a:p>
        </p:txBody>
      </p:sp>
    </p:spTree>
    <p:extLst>
      <p:ext uri="{BB962C8B-B14F-4D97-AF65-F5344CB8AC3E}">
        <p14:creationId xmlns:p14="http://schemas.microsoft.com/office/powerpoint/2010/main" val="1008624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112A2-8763-F0F2-3612-1F7122252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55E54-3EEA-2127-F1B4-50424444C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Remote Sensing – </a:t>
            </a:r>
            <a:r>
              <a:rPr lang="it-IT" sz="3200" dirty="0" err="1">
                <a:latin typeface="+mn-lt"/>
              </a:rPr>
              <a:t>AdaptLLM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589320-CF14-6B24-982E-F2398196E5A5}"/>
              </a:ext>
            </a:extLst>
          </p:cNvPr>
          <p:cNvSpPr txBox="1"/>
          <p:nvPr/>
        </p:nvSpPr>
        <p:spPr>
          <a:xfrm>
            <a:off x="986828" y="1276540"/>
            <a:ext cx="10773623" cy="40010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testato su tre campi: biomedicina, "food", remote sensing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A noi interessa il remote sensing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+mn-lt"/>
                <a:cs typeface="+mn-lt"/>
              </a:rPr>
              <a:t>LLaVa-v1.6-8B usato come sintetizzatore, Llama-3-8B come "valutatore"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+mn-lt"/>
                <a:cs typeface="+mn-lt"/>
              </a:rPr>
              <a:t>Gli MLLM addestrati sono tre: LLaVA-v1.6-8B, Qwen2-VL-2B e Llama-3.2-11B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+mn-lt"/>
                <a:cs typeface="+mn-lt"/>
              </a:rPr>
              <a:t>Il modello basato su Llama non è stato recuperato perché &lt;100 downloads</a:t>
            </a:r>
          </a:p>
          <a:p>
            <a:endParaRPr lang="it-IT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it-IT" sz="2000" dirty="0">
                <a:ea typeface="+mn-lt"/>
                <a:cs typeface="+mn-lt"/>
              </a:rPr>
              <a:t>Le immagini usate per l'addestramento sono immagini di droni generiche non rilevanti al precision farming</a:t>
            </a:r>
          </a:p>
          <a:p>
            <a:pPr marL="285750" indent="-285750">
              <a:buFont typeface="Arial"/>
              <a:buChar char="•"/>
            </a:pPr>
            <a:r>
              <a:rPr lang="it-IT" sz="2000" dirty="0">
                <a:ea typeface="+mn-lt"/>
                <a:cs typeface="+mn-lt"/>
              </a:rPr>
              <a:t>Licenza BIGAI: contattare gli autori prima dell'utilizzo</a:t>
            </a:r>
          </a:p>
          <a:p>
            <a:pPr marL="285750" indent="-285750">
              <a:buFont typeface="Arial"/>
              <a:buChar char="•"/>
            </a:pPr>
            <a:endParaRPr lang="it-IT" sz="20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it-IT" sz="2000" dirty="0">
              <a:ea typeface="+mn-lt"/>
              <a:cs typeface="+mn-lt"/>
            </a:endParaRPr>
          </a:p>
          <a:p>
            <a:r>
              <a:rPr lang="it-IT" sz="2000" dirty="0">
                <a:ea typeface="+mn-lt"/>
                <a:cs typeface="+mn-lt"/>
              </a:rPr>
              <a:t>Questi modelli potrebbero essere utili per tenere traccia dello stato di campi; fine-tuning (o addestramento da zero) potrebbe essere necessario.</a:t>
            </a:r>
          </a:p>
        </p:txBody>
      </p:sp>
    </p:spTree>
    <p:extLst>
      <p:ext uri="{BB962C8B-B14F-4D97-AF65-F5344CB8AC3E}">
        <p14:creationId xmlns:p14="http://schemas.microsoft.com/office/powerpoint/2010/main" val="2384365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6FFD9-F906-A210-E4B6-142B0F0A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9B6E3-EFAF-E58A-B352-1835DD1D4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932" y="179272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Chatbot Assistant – </a:t>
            </a:r>
            <a:r>
              <a:rPr lang="it-IT" sz="3200" dirty="0" err="1">
                <a:latin typeface="+mn-lt"/>
              </a:rPr>
              <a:t>CropSeek</a:t>
            </a:r>
            <a:r>
              <a:rPr lang="it-IT" sz="3200" dirty="0">
                <a:latin typeface="+mn-lt"/>
              </a:rPr>
              <a:t> LLM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7ECAB6-D7C9-5AED-94C9-6A77CDD297E5}"/>
              </a:ext>
            </a:extLst>
          </p:cNvPr>
          <p:cNvSpPr txBox="1"/>
          <p:nvPr/>
        </p:nvSpPr>
        <p:spPr>
          <a:xfrm>
            <a:off x="931072" y="867662"/>
            <a:ext cx="10773623" cy="30162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+mn-lt"/>
                <a:cs typeface="+mn-lt"/>
              </a:rPr>
              <a:t>Fine-tuning di </a:t>
            </a:r>
            <a:r>
              <a:rPr lang="it-IT" sz="2000" dirty="0">
                <a:latin typeface="Calibri"/>
                <a:ea typeface="+mn-lt"/>
                <a:cs typeface="+mn-lt"/>
              </a:rPr>
              <a:t>DeepSeek-R1-Distill-Qwen-7B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latin typeface="Calibri"/>
                <a:ea typeface="+mn-lt"/>
                <a:cs typeface="+mn-lt"/>
              </a:rPr>
              <a:t>Risponde a domande relative a "</a:t>
            </a:r>
            <a:r>
              <a:rPr lang="it-IT" sz="2000" dirty="0" err="1">
                <a:latin typeface="Calibri"/>
                <a:ea typeface="+mn-lt"/>
                <a:cs typeface="+mn-lt"/>
              </a:rPr>
              <a:t>crop</a:t>
            </a:r>
            <a:r>
              <a:rPr lang="it-IT" sz="2000" dirty="0">
                <a:latin typeface="Calibri"/>
                <a:ea typeface="+mn-lt"/>
                <a:cs typeface="+mn-lt"/>
              </a:rPr>
              <a:t> </a:t>
            </a:r>
            <a:r>
              <a:rPr lang="it-IT" sz="2000" dirty="0" err="1">
                <a:latin typeface="Calibri"/>
                <a:ea typeface="+mn-lt"/>
                <a:cs typeface="+mn-lt"/>
              </a:rPr>
              <a:t>otimization</a:t>
            </a:r>
            <a:r>
              <a:rPr lang="it-IT" sz="2000" dirty="0">
                <a:latin typeface="Calibri"/>
                <a:ea typeface="+mn-lt"/>
                <a:cs typeface="+mn-lt"/>
              </a:rPr>
              <a:t>"</a:t>
            </a:r>
          </a:p>
          <a:p>
            <a:pPr marL="342900" indent="-342900">
              <a:buFont typeface="Arial"/>
              <a:buChar char="•"/>
            </a:pPr>
            <a:endParaRPr lang="it-IT" sz="2000" dirty="0">
              <a:latin typeface="Calibri"/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latin typeface="Calibri"/>
                <a:ea typeface="+mn-lt"/>
                <a:cs typeface="+mn-lt"/>
              </a:rPr>
              <a:t>Dataset di fine-tuning molto limitato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latin typeface="Calibri"/>
                <a:ea typeface="+mn-lt"/>
                <a:cs typeface="+mn-lt"/>
              </a:rPr>
              <a:t>40 coppie domanda-risposta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latin typeface="Calibri"/>
                <a:ea typeface="+mn-lt"/>
                <a:cs typeface="+mn-lt"/>
              </a:rPr>
              <a:t>4 colture considerate: </a:t>
            </a:r>
            <a:r>
              <a:rPr lang="it-IT" dirty="0">
                <a:ea typeface="+mn-lt"/>
                <a:cs typeface="+mn-lt"/>
              </a:rPr>
              <a:t>Green Peppers, Jam </a:t>
            </a:r>
            <a:r>
              <a:rPr lang="it-IT" dirty="0" err="1">
                <a:ea typeface="+mn-lt"/>
                <a:cs typeface="+mn-lt"/>
              </a:rPr>
              <a:t>Tomatoes</a:t>
            </a:r>
            <a:r>
              <a:rPr lang="it-IT" dirty="0">
                <a:ea typeface="+mn-lt"/>
                <a:cs typeface="+mn-lt"/>
              </a:rPr>
              <a:t>, </a:t>
            </a:r>
            <a:r>
              <a:rPr lang="it-IT" dirty="0" err="1">
                <a:ea typeface="+mn-lt"/>
                <a:cs typeface="+mn-lt"/>
              </a:rPr>
              <a:t>Cabbage</a:t>
            </a:r>
            <a:r>
              <a:rPr lang="it-IT" dirty="0">
                <a:ea typeface="+mn-lt"/>
                <a:cs typeface="+mn-lt"/>
              </a:rPr>
              <a:t> and Marigold Flowers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latin typeface="Calibri"/>
                <a:ea typeface="+mn-lt"/>
                <a:cs typeface="+mn-lt"/>
              </a:rPr>
              <a:t>10 coppie per coltura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latin typeface="Calibri"/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latin typeface="Calibri"/>
                <a:ea typeface="+mn-lt"/>
                <a:cs typeface="+mn-lt"/>
              </a:rPr>
              <a:t>Licenza </a:t>
            </a:r>
            <a:r>
              <a:rPr lang="it-IT" sz="2000" dirty="0">
                <a:ea typeface="+mn-lt"/>
                <a:cs typeface="+mn-lt"/>
              </a:rPr>
              <a:t>DARJYO v1.0, proibisce gli usi commerciali</a:t>
            </a:r>
          </a:p>
          <a:p>
            <a:endParaRPr lang="it-IT" dirty="0">
              <a:latin typeface="Calibri"/>
              <a:ea typeface="+mn-lt"/>
              <a:cs typeface="+mn-lt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B2E9FAB-833A-6860-BBA4-66D54FF8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73" y="3613579"/>
            <a:ext cx="8010293" cy="3162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454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CDEF-6D9A-D394-0BAB-EE7842EF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D843F-7029-1F2E-7D08-B284C29B0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 – Transfer Learning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017241-B898-E6A5-D692-D031F1A2C3AD}"/>
              </a:ext>
            </a:extLst>
          </p:cNvPr>
          <p:cNvSpPr txBox="1"/>
          <p:nvPr/>
        </p:nvSpPr>
        <p:spPr>
          <a:xfrm>
            <a:off x="986828" y="1276540"/>
            <a:ext cx="10773623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IBM: "</a:t>
            </a:r>
            <a:r>
              <a:rPr lang="it-IT" sz="2000" dirty="0">
                <a:ea typeface="+mn-lt"/>
                <a:cs typeface="+mn-lt"/>
              </a:rPr>
              <a:t>Transfer learning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a machine learning technique in </a:t>
            </a:r>
            <a:r>
              <a:rPr lang="it-IT" sz="2000" err="1">
                <a:ea typeface="+mn-lt"/>
                <a:cs typeface="+mn-lt"/>
              </a:rPr>
              <a:t>which</a:t>
            </a:r>
            <a:r>
              <a:rPr lang="it-IT" sz="2000" dirty="0">
                <a:ea typeface="+mn-lt"/>
                <a:cs typeface="+mn-lt"/>
              </a:rPr>
              <a:t> knowledge </a:t>
            </a:r>
            <a:r>
              <a:rPr lang="it-IT" sz="2000" err="1">
                <a:ea typeface="+mn-lt"/>
                <a:cs typeface="+mn-lt"/>
              </a:rPr>
              <a:t>gained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through</a:t>
            </a:r>
            <a:r>
              <a:rPr lang="it-IT" sz="2000" dirty="0">
                <a:ea typeface="+mn-lt"/>
                <a:cs typeface="+mn-lt"/>
              </a:rPr>
              <a:t> one task or dataset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used</a:t>
            </a:r>
            <a:r>
              <a:rPr lang="it-IT" sz="2000" dirty="0">
                <a:ea typeface="+mn-lt"/>
                <a:cs typeface="+mn-lt"/>
              </a:rPr>
              <a:t>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model performance on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related</a:t>
            </a:r>
            <a:r>
              <a:rPr lang="it-IT" sz="2000" dirty="0">
                <a:ea typeface="+mn-lt"/>
                <a:cs typeface="+mn-lt"/>
              </a:rPr>
              <a:t> task or </a:t>
            </a:r>
            <a:r>
              <a:rPr lang="it-IT" sz="2000" err="1">
                <a:ea typeface="+mn-lt"/>
                <a:cs typeface="+mn-lt"/>
              </a:rPr>
              <a:t>different</a:t>
            </a:r>
            <a:r>
              <a:rPr lang="it-IT" sz="2000" dirty="0">
                <a:ea typeface="+mn-lt"/>
                <a:cs typeface="+mn-lt"/>
              </a:rPr>
              <a:t> dataset. In </a:t>
            </a:r>
            <a:r>
              <a:rPr lang="it-IT" sz="2000" err="1">
                <a:ea typeface="+mn-lt"/>
                <a:cs typeface="+mn-lt"/>
              </a:rPr>
              <a:t>other</a:t>
            </a:r>
            <a:r>
              <a:rPr lang="it-IT" sz="2000" dirty="0">
                <a:ea typeface="+mn-lt"/>
                <a:cs typeface="+mn-lt"/>
              </a:rPr>
              <a:t> words, transfer learning </a:t>
            </a:r>
            <a:r>
              <a:rPr lang="it-IT" sz="2000" err="1">
                <a:ea typeface="+mn-lt"/>
                <a:cs typeface="+mn-lt"/>
              </a:rPr>
              <a:t>uses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what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has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been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learned</a:t>
            </a:r>
            <a:r>
              <a:rPr lang="it-IT" sz="2000" dirty="0">
                <a:ea typeface="+mn-lt"/>
                <a:cs typeface="+mn-lt"/>
              </a:rPr>
              <a:t> in one setting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generalization</a:t>
            </a:r>
            <a:r>
              <a:rPr lang="it-IT" sz="2000" dirty="0">
                <a:ea typeface="+mn-lt"/>
                <a:cs typeface="+mn-lt"/>
              </a:rPr>
              <a:t> in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setting</a:t>
            </a:r>
            <a:r>
              <a:rPr lang="it-IT" sz="2000" dirty="0">
                <a:ea typeface="Calibri"/>
                <a:cs typeface="Calibri"/>
              </a:rPr>
              <a:t>."</a:t>
            </a:r>
            <a:endParaRPr lang="it-IT"/>
          </a:p>
          <a:p>
            <a:pPr marL="342900" indent="-342900">
              <a:buFont typeface="Arial"/>
              <a:buChar char="•"/>
            </a:pPr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Fattori importanti: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Compatibilità di Task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Disponibilità di dati per fine-tuning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Domain shift e </a:t>
            </a:r>
            <a:r>
              <a:rPr lang="it-IT" sz="2000" dirty="0" err="1">
                <a:ea typeface="Calibri"/>
                <a:cs typeface="Calibri"/>
              </a:rPr>
              <a:t>Bias</a:t>
            </a:r>
            <a:r>
              <a:rPr lang="it-IT" sz="2000" dirty="0">
                <a:ea typeface="Calibri"/>
                <a:cs typeface="Calibri"/>
              </a:rPr>
              <a:t>*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Limiti operativi*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DBA4BF4-5616-FB95-CDD8-E46AC7AE3040}"/>
              </a:ext>
            </a:extLst>
          </p:cNvPr>
          <p:cNvSpPr txBox="1"/>
          <p:nvPr/>
        </p:nvSpPr>
        <p:spPr>
          <a:xfrm>
            <a:off x="988370" y="6410712"/>
            <a:ext cx="96011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600" dirty="0">
                <a:ea typeface="+mn-lt"/>
                <a:cs typeface="+mn-lt"/>
              </a:rPr>
              <a:t>IBM, " </a:t>
            </a:r>
            <a:r>
              <a:rPr lang="it-IT" sz="1600" dirty="0" err="1">
                <a:ea typeface="+mn-lt"/>
                <a:cs typeface="+mn-lt"/>
              </a:rPr>
              <a:t>What</a:t>
            </a:r>
            <a:r>
              <a:rPr lang="it-IT" sz="1600" dirty="0">
                <a:ea typeface="+mn-lt"/>
                <a:cs typeface="+mn-lt"/>
              </a:rPr>
              <a:t> </a:t>
            </a:r>
            <a:r>
              <a:rPr lang="it-IT" sz="1600" dirty="0" err="1">
                <a:ea typeface="+mn-lt"/>
                <a:cs typeface="+mn-lt"/>
              </a:rPr>
              <a:t>is</a:t>
            </a:r>
            <a:r>
              <a:rPr lang="it-IT" sz="1600" dirty="0">
                <a:ea typeface="+mn-lt"/>
                <a:cs typeface="+mn-lt"/>
              </a:rPr>
              <a:t> transfer learning?" [Online]. </a:t>
            </a:r>
            <a:r>
              <a:rPr lang="it-IT" sz="1600" dirty="0" err="1">
                <a:ea typeface="+mn-lt"/>
                <a:cs typeface="+mn-lt"/>
              </a:rPr>
              <a:t>Available</a:t>
            </a:r>
            <a:r>
              <a:rPr lang="it-IT" sz="1600" dirty="0">
                <a:ea typeface="+mn-lt"/>
                <a:cs typeface="+mn-lt"/>
              </a:rPr>
              <a:t>: https://www.ibm.com/think/topics/transfer-learning.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879358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1E8A0-35FE-A636-21A8-B2596DE4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7478-4503-BBF8-03D3-CA408574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509102-F7C8-6058-09B6-24692955FC5F}"/>
              </a:ext>
            </a:extLst>
          </p:cNvPr>
          <p:cNvSpPr txBox="1"/>
          <p:nvPr/>
        </p:nvSpPr>
        <p:spPr>
          <a:xfrm>
            <a:off x="986828" y="1016345"/>
            <a:ext cx="10773623" cy="32008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Project Alignment (PA)</a:t>
            </a:r>
            <a:r>
              <a:rPr lang="it-IT" dirty="0">
                <a:ea typeface="Calibri"/>
                <a:cs typeface="Calibri"/>
              </a:rPr>
              <a:t>: rilevanza verso Farm-Tech, sia in termini di task che dataset di addestramento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affinità generale al </a:t>
            </a:r>
            <a:r>
              <a:rPr lang="it-IT" dirty="0" err="1">
                <a:ea typeface="Calibri"/>
                <a:cs typeface="Calibri"/>
              </a:rPr>
              <a:t>precision</a:t>
            </a:r>
            <a:r>
              <a:rPr lang="it-IT" dirty="0">
                <a:ea typeface="Calibri"/>
                <a:cs typeface="Calibri"/>
              </a:rPr>
              <a:t> farming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correlazione immediata ad una task rilevante in Farm-Tech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uso di dati immediatamente rilevanti</a:t>
            </a:r>
          </a:p>
          <a:p>
            <a:pPr marL="742950" lvl="1" indent="-28575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Quality of Documentation (QD)</a:t>
            </a:r>
            <a:r>
              <a:rPr lang="it-IT" dirty="0">
                <a:ea typeface="Calibri"/>
                <a:cs typeface="Calibri"/>
              </a:rPr>
              <a:t>: utilità della documentazione nell'implementare il modello in un nuovo campo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documentazione sufficiente per esecuzione del modello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sintesi dell'architettura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quantità significativa di guide/tutorial</a:t>
            </a:r>
          </a:p>
        </p:txBody>
      </p:sp>
    </p:spTree>
    <p:extLst>
      <p:ext uri="{BB962C8B-B14F-4D97-AF65-F5344CB8AC3E}">
        <p14:creationId xmlns:p14="http://schemas.microsoft.com/office/powerpoint/2010/main" val="375687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3BEE8-B9A8-53CF-C076-4CD8B199A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BAB7-FD45-F0E3-B0FE-1EC42ACA7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33DC3-A1B8-C8D4-3544-61606F06ECBB}"/>
              </a:ext>
            </a:extLst>
          </p:cNvPr>
          <p:cNvSpPr txBox="1"/>
          <p:nvPr/>
        </p:nvSpPr>
        <p:spPr>
          <a:xfrm>
            <a:off x="986828" y="1016345"/>
            <a:ext cx="10773623" cy="29238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Ease of Evaluation (EE)</a:t>
            </a:r>
            <a:r>
              <a:rPr lang="it-IT" dirty="0">
                <a:ea typeface="Calibri"/>
                <a:cs typeface="Calibri"/>
              </a:rPr>
              <a:t>: quanto è semplice valutare l'efficacia del modello nel nuovo campo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testing intensivo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necessità di dati specifici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dati general-purpose sufficenti</a:t>
            </a: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Licenza (LC)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</a:t>
            </a:r>
            <a:r>
              <a:rPr lang="it-IT" b="1" dirty="0">
                <a:ea typeface="Calibri"/>
                <a:cs typeface="Calibri"/>
              </a:rPr>
              <a:t> </a:t>
            </a:r>
            <a:r>
              <a:rPr lang="it-IT" dirty="0">
                <a:ea typeface="Calibri"/>
                <a:cs typeface="Calibri"/>
              </a:rPr>
              <a:t>licenza restrittiva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licenza assente/contraddittoria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licenza permissiva</a:t>
            </a:r>
          </a:p>
        </p:txBody>
      </p:sp>
    </p:spTree>
    <p:extLst>
      <p:ext uri="{BB962C8B-B14F-4D97-AF65-F5344CB8AC3E}">
        <p14:creationId xmlns:p14="http://schemas.microsoft.com/office/powerpoint/2010/main" val="13928153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745B-E151-546B-0636-115DBAC37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0696-B8F2-7CC9-67FB-9A23E22DA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5CC1-BD15-FA0F-DC51-6D65BADFD02E}"/>
              </a:ext>
            </a:extLst>
          </p:cNvPr>
          <p:cNvSpPr txBox="1"/>
          <p:nvPr/>
        </p:nvSpPr>
        <p:spPr>
          <a:xfrm>
            <a:off x="986828" y="1192906"/>
            <a:ext cx="10773623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Un punteggio finale è calcolato dalla media di tutte le categorie</a:t>
            </a:r>
            <a:endParaRPr lang="it-IT" dirty="0">
              <a:ea typeface="Calibri"/>
              <a:cs typeface="Calibri"/>
            </a:endParaRPr>
          </a:p>
          <a:p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Invece di una media, in base alle necessità del team di sviluppo, si può formulare un altro tipo di valutazione; ad esempio:</a:t>
            </a:r>
          </a:p>
          <a:p>
            <a:endParaRPr lang="it-IT" sz="2000" dirty="0">
              <a:ea typeface="+mn-lt"/>
              <a:cs typeface="+mn-lt"/>
            </a:endParaRPr>
          </a:p>
          <a:p>
            <a:pPr lvl="2"/>
            <a:r>
              <a:rPr lang="it-IT" sz="2000" dirty="0">
                <a:ea typeface="+mn-lt"/>
                <a:cs typeface="+mn-lt"/>
              </a:rPr>
              <a:t>     𝑇𝑜𝑡𝑎𝑙 𝑆𝑐𝑜𝑟𝑒 = 𝑃𝐴 ∗ 0.2 + 𝑄𝐷 ∗ 0.2 + 𝐸𝐸 ∗ 0.2 + 𝐿𝐶 ∗ 0.4</a:t>
            </a:r>
          </a:p>
          <a:p>
            <a:pPr lvl="2"/>
            <a:endParaRPr lang="it-IT" sz="2000" dirty="0">
              <a:ea typeface="Calibri" panose="020F0502020204030204"/>
              <a:cs typeface="Calibri" panose="020F0502020204030204"/>
            </a:endParaRPr>
          </a:p>
          <a:p>
            <a:r>
              <a:rPr lang="it-IT" sz="2000" dirty="0">
                <a:ea typeface="Calibri" panose="020F0502020204030204"/>
                <a:cs typeface="Calibri" panose="020F0502020204030204"/>
              </a:rPr>
              <a:t>Si può formulare una somma pesata dando più peso alla categoria di interesse maggiore</a:t>
            </a:r>
          </a:p>
        </p:txBody>
      </p:sp>
    </p:spTree>
    <p:extLst>
      <p:ext uri="{BB962C8B-B14F-4D97-AF65-F5344CB8AC3E}">
        <p14:creationId xmlns:p14="http://schemas.microsoft.com/office/powerpoint/2010/main" val="5004912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FAA30-5B83-65C7-AC88-FEE887467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4CA08-7B7B-890C-1FA6-2A1035872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pic>
        <p:nvPicPr>
          <p:cNvPr id="3" name="Immagine 2" descr="Immagine che contiene testo, schermata, numero, Parallelo&#10;&#10;Il contenuto generato dall&amp;#39;IA potrebbe non essere corretto.">
            <a:extLst>
              <a:ext uri="{FF2B5EF4-FFF2-40B4-BE49-F238E27FC236}">
                <a16:creationId xmlns:a16="http://schemas.microsoft.com/office/drawing/2014/main" id="{45DCDD2A-FA78-1CE0-D426-565C09516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716" y="120805"/>
            <a:ext cx="6850567" cy="6625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1825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B1F48-E3AD-DD00-C929-87E4B226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C31DA-C330-F8F2-31CA-280EAAED1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C27A3-F714-9000-E19B-8A25D12469F7}"/>
              </a:ext>
            </a:extLst>
          </p:cNvPr>
          <p:cNvSpPr txBox="1"/>
          <p:nvPr/>
        </p:nvSpPr>
        <p:spPr>
          <a:xfrm>
            <a:off x="986828" y="1137150"/>
            <a:ext cx="10773623" cy="51706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IBM Granite</a:t>
            </a:r>
            <a:r>
              <a:rPr lang="it-IT" sz="2000" dirty="0">
                <a:ea typeface="Calibri"/>
                <a:cs typeface="Calibri"/>
              </a:rPr>
              <a:t>: 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modelli general-purpose addestrati su dati generici; Flowstate 1 perchè opera su serie temporali univariate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3, supporto di paper tecnici che descrivono l'architettura; numerose guide sull'utilizzo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2, dati generici non sono sufficienti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tutti i modelli sono Apache 2.0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 err="1">
                <a:ea typeface="Calibri"/>
                <a:cs typeface="Calibri"/>
              </a:rPr>
              <a:t>Disease</a:t>
            </a:r>
            <a:r>
              <a:rPr lang="it-IT" sz="2000" b="1" dirty="0">
                <a:ea typeface="Calibri"/>
                <a:cs typeface="Calibri"/>
              </a:rPr>
              <a:t> </a:t>
            </a:r>
            <a:r>
              <a:rPr lang="it-IT" sz="2000" b="1" dirty="0" err="1">
                <a:ea typeface="Calibri"/>
                <a:cs typeface="Calibri"/>
              </a:rPr>
              <a:t>Detection</a:t>
            </a:r>
            <a:r>
              <a:rPr lang="it-IT" sz="2000" dirty="0">
                <a:ea typeface="Calibri"/>
                <a:cs typeface="Calibri"/>
              </a:rPr>
              <a:t>, modello con il punteggio maggiore: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detection di malattie in piante, addestrato su una grande quantità di colture comuni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l'architettura di ViT è nota, non sono fornite guide all'utilizzo del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si possono usare immagini di piante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ViT è rilasciato sotto Apache 2.0, il modello sotto MiT; entrambe licenze permissive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 err="1">
                <a:ea typeface="Calibri"/>
                <a:cs typeface="Calibri"/>
              </a:rPr>
              <a:t>Fruits</a:t>
            </a:r>
            <a:r>
              <a:rPr lang="it-IT" sz="2000" b="1" dirty="0">
                <a:ea typeface="Calibri"/>
                <a:cs typeface="Calibri"/>
              </a:rPr>
              <a:t> and </a:t>
            </a:r>
            <a:r>
              <a:rPr lang="it-IT" sz="2000" b="1" dirty="0" err="1">
                <a:ea typeface="Calibri"/>
                <a:cs typeface="Calibri"/>
              </a:rPr>
              <a:t>Vedgetables</a:t>
            </a:r>
            <a:r>
              <a:rPr lang="it-IT" sz="2000" b="1" dirty="0">
                <a:ea typeface="Calibri"/>
                <a:cs typeface="Calibri"/>
              </a:rPr>
              <a:t> Detector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a differenza di </a:t>
            </a:r>
            <a:r>
              <a:rPr lang="it-IT" dirty="0" err="1">
                <a:ea typeface="Calibri"/>
                <a:cs typeface="Calibri"/>
              </a:rPr>
              <a:t>Disease</a:t>
            </a:r>
            <a:r>
              <a:rPr lang="it-IT" dirty="0">
                <a:ea typeface="Calibri"/>
                <a:cs typeface="Calibri"/>
              </a:rPr>
              <a:t> </a:t>
            </a:r>
            <a:r>
              <a:rPr lang="it-IT" dirty="0" err="1">
                <a:ea typeface="Calibri"/>
                <a:cs typeface="Calibri"/>
              </a:rPr>
              <a:t>Detection</a:t>
            </a:r>
            <a:r>
              <a:rPr lang="it-IT" dirty="0">
                <a:ea typeface="Calibri"/>
                <a:cs typeface="Calibri"/>
              </a:rPr>
              <a:t>, è solo in grado di rilevare piante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basato su </a:t>
            </a:r>
            <a:r>
              <a:rPr lang="it-IT" dirty="0" err="1">
                <a:ea typeface="Calibri"/>
                <a:cs typeface="Calibri"/>
              </a:rPr>
              <a:t>ResNet</a:t>
            </a:r>
            <a:r>
              <a:rPr lang="it-IT" dirty="0">
                <a:ea typeface="Calibri"/>
                <a:cs typeface="Calibri"/>
              </a:rPr>
              <a:t> di </a:t>
            </a:r>
            <a:r>
              <a:rPr lang="it-IT" dirty="0" err="1">
                <a:ea typeface="Calibri"/>
                <a:cs typeface="Calibri"/>
              </a:rPr>
              <a:t>microsoft</a:t>
            </a:r>
            <a:r>
              <a:rPr lang="it-IT" dirty="0">
                <a:ea typeface="Calibri"/>
                <a:cs typeface="Calibri"/>
              </a:rPr>
              <a:t>, architettura nota ma senza guide dettagliate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sono sufficienti immagine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Apache 2.0</a:t>
            </a:r>
          </a:p>
        </p:txBody>
      </p:sp>
    </p:spTree>
    <p:extLst>
      <p:ext uri="{BB962C8B-B14F-4D97-AF65-F5344CB8AC3E}">
        <p14:creationId xmlns:p14="http://schemas.microsoft.com/office/powerpoint/2010/main" val="30370456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67620-D232-7E70-5FAA-AFBA4D4A4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1B563-E4CC-6C49-B6E2-25CACB9B0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4B9732-2DB5-6053-837E-288C7058093C}"/>
              </a:ext>
            </a:extLst>
          </p:cNvPr>
          <p:cNvSpPr txBox="1"/>
          <p:nvPr/>
        </p:nvSpPr>
        <p:spPr>
          <a:xfrm>
            <a:off x="986828" y="1137150"/>
            <a:ext cx="10773623" cy="51706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Leaf Detection and Classification</a:t>
            </a:r>
            <a:r>
              <a:rPr lang="it-IT" sz="2000" dirty="0">
                <a:ea typeface="Calibri"/>
                <a:cs typeface="Calibri"/>
              </a:rPr>
              <a:t>: 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è in grado di rilevare sia piante che malattie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il framework sottostante (YOLO) fornisce un’elevata quantità di guide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come i precedenti detector di piante, sono sufficienti immagini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modelli derivati da YOLO necessitano una licenza commerciale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Classification of Leaf Diseases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stesso di sopra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il modello è supportato da un paper che spiega il processo di addestramento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il modello fa uso di un LLM (LLaVa) per determinare la malattia presente; in quanto tale, potrebbe essere necessario un testing approfondito per assicurare il funzionamento corretto dell’LLM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una licenza potrebbe essere necessaria in base al numero di utenze mensili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Timeseries Anomaly Detection</a:t>
            </a:r>
            <a:endParaRPr lang="it-IT" sz="2000" dirty="0">
              <a:ea typeface="Calibri"/>
              <a:cs typeface="Calibri"/>
            </a:endParaRP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1, il modello svolge solo anomaly detection esclusivamente su serie temporali univariate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è addestrato come showcase della libreria Keras, il procedimento è noto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2, stessa motivazione dei modelli 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non riporta nessuna licenza</a:t>
            </a:r>
          </a:p>
        </p:txBody>
      </p:sp>
    </p:spTree>
    <p:extLst>
      <p:ext uri="{BB962C8B-B14F-4D97-AF65-F5344CB8AC3E}">
        <p14:creationId xmlns:p14="http://schemas.microsoft.com/office/powerpoint/2010/main" val="4237367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D920-DE11-2B28-E731-18D7F2D2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6DD4F-1FD3-94F3-18E1-71A82F35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8DB0B0-271C-B898-4FBD-28ADAE28EDEA}"/>
              </a:ext>
            </a:extLst>
          </p:cNvPr>
          <p:cNvSpPr txBox="1"/>
          <p:nvPr/>
        </p:nvSpPr>
        <p:spPr>
          <a:xfrm>
            <a:off x="986828" y="1137150"/>
            <a:ext cx="10773623" cy="375487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AdaptLLM Remote Sensing: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fornire una descrizione in linguaggio naturale di immagini ottenute da droni può essere utile per tenere traccia dello stato delle colture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architettura nota ma non sono forniti molti esempi di uso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possibile testing intensivo per garantire il corretto funzionamento dell’LLM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non è chiara la licenza di utilizzo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CropSeek LLM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dato lo scarso numero di dati usati per il fine-tuning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3, essendo un chatbot non molta documentazione è necessaria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come per gli altri LLM, potrebbe necessitare testing intensivo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1, la licenza proibisce usi commerciali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04661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12EDE-40AA-5C12-D139-6809F1FEC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EE2C0-FD24-E8F0-C974-456CAD90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Limitazioni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3AAE23-A7D0-DF14-B184-7E0DC6327CD3}"/>
              </a:ext>
            </a:extLst>
          </p:cNvPr>
          <p:cNvSpPr txBox="1"/>
          <p:nvPr/>
        </p:nvSpPr>
        <p:spPr>
          <a:xfrm>
            <a:off x="986828" y="1137150"/>
            <a:ext cx="10773623" cy="18466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di ricerca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Termini di inclusione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Requisito download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Singola sorgente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Mancanza di dati per test empirici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Dominanza di modelli IBM (46.6%)</a:t>
            </a:r>
          </a:p>
        </p:txBody>
      </p:sp>
    </p:spTree>
    <p:extLst>
      <p:ext uri="{BB962C8B-B14F-4D97-AF65-F5344CB8AC3E}">
        <p14:creationId xmlns:p14="http://schemas.microsoft.com/office/powerpoint/2010/main" val="2408469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77613-C027-BF08-DC6E-28E68DFD7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7EE9A-7BD0-BFBD-BCA4-56AC85D30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Conclusioni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CBDF80-F302-5887-856F-E1E99C82B6D5}"/>
              </a:ext>
            </a:extLst>
          </p:cNvPr>
          <p:cNvSpPr txBox="1"/>
          <p:nvPr/>
        </p:nvSpPr>
        <p:spPr>
          <a:xfrm>
            <a:off x="986828" y="1137150"/>
            <a:ext cx="10773623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Rilevanza e diversità dei modelli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Solo il 15% dei modelli sono risultati rilevanti/documentati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Il 46.6% di questi svolge analisi di serie temporali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Maggior parte dei modelli rilasciati sotto Apache 2.0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Quelli rimanenti, richiedono l’acquisto di una licenza commerciale (tranne CropSeek)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Bias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Scarsamente documentato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Necessiterà un’attenta valutazione nella pratica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 modelli general-purpose presentano comunque una solida opzione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Modelli specializzati possono essere implementati più facilmente</a:t>
            </a:r>
          </a:p>
        </p:txBody>
      </p:sp>
    </p:spTree>
    <p:extLst>
      <p:ext uri="{BB962C8B-B14F-4D97-AF65-F5344CB8AC3E}">
        <p14:creationId xmlns:p14="http://schemas.microsoft.com/office/powerpoint/2010/main" val="9513394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6C84-922C-B956-3DAD-E99F88C1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A13B-3AA9-444D-F64E-D160B2B87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  <a:ea typeface="Calibri"/>
                <a:cs typeface="Calibri"/>
              </a:rPr>
              <a:t>Sintesi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A91BF-EF06-C454-7F4E-647F05D6F3F7}"/>
              </a:ext>
            </a:extLst>
          </p:cNvPr>
          <p:cNvSpPr txBox="1"/>
          <p:nvPr/>
        </p:nvSpPr>
        <p:spPr>
          <a:xfrm>
            <a:off x="986828" y="1137150"/>
            <a:ext cx="10773623" cy="3385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Riuso modelli in Precision Farming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Farm-Tech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CRISP-DM per strutturare la ricerca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Raccolta dei modelli da HuggingFace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Revisione Manuale dei modelli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Analisi di ogni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Dataset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Architettura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Licenza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Transfer Learning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di valutazione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B42B90-9935-0982-5ED5-7384457D4913}"/>
              </a:ext>
            </a:extLst>
          </p:cNvPr>
          <p:cNvSpPr txBox="1"/>
          <p:nvPr/>
        </p:nvSpPr>
        <p:spPr>
          <a:xfrm>
            <a:off x="10608397" y="6581001"/>
            <a:ext cx="19072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Grazie per l’attenzione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5BBBC-7A4B-31CD-86BD-708E078381C5}"/>
              </a:ext>
            </a:extLst>
          </p:cNvPr>
          <p:cNvSpPr txBox="1"/>
          <p:nvPr/>
        </p:nvSpPr>
        <p:spPr>
          <a:xfrm>
            <a:off x="6818012" y="269296"/>
            <a:ext cx="49944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i="1" dirty="0"/>
              <a:t>Questa slide di sintesi l’ha suggetita il prof di Penta per facilitare ulteriori chiarimenti alla fine della presentazione</a:t>
            </a:r>
          </a:p>
          <a:p>
            <a:r>
              <a:rPr lang="it-IT" sz="1600" i="1" dirty="0"/>
              <a:t>Naturalmente questo commento lo tolgo per la presentazione effettiva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08505-B2C3-42DD-1AAA-5ACCC9217F81}"/>
              </a:ext>
            </a:extLst>
          </p:cNvPr>
          <p:cNvSpPr txBox="1"/>
          <p:nvPr/>
        </p:nvSpPr>
        <p:spPr>
          <a:xfrm>
            <a:off x="7305391" y="5996226"/>
            <a:ext cx="4994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i="1" dirty="0"/>
              <a:t>Questo è piccolo in basso perchè sempre il prof di Penta dice che non gli piace</a:t>
            </a:r>
          </a:p>
        </p:txBody>
      </p:sp>
    </p:spTree>
    <p:extLst>
      <p:ext uri="{BB962C8B-B14F-4D97-AF65-F5344CB8AC3E}">
        <p14:creationId xmlns:p14="http://schemas.microsoft.com/office/powerpoint/2010/main" val="1413644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1450</TotalTime>
  <Words>2455</Words>
  <Application>Microsoft Office PowerPoint</Application>
  <PresentationFormat>Widescreen</PresentationFormat>
  <Paragraphs>296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Office Theme</vt:lpstr>
      <vt:lpstr>Università degli  Studi del Sannio</vt:lpstr>
      <vt:lpstr>Perchè riusare i modelli?</vt:lpstr>
      <vt:lpstr>Precision Farming</vt:lpstr>
      <vt:lpstr>Farm-Tech</vt:lpstr>
      <vt:lpstr>Obbiettivo della tesi</vt:lpstr>
      <vt:lpstr>Metodologia di Ricerca</vt:lpstr>
      <vt:lpstr>Metodologia di Ricerca</vt:lpstr>
      <vt:lpstr>Ricerca dei modelli</vt:lpstr>
      <vt:lpstr>Filtraggio Manuale</vt:lpstr>
      <vt:lpstr>Filtraggio Manuale</vt:lpstr>
      <vt:lpstr>Modelli Rilevanti</vt:lpstr>
      <vt:lpstr>Modelli Rilevanti</vt:lpstr>
      <vt:lpstr>Modelli Rilevanti - Licenze</vt:lpstr>
      <vt:lpstr>Analisi Serie Temporali - TinyTimeMixers</vt:lpstr>
      <vt:lpstr>Analisi Serie Temporali - TinyTimeMixers</vt:lpstr>
      <vt:lpstr>Analisi Serie Temporali - TinyTimeMixers</vt:lpstr>
      <vt:lpstr>Classificazione Immagini – Disease Detection</vt:lpstr>
      <vt:lpstr>Classificazione Immagini – Disease Detection</vt:lpstr>
      <vt:lpstr>Remote Sensing – AdaptLLM</vt:lpstr>
      <vt:lpstr>Remote Sensing – AdaptLLM</vt:lpstr>
      <vt:lpstr>Chatbot Assistant – CropSeek LLM</vt:lpstr>
      <vt:lpstr>Valutazione Riusabilità – Transfer Learning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Limitazioni</vt:lpstr>
      <vt:lpstr>Conclusioni</vt:lpstr>
      <vt:lpstr>Sintesi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Loris Pennucci</dc:creator>
  <cp:lastModifiedBy>Loris Pennucci</cp:lastModifiedBy>
  <cp:revision>747</cp:revision>
  <dcterms:created xsi:type="dcterms:W3CDTF">2025-12-01T17:30:07Z</dcterms:created>
  <dcterms:modified xsi:type="dcterms:W3CDTF">2025-12-05T14:48:50Z</dcterms:modified>
</cp:coreProperties>
</file>