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61" r:id="rId5"/>
    <p:sldId id="259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90" r:id="rId15"/>
    <p:sldId id="279" r:id="rId16"/>
    <p:sldId id="289" r:id="rId17"/>
    <p:sldId id="280" r:id="rId18"/>
    <p:sldId id="281" r:id="rId19"/>
    <p:sldId id="282" r:id="rId20"/>
    <p:sldId id="283" r:id="rId21"/>
    <p:sldId id="284" r:id="rId22"/>
    <p:sldId id="285" r:id="rId23"/>
    <p:sldId id="286" r:id="rId24"/>
    <p:sldId id="287" r:id="rId25"/>
    <p:sldId id="288" r:id="rId26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4CCCC"/>
    <a:srgbClr val="EA9999"/>
    <a:srgbClr val="B7E1C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8A35D5A-2F8F-4E7A-83D5-81749FFD959E}" v="2923" dt="2025-12-05T10:42:56.594"/>
    <p1510:client id="{B797F5BD-98D0-47E7-94A5-1C436E9EC037}" v="3802" dt="2025-12-05T11:56:41.3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79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Risulato Filtraggio</c:v>
                </c:pt>
              </c:strCache>
            </c:strRef>
          </c:tx>
          <c:dPt>
            <c:idx val="0"/>
            <c:bubble3D val="0"/>
            <c:spPr>
              <a:solidFill>
                <a:srgbClr val="EA9999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481-4595-A2B7-A2A355FBA90E}"/>
              </c:ext>
            </c:extLst>
          </c:dPt>
          <c:dPt>
            <c:idx val="1"/>
            <c:bubble3D val="0"/>
            <c:spPr>
              <a:solidFill>
                <a:srgbClr val="F4CCCC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4-5481-4595-A2B7-A2A355FBA90E}"/>
              </c:ext>
            </c:extLst>
          </c:dPt>
          <c:dPt>
            <c:idx val="2"/>
            <c:bubble3D val="0"/>
            <c:spPr>
              <a:solidFill>
                <a:srgbClr val="B7E1CD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5481-4595-A2B7-A2A355FBA90E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7-75B2-4F07-9DE4-B162922D3E30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197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it-IT"/>
              </a:p>
            </c:txPr>
            <c:dLblPos val="bestFit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 cap="flat" cmpd="sng" algn="ctr">
                  <a:solidFill>
                    <a:schemeClr val="tx1">
                      <a:lumMod val="35000"/>
                      <a:lumOff val="65000"/>
                    </a:schemeClr>
                  </a:solidFill>
                  <a:round/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Sheet1!$A$2:$A$5</c:f>
              <c:strCache>
                <c:ptCount val="3"/>
                <c:pt idx="0">
                  <c:v>Non Rilevanti</c:v>
                </c:pt>
                <c:pt idx="1">
                  <c:v>Non Documentati</c:v>
                </c:pt>
                <c:pt idx="2">
                  <c:v>Rilevanti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81-4595-A2B7-A2A355FBA90E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b"/>
      <c:legendEntry>
        <c:idx val="0"/>
        <c:txPr>
          <a:bodyPr rot="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ln>
                  <a:noFill/>
                </a:ln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it-IT"/>
          </a:p>
        </c:txPr>
      </c:legendEntry>
      <c:legendEntry>
        <c:idx val="3"/>
        <c:delete val="1"/>
      </c:legendEntry>
      <c:layout>
        <c:manualLayout>
          <c:xMode val="edge"/>
          <c:yMode val="edge"/>
          <c:x val="0.16216308878858862"/>
          <c:y val="0.85967925913516485"/>
          <c:w val="0.70158023021705684"/>
          <c:h val="0.1202014515747565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it-IT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it-IT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A88E82-1176-EE3E-1BA5-19ED0E324F7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6CBCE5-CF02-BE2A-18D3-75E24276F8E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9D2E0-3389-1911-B387-CC6D045C5F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9C19C0-717A-BDBB-E12A-D1A29B1711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6BAEC8-FD5E-C1A4-9268-A1586A1B7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07931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9FABFB-E19D-809F-36B2-9BBC5D8651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374B48-EF6B-5513-7A58-D50E91AB714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172E2B-2438-DF5C-B27A-148B7E020F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7DB466-562D-B481-45C9-78799103C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694964-5084-8838-05E4-CED2005B0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65836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1A234-9799-4416-0B08-3DADA5B96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3B6D823-659C-80E3-EE40-730ED83D38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8AF58C5-A344-77CA-1964-04D5B2843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8FC0C-B1F7-56AB-59A1-0C3B2BCAAF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2AC812-1970-1671-768F-B1B99D8E16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8285328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5B58B5-9DCE-8102-9BA1-5171CB05C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5A4C98-85BE-8968-411D-85DA8F9481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DBB790-1E6F-44E9-128D-671D257663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A73023-EA24-7B8A-966C-5B2028743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B289CE-D455-F2DD-07DD-B4D16132FD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21AF2C-D1F7-E1E8-A22F-6BC12A20D7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649555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35587C-2B08-714C-5EC1-0D55D0485C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4A109A-12D6-6712-1F96-65A6C50A4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611A8F3-B250-511D-6653-1363A08D47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DEE68F-95AE-660C-5534-08340B1C054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D7D7F6-A6FC-A32D-3E0C-4595C2B0AA7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F0C1A75-3106-C0C1-9253-831CB9249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1CE1D0-C8ED-1DE5-E31F-7683533D7C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1384D5A-BBAC-574B-0615-D6D60099DF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887582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F9EC0A-A28E-BB37-51AB-F3E01D5B91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5291C10-07D3-AD17-C08D-60990D40DF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6C3DD1-C973-506F-1C2F-6F1BF946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10C126-2680-ED41-DDA0-2F417D36A8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595091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8CCDE19-22FF-3770-2E0D-3435B6DA4C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28985E-F722-48B6-311D-20C17D442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43B9AC-E68E-7F2D-65C9-462760A67A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791261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376D39-F814-7544-7B8C-48CF352E5D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AA5D5-6390-BF9D-C15F-893C9F6CEF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7D12AC1-F07F-A826-4DF4-2C8360DB49D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373E4D-D131-5931-9C1D-1281A6B397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2D501D-8AFD-79E9-5994-3310E5D8D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8930951-8A79-A772-06CC-9138773947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03419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3B6E45-CD92-A080-713F-B0A2F3BAF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D44045-2961-4C2F-8029-AA477DBB0AF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38E220-CEB0-CB93-BB97-9831CF57EC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90F319-7778-E56D-5171-F210F1A208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20DDEF-43B7-A34D-FF26-4802D2513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D991C1-E86B-0A4D-7931-C4DE67EFD1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7869138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1F017-12B5-0C8D-55B4-225289129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14C7A6-256C-48A5-9620-43B31BAD44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F5C123-E4A3-C152-0EE2-E47873964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EC93F-5E6D-0118-DE43-FCAD22C62B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1B579C-D7F1-045C-F32E-94D5F39B4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6427704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012B5F-D184-03BD-7BF9-202E18B084A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6ED5A4-84EA-6DD3-0EE2-A40F89AC53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0B691C-1371-8821-F65E-A2B338898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335356-BAFF-4C91-CA11-BBE0E26CB2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6568-7BE8-EDCB-23DD-F72E5B6C00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22448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98E6AE8-61FD-79F5-0B61-97E0FBAEAF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it-IT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6657B4-2785-3D1E-3382-28910A9808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it-IT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154441-B849-8C8E-BCF1-09D4FBF1965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5BC3CB-4661-43F6-808C-2743A578ABD9}" type="datetimeFigureOut">
              <a:rPr lang="it-IT" smtClean="0"/>
              <a:t>05/12/2025</a:t>
            </a:fld>
            <a:endParaRPr lang="it-IT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DE073-91E7-9C58-44F0-727BD583E6E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669F31-E570-31F2-5289-4986314BD9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9AF563-3BBE-4E13-B88A-DA5D71AE154D}" type="slidenum">
              <a:rPr lang="it-IT" smtClean="0"/>
              <a:t>‹#›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0006194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162CDFA3-29B2-2C5F-3B65-7B3B622C6B2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78737" y="3094843"/>
            <a:ext cx="11434527" cy="1320163"/>
          </a:xfrm>
        </p:spPr>
        <p:txBody>
          <a:bodyPr>
            <a:normAutofit/>
          </a:bodyPr>
          <a:lstStyle/>
          <a:p>
            <a:r>
              <a:rPr lang="it-IT" sz="3200" noProof="0" dirty="0"/>
              <a:t>Pre-trained models reuse: a case-study in precision farming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AF0DEF1D-E288-A8DD-E337-6B8C227809E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709432" y="428907"/>
            <a:ext cx="2227154" cy="708434"/>
          </a:xfrm>
        </p:spPr>
        <p:txBody>
          <a:bodyPr>
            <a:normAutofit fontScale="90000"/>
          </a:bodyPr>
          <a:lstStyle/>
          <a:p>
            <a:r>
              <a:rPr lang="it-IT" sz="2600" b="1" noProof="0" dirty="0">
                <a:solidFill>
                  <a:schemeClr val="tx2"/>
                </a:solidFill>
              </a:rPr>
              <a:t>Università degli </a:t>
            </a:r>
            <a:br>
              <a:rPr lang="it-IT" sz="2600" b="1" noProof="0" dirty="0">
                <a:solidFill>
                  <a:schemeClr val="tx2"/>
                </a:solidFill>
              </a:rPr>
            </a:br>
            <a:r>
              <a:rPr lang="it-IT" sz="2600" b="1" noProof="0" dirty="0">
                <a:solidFill>
                  <a:schemeClr val="tx2"/>
                </a:solidFill>
              </a:rPr>
              <a:t>Studi del Sannio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4D617B-04B4-87BC-51B9-E12EED80F0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40015" y="72428"/>
            <a:ext cx="1267350" cy="1421393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2EE37B07-CE02-8DED-2F0C-8F1CA9E72EAB}"/>
              </a:ext>
            </a:extLst>
          </p:cNvPr>
          <p:cNvSpPr txBox="1"/>
          <p:nvPr/>
        </p:nvSpPr>
        <p:spPr>
          <a:xfrm>
            <a:off x="3303006" y="2082290"/>
            <a:ext cx="55859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noProof="0" dirty="0">
                <a:solidFill>
                  <a:schemeClr val="tx2"/>
                </a:solidFill>
              </a:rPr>
              <a:t>Dipartimento di Ingegneria</a:t>
            </a:r>
          </a:p>
          <a:p>
            <a:pPr algn="ctr"/>
            <a:r>
              <a:rPr lang="it-IT" i="1" noProof="0" dirty="0">
                <a:solidFill>
                  <a:schemeClr val="tx2"/>
                </a:solidFill>
              </a:rPr>
              <a:t>Corso di Laurea in Ingegneria Informatica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03F9A90-42DE-83F5-BAD3-F8A2B2951487}"/>
              </a:ext>
            </a:extLst>
          </p:cNvPr>
          <p:cNvSpPr txBox="1"/>
          <p:nvPr/>
        </p:nvSpPr>
        <p:spPr>
          <a:xfrm>
            <a:off x="1056237" y="4606336"/>
            <a:ext cx="3096286" cy="13542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Relatore</a:t>
            </a:r>
          </a:p>
          <a:p>
            <a:r>
              <a:rPr lang="it-IT" noProof="0" dirty="0"/>
              <a:t>Prof. Damian Andrew Tamburri</a:t>
            </a:r>
          </a:p>
          <a:p>
            <a:endParaRPr lang="it-IT" noProof="0" dirty="0"/>
          </a:p>
          <a:p>
            <a:r>
              <a:rPr lang="it-IT" sz="1400" noProof="0" dirty="0"/>
              <a:t>Correlatrice</a:t>
            </a:r>
          </a:p>
          <a:p>
            <a:r>
              <a:rPr lang="it-IT" noProof="0" dirty="0"/>
              <a:t>Federica Pepe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F33DA0F-131A-6367-70FA-2B67687987B8}"/>
              </a:ext>
            </a:extLst>
          </p:cNvPr>
          <p:cNvSpPr txBox="1"/>
          <p:nvPr/>
        </p:nvSpPr>
        <p:spPr>
          <a:xfrm>
            <a:off x="8724526" y="4608220"/>
            <a:ext cx="241123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400" noProof="0" dirty="0"/>
              <a:t>Candidato</a:t>
            </a:r>
          </a:p>
          <a:p>
            <a:r>
              <a:rPr lang="it-IT" noProof="0" dirty="0"/>
              <a:t>Loris Umberto Pennucci</a:t>
            </a:r>
          </a:p>
          <a:p>
            <a:r>
              <a:rPr lang="it-IT" noProof="0" dirty="0"/>
              <a:t>Matr. 863003783</a:t>
            </a:r>
          </a:p>
          <a:p>
            <a:endParaRPr lang="it-IT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934A858-E361-2356-F66D-95B48DB667E4}"/>
              </a:ext>
            </a:extLst>
          </p:cNvPr>
          <p:cNvSpPr txBox="1"/>
          <p:nvPr/>
        </p:nvSpPr>
        <p:spPr>
          <a:xfrm>
            <a:off x="4556911" y="6495905"/>
            <a:ext cx="307817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1400" noProof="0" dirty="0"/>
              <a:t>Anno Accademico 2024-2025</a:t>
            </a:r>
          </a:p>
        </p:txBody>
      </p:sp>
    </p:spTree>
    <p:extLst>
      <p:ext uri="{BB962C8B-B14F-4D97-AF65-F5344CB8AC3E}">
        <p14:creationId xmlns:p14="http://schemas.microsoft.com/office/powerpoint/2010/main" val="85857141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1CF9F3-0A4B-2598-4BD4-CFEFAA8879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Perchè riusare i modelli?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A285E-0CBB-4FCB-DFD4-8CF59BD276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sz="1800" noProof="0" dirty="0"/>
              <a:t>Il riuso consiste nell’adattare modelli AI già addestrati su grandi dataset a nuovi compiti</a:t>
            </a:r>
          </a:p>
          <a:p>
            <a:r>
              <a:rPr lang="it-IT" sz="1800" noProof="0" dirty="0"/>
              <a:t>Solo su HuggingFace sono caricati più di 2 milioni di modelli</a:t>
            </a:r>
          </a:p>
          <a:p>
            <a:r>
              <a:rPr lang="it-IT" sz="1800" noProof="0" dirty="0"/>
              <a:t>Riusare modelli pre-addestrati conviene in quanto:</a:t>
            </a:r>
          </a:p>
          <a:p>
            <a:pPr lvl="1"/>
            <a:r>
              <a:rPr lang="it-IT" sz="1400" noProof="0" dirty="0"/>
              <a:t>riduce tempi e costi di addestramento</a:t>
            </a:r>
          </a:p>
          <a:p>
            <a:pPr lvl="1"/>
            <a:r>
              <a:rPr lang="it-IT" sz="1400" noProof="0" dirty="0"/>
              <a:t>sfrutta conoscenze già acquisite su grandi dataset</a:t>
            </a:r>
          </a:p>
          <a:p>
            <a:pPr lvl="1"/>
            <a:r>
              <a:rPr lang="it-IT" sz="1400" noProof="0" dirty="0"/>
              <a:t>‘’facile’’ adattamento a compiti specifici</a:t>
            </a:r>
          </a:p>
          <a:p>
            <a:endParaRPr lang="it-IT" noProof="0" dirty="0"/>
          </a:p>
        </p:txBody>
      </p:sp>
    </p:spTree>
    <p:extLst>
      <p:ext uri="{BB962C8B-B14F-4D97-AF65-F5344CB8AC3E}">
        <p14:creationId xmlns:p14="http://schemas.microsoft.com/office/powerpoint/2010/main" val="29670867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4615A3-6A60-2DB8-0F24-37460B30DE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E178E-8652-7D50-4A1D-4E2B2CC79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Precision Farming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59A99-3365-E7E8-0F5A-CAF5657DB5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1800" noProof="0" dirty="0"/>
              <a:t>Approccio innovativo all’agricoltura che integra tecnologie digitali per ottimizzare la gestione delle colture</a:t>
            </a:r>
          </a:p>
          <a:p>
            <a:pPr lvl="1"/>
            <a:r>
              <a:rPr lang="it-IT" sz="1400" noProof="0" dirty="0"/>
              <a:t>Sensori IoT, droni, immagini satellitarie...</a:t>
            </a:r>
          </a:p>
          <a:p>
            <a:r>
              <a:rPr lang="it-IT" sz="1800" noProof="0" dirty="0"/>
              <a:t>Aumentare le rese agricole</a:t>
            </a:r>
          </a:p>
          <a:p>
            <a:r>
              <a:rPr lang="it-IT" sz="1800" noProof="0" dirty="0"/>
              <a:t>Ridurre sprechi</a:t>
            </a:r>
          </a:p>
          <a:p>
            <a:r>
              <a:rPr lang="it-IT" sz="1800" noProof="0" dirty="0"/>
              <a:t>Fornire un tool decisionale agli agricoltori</a:t>
            </a:r>
          </a:p>
          <a:p>
            <a:endParaRPr lang="it-IT" sz="1800" noProof="0" dirty="0"/>
          </a:p>
          <a:p>
            <a:pPr marL="0" indent="0">
              <a:buNone/>
            </a:pPr>
            <a:r>
              <a:rPr lang="it-IT" sz="1800" noProof="0" dirty="0"/>
              <a:t>Vista l’elevata quantità di dati coinvolta in questa tecnica, l’AI si presta bene a processarli e analizzarli</a:t>
            </a:r>
          </a:p>
          <a:p>
            <a:pPr marL="0" indent="0">
              <a:buNone/>
            </a:pPr>
            <a:r>
              <a:rPr lang="it-IT" sz="1800" noProof="0" dirty="0"/>
              <a:t>Progetto di riferimento: Farm-Tech</a:t>
            </a:r>
          </a:p>
          <a:p>
            <a:pPr lvl="1"/>
            <a:endParaRPr lang="it-IT" sz="1400" noProof="0" dirty="0"/>
          </a:p>
          <a:p>
            <a:pPr lvl="1"/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2114111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4E7DC-01BA-7A78-9498-DBEAD39D8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FDEB-58DA-E349-BD4E-94940C6A17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Farm-Tech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7DD7A-2BD1-39E5-0364-97DDD222C9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3025" y="1518966"/>
            <a:ext cx="10692897" cy="4351338"/>
          </a:xfrm>
        </p:spPr>
        <p:txBody>
          <a:bodyPr>
            <a:normAutofit/>
          </a:bodyPr>
          <a:lstStyle/>
          <a:p>
            <a:r>
              <a:rPr lang="it-IT" sz="1800" noProof="0" dirty="0"/>
              <a:t>Progetto di ricerca congiunto tra SmartShaped e Trace Technologies, parte dell’ecosistema Tech4You</a:t>
            </a:r>
          </a:p>
          <a:p>
            <a:r>
              <a:rPr lang="it-IT" sz="1800" noProof="0" dirty="0"/>
              <a:t>Implementazione pratica del Precision Farming, mirata a supportare l’agricoltura sostenibile in ambienti Mediterranei</a:t>
            </a:r>
          </a:p>
          <a:p>
            <a:r>
              <a:rPr lang="it-IT" sz="1800" noProof="0" dirty="0"/>
              <a:t>Architettura Modulare</a:t>
            </a:r>
          </a:p>
          <a:p>
            <a:pPr lvl="1"/>
            <a:r>
              <a:rPr lang="it-IT" sz="1400" noProof="0" dirty="0"/>
              <a:t>Immagazzinamento e gestione dati (MinIO, GeoNode)</a:t>
            </a:r>
          </a:p>
          <a:p>
            <a:pPr lvl="1"/>
            <a:r>
              <a:rPr lang="it-IT" sz="1400" noProof="0" dirty="0"/>
              <a:t>Presentazione dati (GeoServer)</a:t>
            </a:r>
          </a:p>
          <a:p>
            <a:pPr lvl="1"/>
            <a:r>
              <a:rPr lang="it-IT" sz="1400" noProof="0" dirty="0"/>
              <a:t>Machine Learning (chaM3Leon)</a:t>
            </a:r>
          </a:p>
          <a:p>
            <a:pPr lvl="1"/>
            <a:r>
              <a:rPr lang="it-IT" sz="1400" noProof="0" dirty="0"/>
              <a:t>Moduli di supporto (PostgreSQL, Spark, Django...)</a:t>
            </a:r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457200" lvl="1" indent="0">
              <a:buNone/>
            </a:pPr>
            <a:endParaRPr lang="it-IT" sz="1400" noProof="0" dirty="0"/>
          </a:p>
          <a:p>
            <a:pPr marL="0" indent="0">
              <a:buNone/>
            </a:pPr>
            <a:r>
              <a:rPr lang="it-IT" sz="1800" noProof="0" dirty="0"/>
              <a:t>chaM3Leon è un framework modulare sviluppato da Smart Shaped</a:t>
            </a:r>
            <a:br>
              <a:rPr lang="it-IT" sz="1800" noProof="0" dirty="0"/>
            </a:br>
            <a:r>
              <a:rPr lang="it-IT" sz="1800" noProof="0" dirty="0"/>
              <a:t>a supporto di applicazioni machine learning; è in questo modulo</a:t>
            </a:r>
            <a:br>
              <a:rPr lang="it-IT" sz="1800" noProof="0" dirty="0"/>
            </a:br>
            <a:r>
              <a:rPr lang="it-IT" sz="1800" noProof="0" dirty="0"/>
              <a:t>che vengono addestrati/usati modelli di ML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EB6F499-F3EE-CFB6-56BF-515EE41698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89279" y="2501391"/>
            <a:ext cx="5112190" cy="4266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262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03E772-0061-E370-DF05-C823AA1426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F2AA5-70E4-A2A4-7D37-D8FF08EF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Obbiettivo della tesi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980ABC-DDAB-3C84-FA86-2E1C8C3C59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87274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Definire criteri e metriche per valutare la riusabilità dei modelli pre-addestrati nel contesto di </a:t>
            </a:r>
            <a:br>
              <a:rPr lang="it-IT" sz="2000" noProof="0" dirty="0"/>
            </a:br>
            <a:r>
              <a:rPr lang="it-IT" sz="2000" noProof="0" dirty="0"/>
              <a:t>Farm-Tech</a:t>
            </a:r>
          </a:p>
          <a:p>
            <a:pPr marL="0" indent="0">
              <a:buNone/>
            </a:pPr>
            <a:r>
              <a:rPr lang="it-IT" sz="2000" noProof="0" dirty="0"/>
              <a:t>Formalmente:</a:t>
            </a:r>
          </a:p>
          <a:p>
            <a:pPr lvl="1"/>
            <a:r>
              <a:rPr lang="it-IT" sz="1800" noProof="0" dirty="0"/>
              <a:t>What criteria and metrics can be considered to evaluate the reusability of pre-trained models in precision farming, and how can these be applied within the Farm-Tech project?</a:t>
            </a:r>
          </a:p>
          <a:p>
            <a:pPr lvl="1"/>
            <a:endParaRPr lang="it-IT" sz="1800" noProof="0" dirty="0"/>
          </a:p>
          <a:p>
            <a:pPr marL="0" indent="0">
              <a:buNone/>
            </a:pPr>
            <a:r>
              <a:rPr lang="it-IT" sz="2000" noProof="0" dirty="0"/>
              <a:t>Stabilito un metodo per valutare la riusabilità di modelli pre-addestrati, verrà applicato a un elenco di modelli selezionati, analizzando in modo sistematico il loro potenziale impiego in Farm-Tech.</a:t>
            </a:r>
          </a:p>
          <a:p>
            <a:pPr marL="457200" lvl="1" indent="0">
              <a:buNone/>
            </a:pPr>
            <a:endParaRPr lang="it-IT" sz="1400" noProof="0" dirty="0"/>
          </a:p>
        </p:txBody>
      </p:sp>
    </p:spTree>
    <p:extLst>
      <p:ext uri="{BB962C8B-B14F-4D97-AF65-F5344CB8AC3E}">
        <p14:creationId xmlns:p14="http://schemas.microsoft.com/office/powerpoint/2010/main" val="1649047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47656F-233C-2639-7CC3-1588ED464E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A88BB31-1D8D-B07A-4F5D-70AFCE10B7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3092" y="1954779"/>
            <a:ext cx="8865816" cy="4538096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000D084-7EEB-6DF6-CF3F-9962FE3BD990}"/>
              </a:ext>
            </a:extLst>
          </p:cNvPr>
          <p:cNvSpPr txBox="1"/>
          <p:nvPr/>
        </p:nvSpPr>
        <p:spPr>
          <a:xfrm>
            <a:off x="950614" y="1421394"/>
            <a:ext cx="84378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noProof="0" dirty="0"/>
              <a:t>La metodologia seguita in questa ricerca si basa sullo standard CRISP-DM</a:t>
            </a:r>
          </a:p>
        </p:txBody>
      </p:sp>
    </p:spTree>
    <p:extLst>
      <p:ext uri="{BB962C8B-B14F-4D97-AF65-F5344CB8AC3E}">
        <p14:creationId xmlns:p14="http://schemas.microsoft.com/office/powerpoint/2010/main" val="42341339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956913-B985-2897-46E7-126F19081B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3BF40-BE79-5D10-B38A-BFDC94D64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Metodologia di Ricerca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09167E6-727B-C726-3DBC-2D03193346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it-IT" sz="2000" noProof="0" dirty="0"/>
              <a:t>Business Understanding: valutare la riusabilità di modelli pre-addestrati all’interno di Farm-Tech</a:t>
            </a:r>
          </a:p>
          <a:p>
            <a:r>
              <a:rPr lang="it-IT" sz="2000" noProof="0" dirty="0"/>
              <a:t>Data Understanding: partendo da una lista di modelli, possiamo determinare il loro scopo in base alle informazioni fornite sulla loro model card</a:t>
            </a:r>
          </a:p>
          <a:p>
            <a:r>
              <a:rPr lang="it-IT" sz="2000" noProof="0" dirty="0"/>
              <a:t>Data Preparation: rimozione dei modelli non rilevanti dalla lista (revisione manuale)</a:t>
            </a:r>
          </a:p>
          <a:p>
            <a:r>
              <a:rPr lang="it-IT" sz="2000" noProof="0" dirty="0"/>
              <a:t>Modeling: I modelli rilevanti possono essere raggruppati in base alla task che compiono e analizzati a livello di dati, architettura, licenza</a:t>
            </a:r>
          </a:p>
          <a:p>
            <a:r>
              <a:rPr lang="it-IT" sz="2000" noProof="0" dirty="0"/>
              <a:t>Evaluation: combinando le informazioni ottenute dalle fasi precedenti, possiamo formulare una metrica per valutare la riusabilità di ogni modello considerato</a:t>
            </a:r>
          </a:p>
          <a:p>
            <a:r>
              <a:rPr lang="it-IT" sz="2000" dirty="0"/>
              <a:t>Deployment (?): considerazioni sulle implementazioni pratiche di ogni modello in Farm-Tech</a:t>
            </a:r>
            <a:endParaRPr lang="it-IT" sz="2000" noProof="0" dirty="0"/>
          </a:p>
        </p:txBody>
      </p:sp>
    </p:spTree>
    <p:extLst>
      <p:ext uri="{BB962C8B-B14F-4D97-AF65-F5344CB8AC3E}">
        <p14:creationId xmlns:p14="http://schemas.microsoft.com/office/powerpoint/2010/main" val="34780714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8EC75E-C1D6-1EB5-1CB0-BA9E3EF59E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A0D171-A5BB-F727-5758-F41FB23FA2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Ricerca dei modelli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2356F6-74D1-DCD4-6B04-47189E6D21E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 modelli considerati sono stati recuperati da HuggingFace se soddisfano le seguenti condizioni:</a:t>
            </a:r>
          </a:p>
          <a:p>
            <a:pPr lvl="1"/>
            <a:r>
              <a:rPr lang="it-IT" sz="1800" noProof="0" dirty="0"/>
              <a:t>Contiene uno qualunque dei seguenti termini all’interno della model card</a:t>
            </a:r>
          </a:p>
          <a:p>
            <a:pPr lvl="2"/>
            <a:r>
              <a:rPr lang="it-IT" sz="1400" dirty="0"/>
              <a:t>"agriculture", "crop", "biomass", "yield", "nitrogen", "phosphorus", "soil", "plant", "drone", "remote sensing", "time series", "field", "tomato", "heatmap", "organism", "vegetable"</a:t>
            </a:r>
            <a:endParaRPr lang="it-IT" sz="1400" noProof="0" dirty="0"/>
          </a:p>
          <a:p>
            <a:pPr lvl="1"/>
            <a:r>
              <a:rPr lang="it-IT" sz="1800" dirty="0"/>
              <a:t>Il modello deve avere più di 100 download totali</a:t>
            </a:r>
          </a:p>
          <a:p>
            <a:pPr lvl="2"/>
            <a:r>
              <a:rPr lang="it-IT" sz="1400" dirty="0"/>
              <a:t>Rilevanza</a:t>
            </a:r>
          </a:p>
          <a:p>
            <a:pPr lvl="2"/>
            <a:r>
              <a:rPr lang="it-IT" sz="1400" dirty="0"/>
              <a:t>Sicurezza</a:t>
            </a:r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endParaRPr lang="it-IT" sz="1400" dirty="0"/>
          </a:p>
          <a:p>
            <a:pPr marL="0" indent="0">
              <a:buNone/>
            </a:pPr>
            <a:r>
              <a:rPr lang="it-IT" sz="2000" dirty="0"/>
              <a:t>In tutto, 100 modelli sono stati recuperati</a:t>
            </a:r>
          </a:p>
        </p:txBody>
      </p:sp>
    </p:spTree>
    <p:extLst>
      <p:ext uri="{BB962C8B-B14F-4D97-AF65-F5344CB8AC3E}">
        <p14:creationId xmlns:p14="http://schemas.microsoft.com/office/powerpoint/2010/main" val="24443276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54F27-527F-22FC-0391-10EDD20413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58BCF-83B9-5EA4-F734-FED5758470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665CCF-D6F2-938E-822E-1C43FF2CE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Il metodo di raccolta dei modelli potrebbe includere un elevata quantità di falsi positivi</a:t>
            </a:r>
          </a:p>
          <a:p>
            <a:pPr marL="0" indent="0">
              <a:buNone/>
            </a:pPr>
            <a:r>
              <a:rPr lang="it-IT" sz="2000" noProof="0" dirty="0"/>
              <a:t>Per ovviare, una verifica manuale è stata eseguita in maniera indipendente da due ricercatori, rimuovendo modelli secondo questi parametri:</a:t>
            </a:r>
          </a:p>
          <a:p>
            <a:pPr lvl="1"/>
            <a:r>
              <a:rPr lang="it-IT" sz="1800" dirty="0"/>
              <a:t>Scopo del modello non rilevante a Farm-Tech</a:t>
            </a:r>
          </a:p>
          <a:p>
            <a:pPr lvl="1"/>
            <a:r>
              <a:rPr lang="it-IT" sz="1800" dirty="0"/>
              <a:t>Modello non documentato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0411A3-BFA2-0BC1-2E80-E2A0F3322D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56" y="3076753"/>
            <a:ext cx="3781991" cy="341612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4A24914E-7E2C-242B-03C6-79FC448F7D9E}"/>
              </a:ext>
            </a:extLst>
          </p:cNvPr>
          <p:cNvSpPr txBox="1"/>
          <p:nvPr/>
        </p:nvSpPr>
        <p:spPr>
          <a:xfrm>
            <a:off x="1156543" y="6492874"/>
            <a:ext cx="238789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documentato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84E678-520D-5C23-FC22-E70D49D45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7644" y="3076752"/>
            <a:ext cx="4828962" cy="341612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7ABC328-B5AB-3529-A906-BD3A61098DFE}"/>
              </a:ext>
            </a:extLst>
          </p:cNvPr>
          <p:cNvSpPr txBox="1"/>
          <p:nvPr/>
        </p:nvSpPr>
        <p:spPr>
          <a:xfrm>
            <a:off x="7970408" y="6492874"/>
            <a:ext cx="200343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sz="1600" i="1" dirty="0"/>
              <a:t>Modello non rilevante</a:t>
            </a:r>
          </a:p>
        </p:txBody>
      </p:sp>
    </p:spTree>
    <p:extLst>
      <p:ext uri="{BB962C8B-B14F-4D97-AF65-F5344CB8AC3E}">
        <p14:creationId xmlns:p14="http://schemas.microsoft.com/office/powerpoint/2010/main" val="14650742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5AE15-F7CC-911E-0A0B-427E474E60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BC11CF-743E-D110-4E8E-DC4AE4E10A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Filtraggio Manuale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7B235-AABE-407D-A715-B06DA68860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it-IT" sz="2000" noProof="0" dirty="0"/>
              <a:t>In tutto:</a:t>
            </a:r>
          </a:p>
          <a:p>
            <a:pPr lvl="1"/>
            <a:r>
              <a:rPr lang="it-IT" sz="2000" dirty="0"/>
              <a:t>60 modelli rimossi perchè non rilevanti</a:t>
            </a:r>
          </a:p>
          <a:p>
            <a:pPr lvl="1"/>
            <a:r>
              <a:rPr lang="it-IT" sz="2000" noProof="0" dirty="0"/>
              <a:t>25 modell</a:t>
            </a:r>
            <a:r>
              <a:rPr lang="it-IT" sz="2000" dirty="0"/>
              <a:t>i rimossi perchè non documentati</a:t>
            </a:r>
          </a:p>
          <a:p>
            <a:pPr lvl="1"/>
            <a:r>
              <a:rPr lang="it-IT" sz="2000" noProof="0" dirty="0"/>
              <a:t>15 modelli approvati come </a:t>
            </a:r>
            <a:r>
              <a:rPr lang="it-IT" sz="2000" dirty="0"/>
              <a:t>‘’rilevanti’’</a:t>
            </a:r>
            <a:endParaRPr lang="it-IT" sz="2000" noProof="0" dirty="0"/>
          </a:p>
          <a:p>
            <a:pPr marL="0" indent="0">
              <a:buNone/>
            </a:pPr>
            <a:endParaRPr lang="it-IT" sz="1800" dirty="0"/>
          </a:p>
        </p:txBody>
      </p:sp>
      <p:graphicFrame>
        <p:nvGraphicFramePr>
          <p:cNvPr id="10" name="Chart 9">
            <a:extLst>
              <a:ext uri="{FF2B5EF4-FFF2-40B4-BE49-F238E27FC236}">
                <a16:creationId xmlns:a16="http://schemas.microsoft.com/office/drawing/2014/main" id="{C8802C40-067F-D040-4D14-92204662DC6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74084117"/>
              </p:ext>
            </p:extLst>
          </p:nvPr>
        </p:nvGraphicFramePr>
        <p:xfrm>
          <a:off x="6427960" y="1720159"/>
          <a:ext cx="5687589" cy="48708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96E66FA2-D553-DCF2-92C2-9AC5C2260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931" y="3930059"/>
            <a:ext cx="6605006" cy="2769504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AF91A73-5C3A-7167-1416-C81158F1F11F}"/>
              </a:ext>
            </a:extLst>
          </p:cNvPr>
          <p:cNvSpPr txBox="1"/>
          <p:nvPr/>
        </p:nvSpPr>
        <p:spPr>
          <a:xfrm>
            <a:off x="1744880" y="3509574"/>
            <a:ext cx="29767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it-IT" dirty="0"/>
              <a:t>Lista Intera accessibile da [12]</a:t>
            </a:r>
          </a:p>
        </p:txBody>
      </p:sp>
    </p:spTree>
    <p:extLst>
      <p:ext uri="{BB962C8B-B14F-4D97-AF65-F5344CB8AC3E}">
        <p14:creationId xmlns:p14="http://schemas.microsoft.com/office/powerpoint/2010/main" val="22350801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96D1DD-CAF5-5B43-24D9-C2AFD5BF48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298ED-78F5-6C8A-A53E-2834298F6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DEA30E-715D-CF1B-8468-3304A7F487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82837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it-IT" sz="2000" dirty="0"/>
              <a:t>I 15 modelli rilevanti svolgono 4 task:</a:t>
            </a:r>
          </a:p>
          <a:p>
            <a:pPr lvl="1"/>
            <a:r>
              <a:rPr lang="it-IT" sz="2000" dirty="0"/>
              <a:t>Analisi di Serie Temporali</a:t>
            </a:r>
          </a:p>
          <a:p>
            <a:pPr lvl="1"/>
            <a:r>
              <a:rPr lang="it-IT" sz="2000" dirty="0"/>
              <a:t>Classificazione di Immagini</a:t>
            </a:r>
          </a:p>
          <a:p>
            <a:pPr lvl="1"/>
            <a:r>
              <a:rPr lang="it-IT" sz="2000" dirty="0"/>
              <a:t>Analisi di immagini acquisite da droni (remote sensing)</a:t>
            </a:r>
            <a:endParaRPr lang="it-IT" sz="2000" dirty="0">
              <a:ea typeface="Calibri"/>
              <a:cs typeface="Calibri"/>
            </a:endParaRPr>
          </a:p>
          <a:p>
            <a:pPr lvl="1"/>
            <a:r>
              <a:rPr lang="it-IT" sz="2000" dirty="0"/>
              <a:t>Assistente chatbot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955469E-0F76-91F6-0E0C-7B626250A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517629"/>
            <a:ext cx="9103740" cy="2774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4833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6A717C-F8F5-0091-E9F1-FD7384015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41A99-5626-AAE2-7C1D-A3D9FA43CF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961DC8D-9C88-0C83-BE7F-DEF2D2EE51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2638" y="117695"/>
            <a:ext cx="7021162" cy="6622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95570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4DAD5-FF8A-0D1A-835E-F1816F72EE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0E4392-CCFA-B0B2-A005-ED9B61C1D1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 - Licenze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01ACEF4-7552-94A1-327C-48A27C559D9A}"/>
              </a:ext>
            </a:extLst>
          </p:cNvPr>
          <p:cNvSpPr txBox="1"/>
          <p:nvPr/>
        </p:nvSpPr>
        <p:spPr>
          <a:xfrm>
            <a:off x="986828" y="1276540"/>
            <a:ext cx="10773623" cy="464742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/>
              <a:t>Fattore importante è la licenza con cui il modello è rilasciato.</a:t>
            </a:r>
          </a:p>
          <a:p>
            <a:r>
              <a:rPr lang="it-IT" sz="2000" dirty="0"/>
              <a:t>Maggior parte dei modelli è rilasciato sotto Apache 2.0, permette l’uso in ambito commerciale</a:t>
            </a:r>
          </a:p>
          <a:p>
            <a:endParaRPr lang="it-IT" sz="2000" dirty="0"/>
          </a:p>
          <a:p>
            <a:r>
              <a:rPr lang="it-IT" sz="2000" dirty="0"/>
              <a:t>I modelli segnati da (*) sono descritti in seguito:</a:t>
            </a:r>
            <a:endParaRPr lang="it-IT" sz="2000" dirty="0">
              <a:ea typeface="Calibri"/>
              <a:cs typeface="Calibri"/>
            </a:endParaRP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Disease Detection [17]: rilasciato sotto MIT, è un fine-tune di ViT che presenta Apache 2.0; entrambe sono licenze permissive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AdaptLLM Remote Sensing [20][25]: nessuna licenza sulla model card, una repository GitHub linkata da entrambe riporta licenza BIGAI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Leaf Detection and Classification [22]: non </a:t>
            </a:r>
            <a:r>
              <a:rPr lang="en-US" dirty="0" err="1"/>
              <a:t>presenta</a:t>
            </a:r>
            <a:r>
              <a:rPr lang="en-US" dirty="0"/>
              <a:t> alcuna </a:t>
            </a:r>
            <a:r>
              <a:rPr lang="en-US" dirty="0" err="1"/>
              <a:t>licenza</a:t>
            </a:r>
            <a:r>
              <a:rPr lang="en-US" dirty="0"/>
              <a:t>, ma </a:t>
            </a:r>
            <a:r>
              <a:rPr lang="en-US" dirty="0" err="1"/>
              <a:t>basato</a:t>
            </a:r>
            <a:r>
              <a:rPr lang="en-US" dirty="0"/>
              <a:t> </a:t>
            </a:r>
            <a:r>
              <a:rPr lang="en-US" dirty="0" err="1"/>
              <a:t>sull’architettura</a:t>
            </a:r>
            <a:r>
              <a:rPr lang="en-US" dirty="0"/>
              <a:t> YOLOv8, </a:t>
            </a:r>
            <a:r>
              <a:rPr lang="en-US" dirty="0" err="1"/>
              <a:t>disponibile</a:t>
            </a:r>
            <a:r>
              <a:rPr lang="en-US" dirty="0"/>
              <a:t> sotto </a:t>
            </a:r>
            <a:r>
              <a:rPr lang="en-US" dirty="0" err="1"/>
              <a:t>licenza</a:t>
            </a:r>
            <a:r>
              <a:rPr lang="en-US" dirty="0"/>
              <a:t> AGPL-3.0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it-IT" dirty="0"/>
              <a:t>CropSeekLLM [23]: fine-tune di DeepSeek-r1 (MIT), il modello presenta la licenza DARJYO 1.0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it-IT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Classification of Leaf Diseases [24]: fine-tune di </a:t>
            </a:r>
            <a:r>
              <a:rPr lang="en-US" dirty="0" err="1"/>
              <a:t>LLaVA</a:t>
            </a:r>
            <a:r>
              <a:rPr lang="en-US" dirty="0"/>
              <a:t> 1.5,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presenta</a:t>
            </a:r>
            <a:r>
              <a:rPr lang="en-US" dirty="0"/>
              <a:t> </a:t>
            </a:r>
            <a:r>
              <a:rPr lang="en-US" dirty="0" err="1"/>
              <a:t>licenza</a:t>
            </a:r>
            <a:r>
              <a:rPr lang="en-US" dirty="0"/>
              <a:t> llama2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983047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3543B9-7641-D660-AB72-911947DEA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25F28-0816-C1F9-27A7-5BACA047E1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4826" y="-8754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</a:rPr>
              <a:t>Modelli Rilevanti – Analisi </a:t>
            </a:r>
            <a:r>
              <a:rPr lang="it-IT" sz="1600" noProof="0" dirty="0">
                <a:latin typeface="+mn-lt"/>
              </a:rPr>
              <a:t>(in a nutshell)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FB4E3F-59C4-A260-BA7C-618EF0FDB5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3133" y="522851"/>
            <a:ext cx="7405734" cy="6159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390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ACDEF-6D9A-D394-0BAB-EE7842EFA9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AD843F-7029-1F2E-7D08-B284C29B0F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 – Transfer Learning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7017241-B898-E6A5-D692-D031F1A2C3AD}"/>
              </a:ext>
            </a:extLst>
          </p:cNvPr>
          <p:cNvSpPr txBox="1"/>
          <p:nvPr/>
        </p:nvSpPr>
        <p:spPr>
          <a:xfrm>
            <a:off x="986828" y="1276540"/>
            <a:ext cx="10773623" cy="347787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IBM: "</a:t>
            </a:r>
            <a:r>
              <a:rPr lang="it-IT" sz="2000" dirty="0">
                <a:ea typeface="+mn-lt"/>
                <a:cs typeface="+mn-lt"/>
              </a:rPr>
              <a:t>Transfer learning </a:t>
            </a:r>
            <a:r>
              <a:rPr lang="it-IT" sz="2000" err="1">
                <a:ea typeface="+mn-lt"/>
                <a:cs typeface="+mn-lt"/>
              </a:rPr>
              <a:t>is</a:t>
            </a:r>
            <a:r>
              <a:rPr lang="it-IT" sz="2000" dirty="0">
                <a:ea typeface="+mn-lt"/>
                <a:cs typeface="+mn-lt"/>
              </a:rPr>
              <a:t> a machine learning technique in </a:t>
            </a:r>
            <a:r>
              <a:rPr lang="it-IT" sz="2000" err="1">
                <a:ea typeface="+mn-lt"/>
                <a:cs typeface="+mn-lt"/>
              </a:rPr>
              <a:t>which</a:t>
            </a:r>
            <a:r>
              <a:rPr lang="it-IT" sz="2000" dirty="0">
                <a:ea typeface="+mn-lt"/>
                <a:cs typeface="+mn-lt"/>
              </a:rPr>
              <a:t> knowledge </a:t>
            </a:r>
            <a:r>
              <a:rPr lang="it-IT" sz="2000" err="1">
                <a:ea typeface="+mn-lt"/>
                <a:cs typeface="+mn-lt"/>
              </a:rPr>
              <a:t>gained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through</a:t>
            </a:r>
            <a:r>
              <a:rPr lang="it-IT" sz="2000" dirty="0">
                <a:ea typeface="+mn-lt"/>
                <a:cs typeface="+mn-lt"/>
              </a:rPr>
              <a:t> one task or dataset </a:t>
            </a:r>
            <a:r>
              <a:rPr lang="it-IT" sz="2000" err="1">
                <a:ea typeface="+mn-lt"/>
                <a:cs typeface="+mn-lt"/>
              </a:rPr>
              <a:t>is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used</a:t>
            </a:r>
            <a:r>
              <a:rPr lang="it-IT" sz="2000" dirty="0">
                <a:ea typeface="+mn-lt"/>
                <a:cs typeface="+mn-lt"/>
              </a:rPr>
              <a:t> to </a:t>
            </a:r>
            <a:r>
              <a:rPr lang="it-IT" sz="2000" err="1">
                <a:ea typeface="+mn-lt"/>
                <a:cs typeface="+mn-lt"/>
              </a:rPr>
              <a:t>improve</a:t>
            </a:r>
            <a:r>
              <a:rPr lang="it-IT" sz="2000" dirty="0">
                <a:ea typeface="+mn-lt"/>
                <a:cs typeface="+mn-lt"/>
              </a:rPr>
              <a:t> model performance on </a:t>
            </a:r>
            <a:r>
              <a:rPr lang="it-IT" sz="2000" err="1">
                <a:ea typeface="+mn-lt"/>
                <a:cs typeface="+mn-lt"/>
              </a:rPr>
              <a:t>another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related</a:t>
            </a:r>
            <a:r>
              <a:rPr lang="it-IT" sz="2000" dirty="0">
                <a:ea typeface="+mn-lt"/>
                <a:cs typeface="+mn-lt"/>
              </a:rPr>
              <a:t> task or </a:t>
            </a:r>
            <a:r>
              <a:rPr lang="it-IT" sz="2000" err="1">
                <a:ea typeface="+mn-lt"/>
                <a:cs typeface="+mn-lt"/>
              </a:rPr>
              <a:t>different</a:t>
            </a:r>
            <a:r>
              <a:rPr lang="it-IT" sz="2000" dirty="0">
                <a:ea typeface="+mn-lt"/>
                <a:cs typeface="+mn-lt"/>
              </a:rPr>
              <a:t> dataset. In </a:t>
            </a:r>
            <a:r>
              <a:rPr lang="it-IT" sz="2000" err="1">
                <a:ea typeface="+mn-lt"/>
                <a:cs typeface="+mn-lt"/>
              </a:rPr>
              <a:t>other</a:t>
            </a:r>
            <a:r>
              <a:rPr lang="it-IT" sz="2000" dirty="0">
                <a:ea typeface="+mn-lt"/>
                <a:cs typeface="+mn-lt"/>
              </a:rPr>
              <a:t> words, transfer learning </a:t>
            </a:r>
            <a:r>
              <a:rPr lang="it-IT" sz="2000" err="1">
                <a:ea typeface="+mn-lt"/>
                <a:cs typeface="+mn-lt"/>
              </a:rPr>
              <a:t>uses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what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has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been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learned</a:t>
            </a:r>
            <a:r>
              <a:rPr lang="it-IT" sz="2000" dirty="0">
                <a:ea typeface="+mn-lt"/>
                <a:cs typeface="+mn-lt"/>
              </a:rPr>
              <a:t> in one setting to </a:t>
            </a:r>
            <a:r>
              <a:rPr lang="it-IT" sz="2000" err="1">
                <a:ea typeface="+mn-lt"/>
                <a:cs typeface="+mn-lt"/>
              </a:rPr>
              <a:t>improve</a:t>
            </a:r>
            <a:r>
              <a:rPr lang="it-IT" sz="2000" dirty="0">
                <a:ea typeface="+mn-lt"/>
                <a:cs typeface="+mn-lt"/>
              </a:rPr>
              <a:t> </a:t>
            </a:r>
            <a:r>
              <a:rPr lang="it-IT" sz="2000" err="1">
                <a:ea typeface="+mn-lt"/>
                <a:cs typeface="+mn-lt"/>
              </a:rPr>
              <a:t>generalization</a:t>
            </a:r>
            <a:r>
              <a:rPr lang="it-IT" sz="2000" dirty="0">
                <a:ea typeface="+mn-lt"/>
                <a:cs typeface="+mn-lt"/>
              </a:rPr>
              <a:t> in </a:t>
            </a:r>
            <a:r>
              <a:rPr lang="it-IT" sz="2000" err="1">
                <a:ea typeface="+mn-lt"/>
                <a:cs typeface="+mn-lt"/>
              </a:rPr>
              <a:t>another</a:t>
            </a:r>
            <a:r>
              <a:rPr lang="it-IT" sz="2000" dirty="0">
                <a:ea typeface="+mn-lt"/>
                <a:cs typeface="+mn-lt"/>
              </a:rPr>
              <a:t> setting</a:t>
            </a:r>
            <a:r>
              <a:rPr lang="it-IT" sz="2000" dirty="0">
                <a:ea typeface="Calibri"/>
                <a:cs typeface="Calibri"/>
              </a:rPr>
              <a:t>."</a:t>
            </a:r>
            <a:endParaRPr lang="it-IT"/>
          </a:p>
          <a:p>
            <a:pPr marL="342900" indent="-342900">
              <a:buFont typeface="Arial"/>
              <a:buChar char="•"/>
            </a:pPr>
            <a:endParaRPr lang="it-IT" sz="2000" dirty="0">
              <a:ea typeface="Calibri"/>
              <a:cs typeface="Calibri"/>
            </a:endParaRPr>
          </a:p>
          <a:p>
            <a:r>
              <a:rPr lang="it-IT" sz="2000" dirty="0">
                <a:ea typeface="Calibri"/>
                <a:cs typeface="Calibri"/>
              </a:rPr>
              <a:t>Fattori importanti: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Compatibilità di Task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Disponibilità di dati per fine-tuning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Licenze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Domain shift e </a:t>
            </a:r>
            <a:r>
              <a:rPr lang="it-IT" sz="2000" dirty="0" err="1">
                <a:ea typeface="Calibri"/>
                <a:cs typeface="Calibri"/>
              </a:rPr>
              <a:t>Bias</a:t>
            </a:r>
            <a:r>
              <a:rPr lang="it-IT" sz="2000" dirty="0">
                <a:ea typeface="Calibri"/>
                <a:cs typeface="Calibri"/>
              </a:rPr>
              <a:t>*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Limiti operativi*</a:t>
            </a:r>
          </a:p>
        </p:txBody>
      </p:sp>
      <p:sp>
        <p:nvSpPr>
          <p:cNvPr id="3" name="CasellaDiTesto 2">
            <a:extLst>
              <a:ext uri="{FF2B5EF4-FFF2-40B4-BE49-F238E27FC236}">
                <a16:creationId xmlns:a16="http://schemas.microsoft.com/office/drawing/2014/main" id="{EDBA4BF4-5616-FB95-CDD8-E46AC7AE3040}"/>
              </a:ext>
            </a:extLst>
          </p:cNvPr>
          <p:cNvSpPr txBox="1"/>
          <p:nvPr/>
        </p:nvSpPr>
        <p:spPr>
          <a:xfrm>
            <a:off x="988370" y="6410712"/>
            <a:ext cx="9601199" cy="338554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it-IT" sz="1600" dirty="0">
                <a:ea typeface="+mn-lt"/>
                <a:cs typeface="+mn-lt"/>
              </a:rPr>
              <a:t>IBM, " </a:t>
            </a:r>
            <a:r>
              <a:rPr lang="it-IT" sz="1600" dirty="0" err="1">
                <a:ea typeface="+mn-lt"/>
                <a:cs typeface="+mn-lt"/>
              </a:rPr>
              <a:t>What</a:t>
            </a:r>
            <a:r>
              <a:rPr lang="it-IT" sz="1600" dirty="0">
                <a:ea typeface="+mn-lt"/>
                <a:cs typeface="+mn-lt"/>
              </a:rPr>
              <a:t> </a:t>
            </a:r>
            <a:r>
              <a:rPr lang="it-IT" sz="1600" dirty="0" err="1">
                <a:ea typeface="+mn-lt"/>
                <a:cs typeface="+mn-lt"/>
              </a:rPr>
              <a:t>is</a:t>
            </a:r>
            <a:r>
              <a:rPr lang="it-IT" sz="1600" dirty="0">
                <a:ea typeface="+mn-lt"/>
                <a:cs typeface="+mn-lt"/>
              </a:rPr>
              <a:t> transfer learning?" [Online]. </a:t>
            </a:r>
            <a:r>
              <a:rPr lang="it-IT" sz="1600" dirty="0" err="1">
                <a:ea typeface="+mn-lt"/>
                <a:cs typeface="+mn-lt"/>
              </a:rPr>
              <a:t>Available</a:t>
            </a:r>
            <a:r>
              <a:rPr lang="it-IT" sz="1600" dirty="0">
                <a:ea typeface="+mn-lt"/>
                <a:cs typeface="+mn-lt"/>
              </a:rPr>
              <a:t>: https://www.ibm.com/think/topics/transfer-learning.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148793586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1E8A0-35FE-A636-21A8-B2596DE493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87478-4503-BBF8-03D3-CA4085745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509102-F7C8-6058-09B6-24692955FC5F}"/>
              </a:ext>
            </a:extLst>
          </p:cNvPr>
          <p:cNvSpPr txBox="1"/>
          <p:nvPr/>
        </p:nvSpPr>
        <p:spPr>
          <a:xfrm>
            <a:off x="986828" y="1016345"/>
            <a:ext cx="10773623" cy="320087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La metodologia proposta prevede l'assegnazione di un punteggio, da 1 a 3, in 4 categorie</a:t>
            </a:r>
          </a:p>
          <a:p>
            <a:endParaRPr lang="it-IT" sz="2000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Project Alignment (PA)</a:t>
            </a:r>
            <a:r>
              <a:rPr lang="it-IT" dirty="0">
                <a:ea typeface="Calibri"/>
                <a:cs typeface="Calibri"/>
              </a:rPr>
              <a:t>: rilevanza verso Farm-Tech, sia in termini di task che dataset di addestramento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affinità generale al </a:t>
            </a:r>
            <a:r>
              <a:rPr lang="it-IT" dirty="0" err="1">
                <a:ea typeface="Calibri"/>
                <a:cs typeface="Calibri"/>
              </a:rPr>
              <a:t>precision</a:t>
            </a:r>
            <a:r>
              <a:rPr lang="it-IT" dirty="0">
                <a:ea typeface="Calibri"/>
                <a:cs typeface="Calibri"/>
              </a:rPr>
              <a:t> farming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correlazione immediata ad una task rilevante in Farm-Tech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uso di dati immediatamente rilevanti</a:t>
            </a:r>
          </a:p>
          <a:p>
            <a:pPr marL="742950" lvl="1" indent="-28575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Quality of Documentation (QD)</a:t>
            </a:r>
            <a:r>
              <a:rPr lang="it-IT" dirty="0">
                <a:ea typeface="Calibri"/>
                <a:cs typeface="Calibri"/>
              </a:rPr>
              <a:t>: utilità della documentazione nell'implementare il modello in un nuovo campo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documentazione sufficiente per esecuzione del modello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sintesi dell'architettura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quantità significativa di guide/tutorial</a:t>
            </a:r>
          </a:p>
        </p:txBody>
      </p:sp>
    </p:spTree>
    <p:extLst>
      <p:ext uri="{BB962C8B-B14F-4D97-AF65-F5344CB8AC3E}">
        <p14:creationId xmlns:p14="http://schemas.microsoft.com/office/powerpoint/2010/main" val="375687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43BEE8-B9A8-53CF-C076-4CD8B199A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DBAB7-FD45-F0E3-B0FE-1EC42ACA79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5633DC3-A1B8-C8D4-3544-61606F06ECBB}"/>
              </a:ext>
            </a:extLst>
          </p:cNvPr>
          <p:cNvSpPr txBox="1"/>
          <p:nvPr/>
        </p:nvSpPr>
        <p:spPr>
          <a:xfrm>
            <a:off x="986828" y="1016345"/>
            <a:ext cx="10773623" cy="29238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La metodologia proposta prevede l'assegnazione di un punteggio, da 1 a 3, in 4 categorie</a:t>
            </a:r>
          </a:p>
          <a:p>
            <a:endParaRPr lang="it-IT" sz="20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Ease of Evaluation (EE)</a:t>
            </a:r>
            <a:r>
              <a:rPr lang="it-IT" dirty="0">
                <a:ea typeface="Calibri"/>
                <a:cs typeface="Calibri"/>
              </a:rPr>
              <a:t>: quanto è semplice valutare l'efficacia del modello nel nuovo campo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 testing intensivo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necessità di dati specifici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dati general-purpose sufficenti</a:t>
            </a:r>
          </a:p>
          <a:p>
            <a:pPr marL="285750" indent="-285750">
              <a:buFont typeface="Arial"/>
              <a:buChar char="•"/>
            </a:pPr>
            <a:r>
              <a:rPr lang="it-IT" b="1" dirty="0">
                <a:ea typeface="Calibri"/>
                <a:cs typeface="Calibri"/>
              </a:rPr>
              <a:t>Licenza (LC)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1:</a:t>
            </a:r>
            <a:r>
              <a:rPr lang="it-IT" b="1" dirty="0">
                <a:ea typeface="Calibri"/>
                <a:cs typeface="Calibri"/>
              </a:rPr>
              <a:t> </a:t>
            </a:r>
            <a:r>
              <a:rPr lang="it-IT" dirty="0">
                <a:ea typeface="Calibri"/>
                <a:cs typeface="Calibri"/>
              </a:rPr>
              <a:t>licenza restrittiva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2: licenza assente/contraddittoria</a:t>
            </a:r>
          </a:p>
          <a:p>
            <a:pPr marL="742950" lvl="1" indent="-28575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3: licenza permissiva</a:t>
            </a:r>
          </a:p>
        </p:txBody>
      </p:sp>
    </p:spTree>
    <p:extLst>
      <p:ext uri="{BB962C8B-B14F-4D97-AF65-F5344CB8AC3E}">
        <p14:creationId xmlns:p14="http://schemas.microsoft.com/office/powerpoint/2010/main" val="13928153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49745B-E151-546B-0636-115DBAC37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B0696-B8F2-7CC9-67FB-9A23E22DA3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EB5CC1-BD15-FA0F-DC51-6D65BADFD02E}"/>
              </a:ext>
            </a:extLst>
          </p:cNvPr>
          <p:cNvSpPr txBox="1"/>
          <p:nvPr/>
        </p:nvSpPr>
        <p:spPr>
          <a:xfrm>
            <a:off x="986828" y="1192906"/>
            <a:ext cx="10773623" cy="255454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it-IT" sz="2000" dirty="0">
                <a:ea typeface="Calibri"/>
                <a:cs typeface="Calibri"/>
              </a:rPr>
              <a:t>Un punteggio finale è calcolato come la media di tutte le categorie</a:t>
            </a:r>
            <a:endParaRPr lang="it-IT" dirty="0">
              <a:ea typeface="Calibri"/>
              <a:cs typeface="Calibri"/>
            </a:endParaRPr>
          </a:p>
          <a:p>
            <a:endParaRPr lang="it-IT" sz="2000" dirty="0">
              <a:ea typeface="Calibri"/>
              <a:cs typeface="Calibri"/>
            </a:endParaRPr>
          </a:p>
          <a:p>
            <a:r>
              <a:rPr lang="it-IT" sz="2000" dirty="0">
                <a:ea typeface="Calibri"/>
                <a:cs typeface="Calibri"/>
              </a:rPr>
              <a:t>Invece di una media, in base alle necessità del team di sviluppo, si può formulare un altro tipo di valutazione; ad esempio:</a:t>
            </a:r>
          </a:p>
          <a:p>
            <a:endParaRPr lang="it-IT" sz="2000" dirty="0">
              <a:ea typeface="+mn-lt"/>
              <a:cs typeface="+mn-lt"/>
            </a:endParaRPr>
          </a:p>
          <a:p>
            <a:pPr lvl="2"/>
            <a:r>
              <a:rPr lang="it-IT" sz="2000" dirty="0">
                <a:ea typeface="+mn-lt"/>
                <a:cs typeface="+mn-lt"/>
              </a:rPr>
              <a:t>     𝑇𝑜𝑡𝑎𝑙 𝑆𝑐𝑜𝑟𝑒 = 𝑃𝐴 ∗ 0.2 + 𝑄𝐷 ∗ 0.2 + 𝐸𝐸 ∗ 0.2 + 𝐿𝐶 ∗ 0.4</a:t>
            </a:r>
          </a:p>
          <a:p>
            <a:pPr lvl="2"/>
            <a:endParaRPr lang="it-IT" sz="2000" dirty="0">
              <a:ea typeface="Calibri" panose="020F0502020204030204"/>
              <a:cs typeface="Calibri" panose="020F0502020204030204"/>
            </a:endParaRPr>
          </a:p>
          <a:p>
            <a:r>
              <a:rPr lang="it-IT" sz="2000" dirty="0">
                <a:ea typeface="Calibri" panose="020F0502020204030204"/>
                <a:cs typeface="Calibri" panose="020F0502020204030204"/>
              </a:rPr>
              <a:t>Tramite una somma pesata si dà più peso alla categoria di interesse maggiore</a:t>
            </a:r>
          </a:p>
        </p:txBody>
      </p:sp>
    </p:spTree>
    <p:extLst>
      <p:ext uri="{BB962C8B-B14F-4D97-AF65-F5344CB8AC3E}">
        <p14:creationId xmlns:p14="http://schemas.microsoft.com/office/powerpoint/2010/main" val="5004912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EFAA30-5B83-65C7-AC88-FEE8874677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34CA08-7B7B-890C-1FA6-2A1035872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pic>
        <p:nvPicPr>
          <p:cNvPr id="3" name="Immagine 2" descr="Immagine che contiene testo, schermata, numero, Parallelo&#10;&#10;Il contenuto generato dall&amp;#39;IA potrebbe non essere corretto.">
            <a:extLst>
              <a:ext uri="{FF2B5EF4-FFF2-40B4-BE49-F238E27FC236}">
                <a16:creationId xmlns:a16="http://schemas.microsoft.com/office/drawing/2014/main" id="{45DCDD2A-FA78-1CE0-D426-565C095168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716" y="120805"/>
            <a:ext cx="6850567" cy="6625683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64F934-476C-407A-FA28-CA94535F8784}"/>
                  </a:ext>
                </a:extLst>
              </p:cNvPr>
              <p:cNvSpPr txBox="1"/>
              <p:nvPr/>
            </p:nvSpPr>
            <p:spPr>
              <a:xfrm>
                <a:off x="1249379" y="3040175"/>
                <a:ext cx="2708562" cy="77764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𝑇𝑜𝑡𝑎𝑙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𝑆𝑐𝑜𝑟𝑒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den>
                      </m:f>
                      <m:r>
                        <a:rPr lang="it-IT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∙</m:t>
                      </m:r>
                      <m:nary>
                        <m:naryPr>
                          <m:chr m:val="∑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it-IT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  <m:e>
                          <m:sSub>
                            <m:sSubPr>
                              <m:ctrlP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𝐶𝐴𝑇</m:t>
                              </m:r>
                            </m:e>
                            <m:sub>
                              <m:r>
                                <a:rPr lang="it-IT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</m:oMath>
                  </m:oMathPara>
                </a14:m>
                <a:endParaRPr lang="it-IT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F64F934-476C-407A-FA28-CA94535F87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379" y="3040175"/>
                <a:ext cx="2708562" cy="777649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8105A-5E39-3894-D6F7-436FC53AEDAA}"/>
                  </a:ext>
                </a:extLst>
              </p:cNvPr>
              <p:cNvSpPr txBox="1"/>
              <p:nvPr/>
            </p:nvSpPr>
            <p:spPr>
              <a:xfrm>
                <a:off x="1196964" y="4189894"/>
                <a:ext cx="2813392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it-IT" sz="1600" dirty="0"/>
                  <a:t>Dove </a:t>
                </a:r>
                <a14:m>
                  <m:oMath xmlns:m="http://schemas.openxmlformats.org/officeDocument/2006/math">
                    <m:r>
                      <a:rPr lang="it-IT" sz="1600" i="1">
                        <a:latin typeface="Cambria Math" panose="02040503050406030204" pitchFamily="18" charset="0"/>
                      </a:rPr>
                      <m:t>𝐶𝐴𝑇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={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𝑃𝐴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𝐷𝑄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𝐸𝐸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𝐿𝐶</m:t>
                    </m:r>
                    <m:r>
                      <a:rPr lang="it-IT" sz="1600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it-IT" sz="16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E5C8105A-5E39-3894-D6F7-436FC53AED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96964" y="4189894"/>
                <a:ext cx="2813392" cy="338554"/>
              </a:xfrm>
              <a:prstGeom prst="rect">
                <a:avLst/>
              </a:prstGeom>
              <a:blipFill>
                <a:blip r:embed="rId4"/>
                <a:stretch>
                  <a:fillRect l="-1082" t="-5357" b="-214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718256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5B1F48-E3AD-DD00-C929-87E4B226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1C31DA-C330-F8F2-31CA-280EAAED1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3C27A3-F714-9000-E19B-8A25D12469F7}"/>
              </a:ext>
            </a:extLst>
          </p:cNvPr>
          <p:cNvSpPr txBox="1"/>
          <p:nvPr/>
        </p:nvSpPr>
        <p:spPr>
          <a:xfrm>
            <a:off x="986828" y="1137150"/>
            <a:ext cx="10773623" cy="517064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IBM Granite</a:t>
            </a:r>
            <a:r>
              <a:rPr lang="it-IT" sz="2000" dirty="0">
                <a:ea typeface="Calibri"/>
                <a:cs typeface="Calibri"/>
              </a:rPr>
              <a:t>: 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modelli general-purpose addestrati su dati generici; Flowstate 1 perchè opera su serie temporali univariate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3, supporto di paper tecnici che descrivono l'architettura; numerose guide sull'utilizzo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2, dati generici non sono sufficienti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tutti i modelli sono Apache 2.0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 err="1">
                <a:ea typeface="Calibri"/>
                <a:cs typeface="Calibri"/>
              </a:rPr>
              <a:t>Disease</a:t>
            </a:r>
            <a:r>
              <a:rPr lang="it-IT" sz="2000" b="1" dirty="0">
                <a:ea typeface="Calibri"/>
                <a:cs typeface="Calibri"/>
              </a:rPr>
              <a:t> </a:t>
            </a:r>
            <a:r>
              <a:rPr lang="it-IT" sz="2000" b="1" dirty="0" err="1">
                <a:ea typeface="Calibri"/>
                <a:cs typeface="Calibri"/>
              </a:rPr>
              <a:t>Detection</a:t>
            </a:r>
            <a:r>
              <a:rPr lang="it-IT" sz="2000" dirty="0">
                <a:ea typeface="Calibri"/>
                <a:cs typeface="Calibri"/>
              </a:rPr>
              <a:t>, modello con il punteggio maggiore: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detection di malattie in piante, addestrato su una grande quantità di colture comuni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l'architettura di ViT è nota, non sono fornite guide all'utilizzo del modello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si possono usare immagini di piante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ViT è rilasciato sotto Apache 2.0, il modello sotto MiT; entrambe licenze permissive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 err="1">
                <a:ea typeface="Calibri"/>
                <a:cs typeface="Calibri"/>
              </a:rPr>
              <a:t>Fruits</a:t>
            </a:r>
            <a:r>
              <a:rPr lang="it-IT" sz="2000" b="1" dirty="0">
                <a:ea typeface="Calibri"/>
                <a:cs typeface="Calibri"/>
              </a:rPr>
              <a:t> and </a:t>
            </a:r>
            <a:r>
              <a:rPr lang="it-IT" sz="2000" b="1" dirty="0" err="1">
                <a:ea typeface="Calibri"/>
                <a:cs typeface="Calibri"/>
              </a:rPr>
              <a:t>Vedgetables</a:t>
            </a:r>
            <a:r>
              <a:rPr lang="it-IT" sz="2000" b="1" dirty="0">
                <a:ea typeface="Calibri"/>
                <a:cs typeface="Calibri"/>
              </a:rPr>
              <a:t> Detector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a differenza di </a:t>
            </a:r>
            <a:r>
              <a:rPr lang="it-IT" dirty="0" err="1">
                <a:ea typeface="Calibri"/>
                <a:cs typeface="Calibri"/>
              </a:rPr>
              <a:t>Disease</a:t>
            </a:r>
            <a:r>
              <a:rPr lang="it-IT" dirty="0">
                <a:ea typeface="Calibri"/>
                <a:cs typeface="Calibri"/>
              </a:rPr>
              <a:t> </a:t>
            </a:r>
            <a:r>
              <a:rPr lang="it-IT" dirty="0" err="1">
                <a:ea typeface="Calibri"/>
                <a:cs typeface="Calibri"/>
              </a:rPr>
              <a:t>Detection</a:t>
            </a:r>
            <a:r>
              <a:rPr lang="it-IT" dirty="0">
                <a:ea typeface="Calibri"/>
                <a:cs typeface="Calibri"/>
              </a:rPr>
              <a:t>, è solo in grado di rilevare piante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basato su </a:t>
            </a:r>
            <a:r>
              <a:rPr lang="it-IT" dirty="0" err="1">
                <a:ea typeface="Calibri"/>
                <a:cs typeface="Calibri"/>
              </a:rPr>
              <a:t>ResNet</a:t>
            </a:r>
            <a:r>
              <a:rPr lang="it-IT" dirty="0">
                <a:ea typeface="Calibri"/>
                <a:cs typeface="Calibri"/>
              </a:rPr>
              <a:t> di </a:t>
            </a:r>
            <a:r>
              <a:rPr lang="it-IT" dirty="0" err="1">
                <a:ea typeface="Calibri"/>
                <a:cs typeface="Calibri"/>
              </a:rPr>
              <a:t>microsoft</a:t>
            </a:r>
            <a:r>
              <a:rPr lang="it-IT" dirty="0">
                <a:ea typeface="Calibri"/>
                <a:cs typeface="Calibri"/>
              </a:rPr>
              <a:t>, architettura nota ma senza guide dettagliate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sono sufficienti immagine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3, Apache 2.0</a:t>
            </a:r>
          </a:p>
        </p:txBody>
      </p:sp>
    </p:spTree>
    <p:extLst>
      <p:ext uri="{BB962C8B-B14F-4D97-AF65-F5344CB8AC3E}">
        <p14:creationId xmlns:p14="http://schemas.microsoft.com/office/powerpoint/2010/main" val="30370456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067620-D232-7E70-5FAA-AFBA4D4A4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11B563-E4CC-6C49-B6E2-25CACB9B0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D4B9732-2DB5-6053-837E-288C7058093C}"/>
              </a:ext>
            </a:extLst>
          </p:cNvPr>
          <p:cNvSpPr txBox="1"/>
          <p:nvPr/>
        </p:nvSpPr>
        <p:spPr>
          <a:xfrm>
            <a:off x="986828" y="1137150"/>
            <a:ext cx="10773623" cy="5170646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Leaf Detection and Classification</a:t>
            </a:r>
            <a:r>
              <a:rPr lang="it-IT" sz="2000" dirty="0">
                <a:ea typeface="Calibri"/>
                <a:cs typeface="Calibri"/>
              </a:rPr>
              <a:t>: 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è in grado di rilevare sia piante che malattie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il framework sottostante (YOLO) fornisce un’elevata quantità di guide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3, come i precedenti detector di piante, sono sufficienti immagini generiche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modelli derivati da YOLO necessitano una licenza commerciale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Classification of Leaf Diseases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stesso di sopra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il modello è supportato da un paper che spiega il processo di addestramento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il modello fa uso di un LLM (LLaVa) per determinare la malattia presente; in quanto tale, potrebbe essere necessario un testing approfondito per assicurare il funzionamento corretto dell’LLM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una licenza potrebbe essere necessaria in base al numero di utenze mensili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Timeseries Anomaly Detection</a:t>
            </a:r>
            <a:endParaRPr lang="it-IT" sz="2000" dirty="0">
              <a:ea typeface="Calibri"/>
              <a:cs typeface="Calibri"/>
            </a:endParaRP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1, il modello svolge solo anomaly detection esclusivamente su serie temporali univariate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è addestrato come showcase della libreria Keras, il procedimento è noto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2, stessa motivazione dei modelli IBM Granite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non riporta nessuna licenza</a:t>
            </a:r>
          </a:p>
        </p:txBody>
      </p:sp>
    </p:spTree>
    <p:extLst>
      <p:ext uri="{BB962C8B-B14F-4D97-AF65-F5344CB8AC3E}">
        <p14:creationId xmlns:p14="http://schemas.microsoft.com/office/powerpoint/2010/main" val="4237367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B3D920-DE11-2B28-E731-18D7F2D211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F6DD4F-1FD3-94F3-18E1-71A82F35C8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Valutazione Riusabilità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8DB0B0-271C-B898-4FBD-28ADAE28EDEA}"/>
              </a:ext>
            </a:extLst>
          </p:cNvPr>
          <p:cNvSpPr txBox="1"/>
          <p:nvPr/>
        </p:nvSpPr>
        <p:spPr>
          <a:xfrm>
            <a:off x="986828" y="1137150"/>
            <a:ext cx="10773623" cy="375487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AdaptLLM Remote Sensing: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3, fornire una descrizione in linguaggio naturale di immagini ottenute da droni può essere utile per tenere traccia dello stato delle colture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2, architettura nota ma non sono forniti molti esempi di uso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possibile testing intensivo per garantire il corretto funzionamento dell’LLM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2, non è chiara la licenza di utilizzo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  <a:p>
            <a:pPr marL="342900" indent="-342900">
              <a:buFont typeface="Arial"/>
              <a:buChar char="•"/>
            </a:pPr>
            <a:r>
              <a:rPr lang="it-IT" sz="2000" b="1" dirty="0">
                <a:ea typeface="Calibri"/>
                <a:cs typeface="Calibri"/>
              </a:rPr>
              <a:t>CropSeek LLM</a:t>
            </a:r>
            <a:r>
              <a:rPr lang="it-IT" sz="2000" dirty="0">
                <a:ea typeface="Calibri"/>
                <a:cs typeface="Calibri"/>
              </a:rPr>
              <a:t>: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PA: 2, dato lo scarso numero di dati usati per il fine-tuning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QD: 3, essendo un chatbot non molta documentazione è necessaria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EE: 1, come per gli altri LLM, potrebbe necessitare testing intensivo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LC: 1, la licenza proibisce usi commerciali</a:t>
            </a:r>
          </a:p>
          <a:p>
            <a:pPr marL="800100" lvl="1" indent="-342900">
              <a:buFont typeface="Arial"/>
              <a:buChar char="•"/>
            </a:pPr>
            <a:endParaRPr lang="it-IT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8004661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12EDE-40AA-5C12-D139-6809F1FEC8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EE2C0-FD24-E8F0-C974-456CAD90F4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Limitazioni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D3AAE23-A7D0-DF14-B184-7E0DC6327CD3}"/>
              </a:ext>
            </a:extLst>
          </p:cNvPr>
          <p:cNvSpPr txBox="1"/>
          <p:nvPr/>
        </p:nvSpPr>
        <p:spPr>
          <a:xfrm>
            <a:off x="986828" y="1137150"/>
            <a:ext cx="10773623" cy="184665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Metodo di ricerca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Termini di inclusione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Requisito download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Singola sorgente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Mancanza di dati per test empirici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Dominanza di modelli IBM (46.6%)</a:t>
            </a:r>
          </a:p>
        </p:txBody>
      </p:sp>
    </p:spTree>
    <p:extLst>
      <p:ext uri="{BB962C8B-B14F-4D97-AF65-F5344CB8AC3E}">
        <p14:creationId xmlns:p14="http://schemas.microsoft.com/office/powerpoint/2010/main" val="240846965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77613-C027-BF08-DC6E-28E68DFD7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37EE9A-7BD0-BFBD-BCA4-56AC85D301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dirty="0">
                <a:latin typeface="+mn-lt"/>
              </a:rPr>
              <a:t>Conclusioni</a:t>
            </a:r>
            <a:endParaRPr lang="it-IT" sz="3200" u="sng" noProof="0" dirty="0" err="1">
              <a:latin typeface="+mn-lt"/>
              <a:ea typeface="Calibri"/>
              <a:cs typeface="Calibri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5CBDF80-F302-5887-856F-E1E99C82B6D5}"/>
              </a:ext>
            </a:extLst>
          </p:cNvPr>
          <p:cNvSpPr txBox="1"/>
          <p:nvPr/>
        </p:nvSpPr>
        <p:spPr>
          <a:xfrm>
            <a:off x="986828" y="1137150"/>
            <a:ext cx="10773623" cy="353943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Rilevanza e diversità dei modelli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Solo il 15% dei modelli sono risultati rilevanti/documentati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Il 46.6% di questi svolge analisi di serie temporali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Licenze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Maggior parte dei modelli rilasciati sotto Apache 2.0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Quelli rimanenti, richiedono l’acquisto di una licenza commerciale (tranne CropSeek)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Bias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Scarsamente documentato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Necessiterà un’attenta valutazione nella pratica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IBM Granite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I modelli general-purpose presentano comunque una solida opzione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Modelli specializzati possono essere implementati più facilmente</a:t>
            </a:r>
          </a:p>
        </p:txBody>
      </p:sp>
    </p:spTree>
    <p:extLst>
      <p:ext uri="{BB962C8B-B14F-4D97-AF65-F5344CB8AC3E}">
        <p14:creationId xmlns:p14="http://schemas.microsoft.com/office/powerpoint/2010/main" val="9513394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B6C84-922C-B956-3DAD-E99F88C163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89A13B-3AA9-444D-F64E-D160B2B87D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66558"/>
          </a:xfrm>
        </p:spPr>
        <p:txBody>
          <a:bodyPr>
            <a:normAutofit/>
          </a:bodyPr>
          <a:lstStyle/>
          <a:p>
            <a:r>
              <a:rPr lang="it-IT" sz="3200" noProof="0" dirty="0">
                <a:latin typeface="+mn-lt"/>
                <a:ea typeface="Calibri"/>
                <a:cs typeface="Calibri"/>
              </a:rPr>
              <a:t>Sintesi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DFA91BF-EF06-C454-7F4E-647F05D6F3F7}"/>
              </a:ext>
            </a:extLst>
          </p:cNvPr>
          <p:cNvSpPr txBox="1"/>
          <p:nvPr/>
        </p:nvSpPr>
        <p:spPr>
          <a:xfrm>
            <a:off x="986828" y="1137150"/>
            <a:ext cx="10773623" cy="3385542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Riuso modelli in Precision Farming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Farm-Tech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CRISP-DM per strutturare la ricerca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Raccolta dei modelli da HuggingFace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Revisione Manuale dei modelli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Analisi di ogni modello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Dataset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Architettura</a:t>
            </a:r>
          </a:p>
          <a:p>
            <a:pPr marL="800100" lvl="1" indent="-342900">
              <a:buFont typeface="Arial"/>
              <a:buChar char="•"/>
            </a:pPr>
            <a:r>
              <a:rPr lang="it-IT" dirty="0">
                <a:ea typeface="Calibri"/>
                <a:cs typeface="Calibri"/>
              </a:rPr>
              <a:t>Licenza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Transfer Learning</a:t>
            </a:r>
          </a:p>
          <a:p>
            <a:pPr marL="342900" indent="-342900">
              <a:buFont typeface="Arial"/>
              <a:buChar char="•"/>
            </a:pPr>
            <a:r>
              <a:rPr lang="it-IT" sz="2000" dirty="0">
                <a:ea typeface="Calibri"/>
                <a:cs typeface="Calibri"/>
              </a:rPr>
              <a:t>Metodo di valutazione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B42B90-9935-0982-5ED5-7384457D4913}"/>
              </a:ext>
            </a:extLst>
          </p:cNvPr>
          <p:cNvSpPr txBox="1"/>
          <p:nvPr/>
        </p:nvSpPr>
        <p:spPr>
          <a:xfrm>
            <a:off x="10608397" y="6581001"/>
            <a:ext cx="190726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200" dirty="0"/>
              <a:t>Grazie per l’attenzione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B55BBBC-7A4B-31CD-86BD-708E078381C5}"/>
              </a:ext>
            </a:extLst>
          </p:cNvPr>
          <p:cNvSpPr txBox="1"/>
          <p:nvPr/>
        </p:nvSpPr>
        <p:spPr>
          <a:xfrm>
            <a:off x="6818012" y="269296"/>
            <a:ext cx="4994495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i="1" dirty="0"/>
              <a:t>Questa slide di sintesi l’ha suggetita il prof di Penta per facilitare ulteriori chiarimenti alla fine della presentazione</a:t>
            </a:r>
          </a:p>
          <a:p>
            <a:r>
              <a:rPr lang="it-IT" sz="1600" i="1" dirty="0"/>
              <a:t>Naturalmente questo commento lo tolgo per la presentazione effettiva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DE08505-B2C3-42DD-1AAA-5ACCC9217F81}"/>
              </a:ext>
            </a:extLst>
          </p:cNvPr>
          <p:cNvSpPr txBox="1"/>
          <p:nvPr/>
        </p:nvSpPr>
        <p:spPr>
          <a:xfrm>
            <a:off x="7305391" y="5996226"/>
            <a:ext cx="499449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1600" i="1" dirty="0"/>
              <a:t>Questo è piccolo in basso perchè sempre il prof di Penta dice che non gli piace</a:t>
            </a:r>
          </a:p>
        </p:txBody>
      </p:sp>
    </p:spTree>
    <p:extLst>
      <p:ext uri="{BB962C8B-B14F-4D97-AF65-F5344CB8AC3E}">
        <p14:creationId xmlns:p14="http://schemas.microsoft.com/office/powerpoint/2010/main" val="14136447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1620</TotalTime>
  <Words>1855</Words>
  <Application>Microsoft Office PowerPoint</Application>
  <PresentationFormat>Widescreen</PresentationFormat>
  <Paragraphs>230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Office Theme</vt:lpstr>
      <vt:lpstr>Università degli  Studi del Sannio</vt:lpstr>
      <vt:lpstr>Perchè riusare i modelli?</vt:lpstr>
      <vt:lpstr>Precision Farming</vt:lpstr>
      <vt:lpstr>Farm-Tech</vt:lpstr>
      <vt:lpstr>Obbiettivo della tesi</vt:lpstr>
      <vt:lpstr>Metodologia di Ricerca</vt:lpstr>
      <vt:lpstr>Metodologia di Ricerca</vt:lpstr>
      <vt:lpstr>Ricerca dei modelli</vt:lpstr>
      <vt:lpstr>Filtraggio Manuale</vt:lpstr>
      <vt:lpstr>Filtraggio Manuale</vt:lpstr>
      <vt:lpstr>Modelli Rilevanti</vt:lpstr>
      <vt:lpstr>Modelli Rilevanti</vt:lpstr>
      <vt:lpstr>Modelli Rilevanti - Licenze</vt:lpstr>
      <vt:lpstr>Modelli Rilevanti – Analisi (in a nutshell)</vt:lpstr>
      <vt:lpstr>Valutazione Riusabilità – Transfer Learning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Valutazione Riusabilità</vt:lpstr>
      <vt:lpstr>Limitazioni</vt:lpstr>
      <vt:lpstr>Conclusioni</vt:lpstr>
      <vt:lpstr>Sintesi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Loris Pennucci</dc:creator>
  <cp:lastModifiedBy>Loris Pennucci</cp:lastModifiedBy>
  <cp:revision>753</cp:revision>
  <dcterms:created xsi:type="dcterms:W3CDTF">2025-12-01T17:30:07Z</dcterms:created>
  <dcterms:modified xsi:type="dcterms:W3CDTF">2025-12-05T17:38:55Z</dcterms:modified>
</cp:coreProperties>
</file>