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CCCC"/>
    <a:srgbClr val="EA9999"/>
    <a:srgbClr val="B7E1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Risulato Filtraggio</c:v>
                </c:pt>
              </c:strCache>
            </c:strRef>
          </c:tx>
          <c:dPt>
            <c:idx val="0"/>
            <c:bubble3D val="0"/>
            <c:spPr>
              <a:solidFill>
                <a:srgbClr val="EA9999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5481-4595-A2B7-A2A355FBA90E}"/>
              </c:ext>
            </c:extLst>
          </c:dPt>
          <c:dPt>
            <c:idx val="1"/>
            <c:bubble3D val="0"/>
            <c:spPr>
              <a:solidFill>
                <a:srgbClr val="F4CCCC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4-5481-4595-A2B7-A2A355FBA90E}"/>
              </c:ext>
            </c:extLst>
          </c:dPt>
          <c:dPt>
            <c:idx val="2"/>
            <c:bubble3D val="0"/>
            <c:spPr>
              <a:solidFill>
                <a:srgbClr val="B7E1CD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5481-4595-A2B7-A2A355FBA90E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3"/>
                <c:pt idx="0">
                  <c:v>Non Rilevanti</c:v>
                </c:pt>
                <c:pt idx="1">
                  <c:v>Non Documentati</c:v>
                </c:pt>
                <c:pt idx="2">
                  <c:v>Rilevanti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25</c:v>
                </c:pt>
                <c:pt idx="2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481-4595-A2B7-A2A355FBA9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</c:legendEntry>
      <c:legendEntry>
        <c:idx val="3"/>
        <c:delete val="1"/>
      </c:legendEntry>
      <c:layout>
        <c:manualLayout>
          <c:xMode val="edge"/>
          <c:yMode val="edge"/>
          <c:x val="0.16216308878858862"/>
          <c:y val="0.85967925913516485"/>
          <c:w val="0.70158023021705684"/>
          <c:h val="0.1202014515747565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88E82-1176-EE3E-1BA5-19ED0E324F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6CBCE5-CF02-BE2A-18D3-75E24276F8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79D2E0-3389-1911-B387-CC6D045C5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04/12/2025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9C19C0-717A-BDBB-E12A-D1A29B171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6BAEC8-FD5E-C1A4-9268-A1586A1B7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7931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ABFB-E19D-809F-36B2-9BBC5D865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374B48-EF6B-5513-7A58-D50E91AB7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172E2B-2438-DF5C-B27A-148B7E020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04/12/2025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7DB466-562D-B481-45C9-78799103C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694964-5084-8838-05E4-CED2005B0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86583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1A234-9799-4416-0B08-3DADA5B96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B6D823-659C-80E3-EE40-730ED83D38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AF58C5-A344-77CA-1964-04D5B2843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04/12/2025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E8FC0C-B1F7-56AB-59A1-0C3B2BCAA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2AC812-1970-1671-768F-B1B99D8E1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285328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B58B5-9DCE-8102-9BA1-5171CB05C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5A4C98-85BE-8968-411D-85DA8F9481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DBB790-1E6F-44E9-128D-671D257663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A73023-EA24-7B8A-966C-5B2028743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04/12/2025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B289CE-D455-F2DD-07DD-B4D16132F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21AF2C-D1F7-E1E8-A22F-6BC12A20D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649555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5587C-2B08-714C-5EC1-0D55D0485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4A109A-12D6-6712-1F96-65A6C50A4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11A8F3-B250-511D-6653-1363A08D47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DEE68F-95AE-660C-5534-08340B1C05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D7D7F6-A6FC-A32D-3E0C-4595C2B0AA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F0C1A75-3106-C0C1-9253-831CB9249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04/12/2025</a:t>
            </a:fld>
            <a:endParaRPr lang="it-I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1CE1D0-C8ED-1DE5-E31F-7683533D7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384D5A-BBAC-574B-0615-D6D60099D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887582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9EC0A-A28E-BB37-51AB-F3E01D5B9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291C10-07D3-AD17-C08D-60990D40DF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04/12/2025</a:t>
            </a:fld>
            <a:endParaRPr lang="it-I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6C3DD1-C973-506F-1C2F-6F1BF9462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10C126-2680-ED41-DDA0-2F417D36A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595091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CCDE19-22FF-3770-2E0D-3435B6DA4C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04/12/2025</a:t>
            </a:fld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28985E-F722-48B6-311D-20C17D442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43B9AC-E68E-7F2D-65C9-462760A67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91261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76D39-F814-7544-7B8C-48CF352E5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AA5D5-6390-BF9D-C15F-893C9F6CEF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D12AC1-F07F-A826-4DF4-2C8360DB49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373E4D-D131-5931-9C1D-1281A6B397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04/12/2025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2D501D-8AFD-79E9-5994-3310E5D8D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930951-8A79-A772-06CC-913877394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03419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3B6E45-CD92-A080-713F-B0A2F3BAFD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D44045-2961-4C2F-8029-AA477DBB0A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38E220-CEB0-CB93-BB97-9831CF57EC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90F319-7778-E56D-5171-F210F1A20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04/12/2025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20DDEF-43B7-A34D-FF26-4802D2513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D991C1-E86B-0A4D-7931-C4DE67EFD1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86913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1F017-12B5-0C8D-55B4-225289129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14C7A6-256C-48A5-9620-43B31BAD44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F5C123-E4A3-C152-0EE2-E47873964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04/12/2025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EC93F-5E6D-0118-DE43-FCAD22C62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1B579C-D7F1-045C-F32E-94D5F39B4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427704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4012B5F-D184-03BD-7BF9-202E18B084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6ED5A4-84EA-6DD3-0EE2-A40F89AC53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0B691C-1371-8821-F65E-A2B338898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04/12/2025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335356-BAFF-4C91-CA11-BBE0E26CB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EC6568-7BE8-EDCB-23DD-F72E5B6C0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22448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8E6AE8-61FD-79F5-0B61-97E0FBAEA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6657B4-2785-3D1E-3382-28910A9808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154441-B849-8C8E-BCF1-09D4FBF196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5BC3CB-4661-43F6-808C-2743A578ABD9}" type="datetimeFigureOut">
              <a:rPr lang="it-IT" smtClean="0"/>
              <a:t>04/12/2025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BDE073-91E7-9C58-44F0-727BD583E6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669F31-E570-31F2-5289-4986314BD9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006194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62CDFA3-29B2-2C5F-3B65-7B3B622C6B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8737" y="3094843"/>
            <a:ext cx="11434527" cy="1320163"/>
          </a:xfrm>
        </p:spPr>
        <p:txBody>
          <a:bodyPr>
            <a:normAutofit/>
          </a:bodyPr>
          <a:lstStyle/>
          <a:p>
            <a:r>
              <a:rPr lang="it-IT" sz="3200" noProof="0" dirty="0"/>
              <a:t>Pre-trained models reuse: a case-study in precision farming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F0DEF1D-E288-A8DD-E337-6B8C227809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09432" y="428907"/>
            <a:ext cx="2227154" cy="708434"/>
          </a:xfrm>
        </p:spPr>
        <p:txBody>
          <a:bodyPr>
            <a:normAutofit fontScale="90000"/>
          </a:bodyPr>
          <a:lstStyle/>
          <a:p>
            <a:r>
              <a:rPr lang="it-IT" sz="2600" b="1" noProof="0" dirty="0">
                <a:solidFill>
                  <a:schemeClr val="tx2"/>
                </a:solidFill>
              </a:rPr>
              <a:t>Università degli </a:t>
            </a:r>
            <a:br>
              <a:rPr lang="it-IT" sz="2600" b="1" noProof="0" dirty="0">
                <a:solidFill>
                  <a:schemeClr val="tx2"/>
                </a:solidFill>
              </a:rPr>
            </a:br>
            <a:r>
              <a:rPr lang="it-IT" sz="2600" b="1" noProof="0" dirty="0">
                <a:solidFill>
                  <a:schemeClr val="tx2"/>
                </a:solidFill>
              </a:rPr>
              <a:t>Studi del Sannio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4D617B-04B4-87BC-51B9-E12EED80F0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0015" y="72428"/>
            <a:ext cx="1267350" cy="14213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EE37B07-CE02-8DED-2F0C-8F1CA9E72EAB}"/>
              </a:ext>
            </a:extLst>
          </p:cNvPr>
          <p:cNvSpPr txBox="1"/>
          <p:nvPr/>
        </p:nvSpPr>
        <p:spPr>
          <a:xfrm>
            <a:off x="3303006" y="2082290"/>
            <a:ext cx="55859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noProof="0" dirty="0">
                <a:solidFill>
                  <a:schemeClr val="tx2"/>
                </a:solidFill>
              </a:rPr>
              <a:t>Dipartimento di Ingegneria</a:t>
            </a:r>
          </a:p>
          <a:p>
            <a:pPr algn="ctr"/>
            <a:r>
              <a:rPr lang="it-IT" i="1" noProof="0" dirty="0">
                <a:solidFill>
                  <a:schemeClr val="tx2"/>
                </a:solidFill>
              </a:rPr>
              <a:t>Corso di Laurea in Ingegneria Informatica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3F9A90-42DE-83F5-BAD3-F8A2B2951487}"/>
              </a:ext>
            </a:extLst>
          </p:cNvPr>
          <p:cNvSpPr txBox="1"/>
          <p:nvPr/>
        </p:nvSpPr>
        <p:spPr>
          <a:xfrm>
            <a:off x="1056237" y="4606336"/>
            <a:ext cx="3096286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noProof="0" dirty="0"/>
              <a:t>Relatore</a:t>
            </a:r>
          </a:p>
          <a:p>
            <a:r>
              <a:rPr lang="it-IT" noProof="0" dirty="0"/>
              <a:t>Prof. Damian Andrew Tamburri</a:t>
            </a:r>
          </a:p>
          <a:p>
            <a:endParaRPr lang="it-IT" noProof="0" dirty="0"/>
          </a:p>
          <a:p>
            <a:r>
              <a:rPr lang="it-IT" sz="1400" noProof="0" dirty="0"/>
              <a:t>Correlatrice</a:t>
            </a:r>
          </a:p>
          <a:p>
            <a:r>
              <a:rPr lang="it-IT" noProof="0" dirty="0"/>
              <a:t>Federica Pepe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33DA0F-131A-6367-70FA-2B67687987B8}"/>
              </a:ext>
            </a:extLst>
          </p:cNvPr>
          <p:cNvSpPr txBox="1"/>
          <p:nvPr/>
        </p:nvSpPr>
        <p:spPr>
          <a:xfrm>
            <a:off x="8724526" y="4608220"/>
            <a:ext cx="241123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noProof="0" dirty="0"/>
              <a:t>Candidato</a:t>
            </a:r>
          </a:p>
          <a:p>
            <a:r>
              <a:rPr lang="it-IT" noProof="0" dirty="0"/>
              <a:t>Loris Umberto Pennucci</a:t>
            </a:r>
          </a:p>
          <a:p>
            <a:r>
              <a:rPr lang="it-IT" noProof="0" dirty="0"/>
              <a:t>Matr. 863003783</a:t>
            </a:r>
          </a:p>
          <a:p>
            <a:endParaRPr lang="it-IT" noProof="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34A858-E361-2356-F66D-95B48DB667E4}"/>
              </a:ext>
            </a:extLst>
          </p:cNvPr>
          <p:cNvSpPr txBox="1"/>
          <p:nvPr/>
        </p:nvSpPr>
        <p:spPr>
          <a:xfrm>
            <a:off x="4556911" y="6495905"/>
            <a:ext cx="30781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noProof="0" dirty="0"/>
              <a:t>Anno Accademico 2024-2025</a:t>
            </a:r>
          </a:p>
        </p:txBody>
      </p:sp>
    </p:spTree>
    <p:extLst>
      <p:ext uri="{BB962C8B-B14F-4D97-AF65-F5344CB8AC3E}">
        <p14:creationId xmlns:p14="http://schemas.microsoft.com/office/powerpoint/2010/main" val="8585714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CF9F3-0A4B-2598-4BD4-CFEFAA887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Perchè riusare i modelli?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0A285E-0CBB-4FCB-DFD4-8CF59BD276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sz="1800" noProof="0" dirty="0"/>
              <a:t>Il riuso consiste nell’adattare modelli AI già addestrati su grandi dataset a nuovi compiti</a:t>
            </a:r>
          </a:p>
          <a:p>
            <a:r>
              <a:rPr lang="it-IT" sz="1800" noProof="0" dirty="0"/>
              <a:t>Solo su HuggingFace sono caricati più di 2 milioni di modelli</a:t>
            </a:r>
          </a:p>
          <a:p>
            <a:r>
              <a:rPr lang="it-IT" sz="1800" noProof="0" dirty="0"/>
              <a:t>Riusare modelli pre-addestrati conviene in quanto:</a:t>
            </a:r>
          </a:p>
          <a:p>
            <a:pPr lvl="1"/>
            <a:r>
              <a:rPr lang="it-IT" sz="1400" noProof="0" dirty="0"/>
              <a:t>riduce tempi e costi di addestramento</a:t>
            </a:r>
          </a:p>
          <a:p>
            <a:pPr lvl="1"/>
            <a:r>
              <a:rPr lang="it-IT" sz="1400" noProof="0" dirty="0"/>
              <a:t>sfrutta conoscenze già acquisite su grandi dataset</a:t>
            </a:r>
          </a:p>
          <a:p>
            <a:pPr lvl="1"/>
            <a:r>
              <a:rPr lang="it-IT" sz="1400" noProof="0" dirty="0"/>
              <a:t>‘’facile’’ adattamento a compiti specifici</a:t>
            </a:r>
          </a:p>
          <a:p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2967086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615A3-6A60-2DB8-0F24-37460B30D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E178E-8652-7D50-4A1D-4E2B2CC7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Precision Farming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59A99-3365-E7E8-0F5A-CAF5657DB5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sz="1800" noProof="0" dirty="0"/>
              <a:t>Approccio innovativo all’agricoltura che integra tecnologie digitali per ottimizzare la gestione delle colture</a:t>
            </a:r>
          </a:p>
          <a:p>
            <a:pPr lvl="1"/>
            <a:r>
              <a:rPr lang="it-IT" sz="1400" noProof="0" dirty="0"/>
              <a:t>Sensori IoT, droni, immagini satellitarie...</a:t>
            </a:r>
          </a:p>
          <a:p>
            <a:r>
              <a:rPr lang="it-IT" sz="1800" noProof="0" dirty="0"/>
              <a:t>Aumentare le rese agricole</a:t>
            </a:r>
          </a:p>
          <a:p>
            <a:r>
              <a:rPr lang="it-IT" sz="1800" noProof="0" dirty="0"/>
              <a:t>Ridurre sprechi</a:t>
            </a:r>
          </a:p>
          <a:p>
            <a:r>
              <a:rPr lang="it-IT" sz="1800" noProof="0" dirty="0"/>
              <a:t>Fornire un tool decisionale agli agricoltori</a:t>
            </a:r>
          </a:p>
          <a:p>
            <a:endParaRPr lang="it-IT" sz="1800" noProof="0" dirty="0"/>
          </a:p>
          <a:p>
            <a:pPr marL="0" indent="0">
              <a:buNone/>
            </a:pPr>
            <a:r>
              <a:rPr lang="it-IT" sz="1800" noProof="0" dirty="0"/>
              <a:t>Vista l’elevata quantità di dati coinvolta in questa tecnica, l’AI si presta bene a processarli e analizzarli</a:t>
            </a:r>
          </a:p>
          <a:p>
            <a:pPr marL="0" indent="0">
              <a:buNone/>
            </a:pPr>
            <a:r>
              <a:rPr lang="it-IT" sz="1800" noProof="0" dirty="0"/>
              <a:t>Progetto di riferimento: Farm-Tech</a:t>
            </a:r>
          </a:p>
          <a:p>
            <a:pPr lvl="1"/>
            <a:endParaRPr lang="it-IT" sz="1400" noProof="0" dirty="0"/>
          </a:p>
          <a:p>
            <a:pPr lvl="1"/>
            <a:endParaRPr lang="it-IT" sz="1400" noProof="0" dirty="0"/>
          </a:p>
        </p:txBody>
      </p:sp>
    </p:spTree>
    <p:extLst>
      <p:ext uri="{BB962C8B-B14F-4D97-AF65-F5344CB8AC3E}">
        <p14:creationId xmlns:p14="http://schemas.microsoft.com/office/powerpoint/2010/main" val="12114111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4E7DC-01BA-7A78-9498-DBEAD39D8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3FDEB-58DA-E349-BD4E-94940C6A1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Farm-Tech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7DD7A-2BD1-39E5-0364-97DDD222C9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0903" y="1825625"/>
            <a:ext cx="10692897" cy="4351338"/>
          </a:xfrm>
        </p:spPr>
        <p:txBody>
          <a:bodyPr>
            <a:normAutofit/>
          </a:bodyPr>
          <a:lstStyle/>
          <a:p>
            <a:r>
              <a:rPr lang="it-IT" sz="1800" noProof="0" dirty="0"/>
              <a:t>Progetto di ricerca congiunto tra SmartShaped e Trace Technologies, parte dell’ecosistema Tech4You</a:t>
            </a:r>
          </a:p>
          <a:p>
            <a:r>
              <a:rPr lang="it-IT" sz="1800" noProof="0" dirty="0"/>
              <a:t>Implementazione pratica del Precision Farming, mirata a supportare l’agricoltura sostenibile in ambienti Mediterranei</a:t>
            </a:r>
          </a:p>
          <a:p>
            <a:r>
              <a:rPr lang="it-IT" sz="1800" noProof="0" dirty="0"/>
              <a:t>Architettura Modulare</a:t>
            </a:r>
          </a:p>
          <a:p>
            <a:pPr lvl="1"/>
            <a:r>
              <a:rPr lang="it-IT" sz="1400" noProof="0" dirty="0"/>
              <a:t>Immagazzinamento e gestione dati (MinIO, GeoNode)</a:t>
            </a:r>
          </a:p>
          <a:p>
            <a:pPr lvl="1"/>
            <a:r>
              <a:rPr lang="it-IT" sz="1400" noProof="0" dirty="0"/>
              <a:t>Presentazione dati (GeoServer)</a:t>
            </a:r>
          </a:p>
          <a:p>
            <a:pPr lvl="1"/>
            <a:r>
              <a:rPr lang="it-IT" sz="1400" noProof="0" dirty="0"/>
              <a:t>Machine Learning (chaM3Leon)</a:t>
            </a:r>
          </a:p>
          <a:p>
            <a:pPr lvl="1"/>
            <a:r>
              <a:rPr lang="it-IT" sz="1400" noProof="0" dirty="0"/>
              <a:t>Moduli di supporto (PostgreSQL, Spark, Django...)</a:t>
            </a:r>
          </a:p>
          <a:p>
            <a:pPr marL="457200" lvl="1" indent="0">
              <a:buNone/>
            </a:pPr>
            <a:endParaRPr lang="it-IT" sz="1400" noProof="0" dirty="0"/>
          </a:p>
          <a:p>
            <a:pPr marL="457200" lvl="1" indent="0">
              <a:buNone/>
            </a:pPr>
            <a:endParaRPr lang="it-IT" sz="1400" noProof="0" dirty="0"/>
          </a:p>
          <a:p>
            <a:pPr marL="457200" lvl="1" indent="0">
              <a:buNone/>
            </a:pPr>
            <a:endParaRPr lang="it-IT" sz="1400" noProof="0" dirty="0"/>
          </a:p>
          <a:p>
            <a:pPr marL="0" indent="0">
              <a:buNone/>
            </a:pPr>
            <a:r>
              <a:rPr lang="it-IT" sz="1800" noProof="0" dirty="0"/>
              <a:t>chaM3Leon è un framework modulare sviluppato da Smart Shaped</a:t>
            </a:r>
            <a:br>
              <a:rPr lang="it-IT" sz="1800" noProof="0" dirty="0"/>
            </a:br>
            <a:r>
              <a:rPr lang="it-IT" sz="1800" noProof="0" dirty="0"/>
              <a:t>a supporto di applicazioni machine learning; è in questo modulo</a:t>
            </a:r>
            <a:br>
              <a:rPr lang="it-IT" sz="1800" noProof="0" dirty="0"/>
            </a:br>
            <a:r>
              <a:rPr lang="it-IT" sz="1800" noProof="0" dirty="0"/>
              <a:t>che vengono addestrati/usati modelli di ML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B6F499-F3EE-CFB6-56BF-515EE41698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9279" y="2591921"/>
            <a:ext cx="5112190" cy="4266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2622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3E772-0061-E370-DF05-C823AA142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F2AA5-70E4-A2A4-7D37-D8FF08EFE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Obbiettivo della tesi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980ABC-DDAB-3C84-FA86-2E1C8C3C59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8727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noProof="0" dirty="0"/>
              <a:t>Definire criteri e metriche per valutare la riusabilità dei modelli pre-addestrati nel contesto di </a:t>
            </a:r>
            <a:br>
              <a:rPr lang="it-IT" sz="2000" noProof="0" dirty="0"/>
            </a:br>
            <a:r>
              <a:rPr lang="it-IT" sz="2000" noProof="0" dirty="0"/>
              <a:t>Farm-Tech</a:t>
            </a:r>
          </a:p>
          <a:p>
            <a:pPr marL="0" indent="0">
              <a:buNone/>
            </a:pPr>
            <a:r>
              <a:rPr lang="it-IT" sz="2000" noProof="0" dirty="0"/>
              <a:t>Formalmente:</a:t>
            </a:r>
          </a:p>
          <a:p>
            <a:pPr lvl="1"/>
            <a:r>
              <a:rPr lang="it-IT" sz="1800" noProof="0" dirty="0"/>
              <a:t>What criteria and metrics can be considered to evaluate the reusability of pre-trained models in precision farming, and how can these be applied within the Farm-Tech project?</a:t>
            </a:r>
          </a:p>
          <a:p>
            <a:pPr lvl="1"/>
            <a:endParaRPr lang="it-IT" sz="1800" noProof="0" dirty="0"/>
          </a:p>
          <a:p>
            <a:pPr marL="0" indent="0">
              <a:buNone/>
            </a:pPr>
            <a:r>
              <a:rPr lang="it-IT" sz="2000" noProof="0" dirty="0"/>
              <a:t>Stabilito un metodo per valutare la riusabilità di modelli pre-addestrati, verrà applicato a un elenco di modelli selezionati, analizzando in modo sistematico il loro potenziale impiego in Farm-Tech.</a:t>
            </a:r>
          </a:p>
          <a:p>
            <a:pPr marL="457200" lvl="1" indent="0">
              <a:buNone/>
            </a:pPr>
            <a:endParaRPr lang="it-IT" sz="1400" noProof="0" dirty="0"/>
          </a:p>
        </p:txBody>
      </p:sp>
    </p:spTree>
    <p:extLst>
      <p:ext uri="{BB962C8B-B14F-4D97-AF65-F5344CB8AC3E}">
        <p14:creationId xmlns:p14="http://schemas.microsoft.com/office/powerpoint/2010/main" val="1649047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7656F-233C-2639-7CC3-1588ED464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Metodologia di Ricerca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A88BB31-1D8D-B07A-4F5D-70AFCE10B7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092" y="1954779"/>
            <a:ext cx="8865816" cy="4538096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000D084-7EEB-6DF6-CF3F-9962FE3BD990}"/>
              </a:ext>
            </a:extLst>
          </p:cNvPr>
          <p:cNvSpPr txBox="1"/>
          <p:nvPr/>
        </p:nvSpPr>
        <p:spPr>
          <a:xfrm>
            <a:off x="950614" y="1421394"/>
            <a:ext cx="84378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noProof="0" dirty="0"/>
              <a:t>La metodologia seguita in questa ricerca si basa sullo standard CRISP-DM</a:t>
            </a:r>
          </a:p>
        </p:txBody>
      </p:sp>
    </p:spTree>
    <p:extLst>
      <p:ext uri="{BB962C8B-B14F-4D97-AF65-F5344CB8AC3E}">
        <p14:creationId xmlns:p14="http://schemas.microsoft.com/office/powerpoint/2010/main" val="42341339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56913-B985-2897-46E7-126F19081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3BF40-BE79-5D10-B38A-BFDC94D64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Metodologia di Ricerca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9167E6-727B-C726-3DBC-2D03193346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sz="2000" noProof="0" dirty="0"/>
              <a:t>Business Understanding: valutare la riusabilità di modelli pre-addestrati all’interno di Farm-Tech</a:t>
            </a:r>
          </a:p>
          <a:p>
            <a:r>
              <a:rPr lang="it-IT" sz="2000" noProof="0" dirty="0"/>
              <a:t>Data Understanding: partendo da una lista di modelli, possiamo determinare il loro scopo in base alle informazioni fornite sulla loro model card</a:t>
            </a:r>
          </a:p>
          <a:p>
            <a:r>
              <a:rPr lang="it-IT" sz="2000" noProof="0" dirty="0"/>
              <a:t>Data Preparation: rimozione dei modelli non rilevanti dalla lista (revisione manuale)</a:t>
            </a:r>
          </a:p>
          <a:p>
            <a:r>
              <a:rPr lang="it-IT" sz="2000" noProof="0" dirty="0"/>
              <a:t>Modeling: I modelli rilevanti possono essere raggruppati in base alla task che compiono e analizzati a livello di dati, architettura, licenza</a:t>
            </a:r>
          </a:p>
          <a:p>
            <a:r>
              <a:rPr lang="it-IT" sz="2000" noProof="0" dirty="0"/>
              <a:t>Evaluation: combinando le informazioni ottenute dalle fasi precedenti, possiamo formulare una metrica per valutare la riusabilità di ogni modello considerato</a:t>
            </a:r>
          </a:p>
          <a:p>
            <a:r>
              <a:rPr lang="it-IT" sz="2000" dirty="0"/>
              <a:t>Deployment (?): considerazioni sulle implementazioni pratiche di ogni modello in Farm-Tech</a:t>
            </a:r>
            <a:endParaRPr lang="it-IT" sz="2000" noProof="0" dirty="0"/>
          </a:p>
        </p:txBody>
      </p:sp>
    </p:spTree>
    <p:extLst>
      <p:ext uri="{BB962C8B-B14F-4D97-AF65-F5344CB8AC3E}">
        <p14:creationId xmlns:p14="http://schemas.microsoft.com/office/powerpoint/2010/main" val="34780714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EC75E-C1D6-1EB5-1CB0-BA9E3EF59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0D171-A5BB-F727-5758-F41FB23FA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Ricerca dei modelli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2356F6-74D1-DCD4-6B04-47189E6D21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noProof="0" dirty="0"/>
              <a:t>I modelli considerati sono stati recuperati da HuggingFace se soddisfano le seguenti condizioni:</a:t>
            </a:r>
          </a:p>
          <a:p>
            <a:pPr lvl="1"/>
            <a:r>
              <a:rPr lang="it-IT" sz="1800" noProof="0" dirty="0"/>
              <a:t>Contiene uno qualunque dei seguenti termini all’interno della model card</a:t>
            </a:r>
          </a:p>
          <a:p>
            <a:pPr lvl="2"/>
            <a:r>
              <a:rPr lang="it-IT" sz="1400" dirty="0"/>
              <a:t>"agriculture", "crop", "biomass", "yield", "nitrogen", "phosphorus", "soil", "plant", "drone", "remote sensing", "time series", "field", "tomato", "heatmap", "organism", "vegetable"</a:t>
            </a:r>
            <a:endParaRPr lang="it-IT" sz="1400" noProof="0" dirty="0"/>
          </a:p>
          <a:p>
            <a:pPr lvl="1"/>
            <a:r>
              <a:rPr lang="it-IT" sz="1800" dirty="0"/>
              <a:t>Il modello deve avere più di 100 download totali</a:t>
            </a:r>
          </a:p>
          <a:p>
            <a:pPr lvl="2"/>
            <a:r>
              <a:rPr lang="it-IT" sz="1400" dirty="0"/>
              <a:t>Rilevanza</a:t>
            </a:r>
          </a:p>
          <a:p>
            <a:pPr lvl="2"/>
            <a:r>
              <a:rPr lang="it-IT" sz="1400" dirty="0"/>
              <a:t>Sicurezza</a:t>
            </a:r>
          </a:p>
          <a:p>
            <a:pPr marL="0" indent="0">
              <a:buNone/>
            </a:pPr>
            <a:endParaRPr lang="it-IT" sz="1400" dirty="0"/>
          </a:p>
          <a:p>
            <a:pPr marL="0" indent="0">
              <a:buNone/>
            </a:pPr>
            <a:endParaRPr lang="it-IT" sz="1400" dirty="0"/>
          </a:p>
          <a:p>
            <a:pPr marL="0" indent="0">
              <a:buNone/>
            </a:pPr>
            <a:r>
              <a:rPr lang="it-IT" sz="2000" dirty="0"/>
              <a:t>In tutto, 100 modelli sono stati recuperati</a:t>
            </a:r>
          </a:p>
        </p:txBody>
      </p:sp>
    </p:spTree>
    <p:extLst>
      <p:ext uri="{BB962C8B-B14F-4D97-AF65-F5344CB8AC3E}">
        <p14:creationId xmlns:p14="http://schemas.microsoft.com/office/powerpoint/2010/main" val="24443276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54F27-527F-22FC-0391-10EDD2041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58BCF-83B9-5EA4-F734-FED575847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Filtraggio Manuale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665CCF-D6F2-938E-822E-1C43FF2CE2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2837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noProof="0" dirty="0"/>
              <a:t>Il metodo di raccolta dei modelli potrebbe includere un elevata quantità di falsi positivi</a:t>
            </a:r>
          </a:p>
          <a:p>
            <a:pPr marL="0" indent="0">
              <a:buNone/>
            </a:pPr>
            <a:r>
              <a:rPr lang="it-IT" sz="2000" noProof="0" dirty="0"/>
              <a:t>Per ovviare, una verifica manuale è stata eseguita in maniera indipendente da due ricercatori, rimuovendo modelli secondo questi parametri:</a:t>
            </a:r>
          </a:p>
          <a:p>
            <a:pPr lvl="1"/>
            <a:r>
              <a:rPr lang="it-IT" sz="1800" dirty="0"/>
              <a:t>Scopo del modello non rilevante a Farm-Tech</a:t>
            </a:r>
          </a:p>
          <a:p>
            <a:pPr lvl="1"/>
            <a:r>
              <a:rPr lang="it-IT" sz="1800" dirty="0"/>
              <a:t>Modello non documentato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0411A3-BFA2-0BC1-2E80-E2A0F3322D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556" y="3076753"/>
            <a:ext cx="3781991" cy="341612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A24914E-7E2C-242B-03C6-79FC448F7D9E}"/>
              </a:ext>
            </a:extLst>
          </p:cNvPr>
          <p:cNvSpPr txBox="1"/>
          <p:nvPr/>
        </p:nvSpPr>
        <p:spPr>
          <a:xfrm>
            <a:off x="1156543" y="6492874"/>
            <a:ext cx="23878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i="1" dirty="0"/>
              <a:t>Modello non documentato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284E678-520D-5C23-FC22-E70D49D45D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7644" y="3076752"/>
            <a:ext cx="4828962" cy="341612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7ABC328-B5AB-3529-A906-BD3A61098DFE}"/>
              </a:ext>
            </a:extLst>
          </p:cNvPr>
          <p:cNvSpPr txBox="1"/>
          <p:nvPr/>
        </p:nvSpPr>
        <p:spPr>
          <a:xfrm>
            <a:off x="7970408" y="6492874"/>
            <a:ext cx="20034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i="1" dirty="0"/>
              <a:t>Modello non rilevante</a:t>
            </a:r>
          </a:p>
        </p:txBody>
      </p:sp>
    </p:spTree>
    <p:extLst>
      <p:ext uri="{BB962C8B-B14F-4D97-AF65-F5344CB8AC3E}">
        <p14:creationId xmlns:p14="http://schemas.microsoft.com/office/powerpoint/2010/main" val="14650742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5AE15-F7CC-911E-0A0B-427E474E6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C11CF-743E-D110-4E8E-DC4AE4E10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Filtraggio Manuale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47B235-AABE-407D-A715-B06DA68860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2837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noProof="0" dirty="0"/>
              <a:t>In tutto:</a:t>
            </a:r>
          </a:p>
          <a:p>
            <a:pPr lvl="1"/>
            <a:r>
              <a:rPr lang="it-IT" sz="2000" dirty="0"/>
              <a:t>60 modelli rimossi perchè non rilevanti</a:t>
            </a:r>
          </a:p>
          <a:p>
            <a:pPr lvl="1"/>
            <a:r>
              <a:rPr lang="it-IT" sz="2000" noProof="0" dirty="0"/>
              <a:t>25 modell</a:t>
            </a:r>
            <a:r>
              <a:rPr lang="it-IT" sz="2000" dirty="0"/>
              <a:t>i rimossi perchè non documentati</a:t>
            </a:r>
          </a:p>
          <a:p>
            <a:pPr lvl="1"/>
            <a:r>
              <a:rPr lang="it-IT" sz="2000" noProof="0" dirty="0"/>
              <a:t>15 modelli approvati come </a:t>
            </a:r>
            <a:r>
              <a:rPr lang="it-IT" sz="2000" dirty="0"/>
              <a:t>‘’rilevanti’’</a:t>
            </a:r>
            <a:endParaRPr lang="it-IT" sz="2000" noProof="0" dirty="0"/>
          </a:p>
          <a:p>
            <a:pPr marL="0" indent="0">
              <a:buNone/>
            </a:pPr>
            <a:endParaRPr lang="it-IT" sz="1800" dirty="0"/>
          </a:p>
        </p:txBody>
      </p:sp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C8802C40-067F-D040-4D14-92204662DC6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74084117"/>
              </p:ext>
            </p:extLst>
          </p:nvPr>
        </p:nvGraphicFramePr>
        <p:xfrm>
          <a:off x="6427960" y="1720159"/>
          <a:ext cx="5687589" cy="48708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12" name="Picture 11">
            <a:extLst>
              <a:ext uri="{FF2B5EF4-FFF2-40B4-BE49-F238E27FC236}">
                <a16:creationId xmlns:a16="http://schemas.microsoft.com/office/drawing/2014/main" id="{96E66FA2-D553-DCF2-92C2-9AC5C2260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31" y="3930059"/>
            <a:ext cx="6605006" cy="276950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AF91A73-5C3A-7167-1416-C81158F1F11F}"/>
              </a:ext>
            </a:extLst>
          </p:cNvPr>
          <p:cNvSpPr txBox="1"/>
          <p:nvPr/>
        </p:nvSpPr>
        <p:spPr>
          <a:xfrm>
            <a:off x="1744880" y="3509574"/>
            <a:ext cx="2976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Lista Intera accessibile da [12]</a:t>
            </a:r>
          </a:p>
        </p:txBody>
      </p:sp>
    </p:spTree>
    <p:extLst>
      <p:ext uri="{BB962C8B-B14F-4D97-AF65-F5344CB8AC3E}">
        <p14:creationId xmlns:p14="http://schemas.microsoft.com/office/powerpoint/2010/main" val="22350801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6D1DD-CAF5-5B43-24D9-C2AFD5BF4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298ED-78F5-6C8A-A53E-2834298F6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Modelli Rilevanti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DEA30E-715D-CF1B-8468-3304A7F487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2837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dirty="0"/>
              <a:t>I 15 modelli rilevanti svolgono 4 task:</a:t>
            </a:r>
          </a:p>
          <a:p>
            <a:pPr lvl="1"/>
            <a:r>
              <a:rPr lang="it-IT" sz="2000" dirty="0"/>
              <a:t>Analisi di Serie Temporali</a:t>
            </a:r>
          </a:p>
          <a:p>
            <a:pPr lvl="1"/>
            <a:r>
              <a:rPr lang="it-IT" sz="2000" dirty="0"/>
              <a:t>Classificazione di Immagini</a:t>
            </a:r>
          </a:p>
          <a:p>
            <a:pPr lvl="1"/>
            <a:r>
              <a:rPr lang="it-IT" sz="2000" dirty="0"/>
              <a:t>Analisi di immagini acquisite da droni</a:t>
            </a:r>
          </a:p>
          <a:p>
            <a:pPr lvl="1"/>
            <a:r>
              <a:rPr lang="it-IT" sz="2000" dirty="0"/>
              <a:t>Assistente chatbot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55469E-0F76-91F6-0E0C-7B626250A7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517629"/>
            <a:ext cx="9103740" cy="2774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48330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A717C-F8F5-0091-E9F1-FD7384015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41A99-5626-AAE2-7C1D-A3D9FA43C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Modelli Rilevanti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961DC8D-9C88-0C83-BE7F-DEF2D2EE5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2638" y="117695"/>
            <a:ext cx="7021162" cy="6622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5570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4DAD5-FF8A-0D1A-835E-F1816F72E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E4392-CCFA-B0B2-A005-ED9B61C1D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Modelli Rilevanti - Licenze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ACEF4-7552-94A1-327C-48A27C559D9A}"/>
              </a:ext>
            </a:extLst>
          </p:cNvPr>
          <p:cNvSpPr txBox="1"/>
          <p:nvPr/>
        </p:nvSpPr>
        <p:spPr>
          <a:xfrm>
            <a:off x="986828" y="1276540"/>
            <a:ext cx="10773623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/>
              <a:t>Uno dei fattori più importanti che influnza la risuabilità è la licenza con cui viene rilasciato</a:t>
            </a:r>
          </a:p>
          <a:p>
            <a:r>
              <a:rPr lang="it-IT" sz="2000" dirty="0"/>
              <a:t>Maggior parte dei modelli è rilasciato sotto Apache 2.0, una licenza che permette l’uso in ambito commerciale</a:t>
            </a:r>
          </a:p>
          <a:p>
            <a:endParaRPr lang="it-IT" sz="2000" dirty="0"/>
          </a:p>
          <a:p>
            <a:r>
              <a:rPr lang="it-IT" sz="2000" dirty="0"/>
              <a:t>I modelli segnati da (*) sono descritte in seguito: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2000" dirty="0"/>
              <a:t>Disease Detection [17]: rilasciato sotto MIT, è un fine-tune di ViT che presenta Apache 2.0; entrambe sono licenze permissive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2000" dirty="0"/>
              <a:t>AdaptLLM Remote Sensing [20] [25]: non presentano licenza sulla model card, ma una repository GitHub che entrambe linkano presenta la licenza BIGAI: ‘’[...] the code and/or data i</a:t>
            </a:r>
            <a:r>
              <a:rPr lang="en-US" sz="2000" dirty="0"/>
              <a:t>s strictly for non-commercial academic research only. Any commercial use of the code or data requires prior contact and negotiation of licensing fees with the original authors […]</a:t>
            </a:r>
            <a:r>
              <a:rPr lang="it-IT" sz="2000" dirty="0"/>
              <a:t>’’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Leaf Detection and Classification [22]: </a:t>
            </a:r>
            <a:r>
              <a:rPr lang="en-US" sz="2000" dirty="0" err="1"/>
              <a:t>basato</a:t>
            </a:r>
            <a:r>
              <a:rPr lang="en-US" sz="2000" dirty="0"/>
              <a:t> </a:t>
            </a:r>
            <a:r>
              <a:rPr lang="en-US" sz="2000" dirty="0" err="1"/>
              <a:t>sull’architettura</a:t>
            </a:r>
            <a:r>
              <a:rPr lang="en-US" sz="2000" dirty="0"/>
              <a:t> </a:t>
            </a:r>
            <a:r>
              <a:rPr lang="en-US" sz="2000" dirty="0" err="1"/>
              <a:t>YOLOv</a:t>
            </a:r>
            <a:r>
              <a:rPr lang="en-US" sz="2000" dirty="0"/>
              <a:t>, </a:t>
            </a:r>
            <a:r>
              <a:rPr lang="en-US" sz="2000" dirty="0" err="1"/>
              <a:t>disponibile</a:t>
            </a:r>
            <a:r>
              <a:rPr lang="en-US" sz="2000" dirty="0"/>
              <a:t> sotto </a:t>
            </a:r>
            <a:r>
              <a:rPr lang="en-US" sz="2000" dirty="0" err="1"/>
              <a:t>licenza</a:t>
            </a:r>
            <a:r>
              <a:rPr lang="en-US" sz="2000" dirty="0"/>
              <a:t> AGPL-3.0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2000" dirty="0"/>
              <a:t>CropSeekLLM [23]: fine-tune di DeepSeek-r1, rilasciato sotto MIT, mentre il modello presenta la licenza DARJYO 1.0, che proibisce gli usi commerciali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Classification of Leaf Diseases [24]: fine-tune di </a:t>
            </a:r>
            <a:r>
              <a:rPr lang="en-US" sz="2000" dirty="0" err="1"/>
              <a:t>LLaVA</a:t>
            </a:r>
            <a:r>
              <a:rPr lang="en-US" sz="2000" dirty="0"/>
              <a:t> 1.5, </a:t>
            </a:r>
            <a:r>
              <a:rPr lang="en-US" sz="2000" dirty="0" err="1"/>
              <a:t>che</a:t>
            </a:r>
            <a:r>
              <a:rPr lang="en-US" sz="2000" dirty="0"/>
              <a:t> </a:t>
            </a:r>
            <a:r>
              <a:rPr lang="en-US" sz="2000" dirty="0" err="1"/>
              <a:t>presenta</a:t>
            </a:r>
            <a:r>
              <a:rPr lang="en-US" sz="2000" dirty="0"/>
              <a:t> </a:t>
            </a:r>
            <a:r>
              <a:rPr lang="en-US" sz="2000" dirty="0" err="1"/>
              <a:t>licenza</a:t>
            </a:r>
            <a:r>
              <a:rPr lang="en-US" sz="2000" dirty="0"/>
              <a:t> llama2</a:t>
            </a:r>
            <a:endParaRPr lang="it-IT" sz="2000" dirty="0"/>
          </a:p>
        </p:txBody>
      </p:sp>
    </p:spTree>
    <p:extLst>
      <p:ext uri="{BB962C8B-B14F-4D97-AF65-F5344CB8AC3E}">
        <p14:creationId xmlns:p14="http://schemas.microsoft.com/office/powerpoint/2010/main" val="9830477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D9961-027D-0841-6E8B-605564590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51515-E6AB-3D64-B6A3-3A63AC46F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Analisi Serie Temporali - TinyTimeMixers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5EF3E6-216F-8141-B60D-4939C290C789}"/>
              </a:ext>
            </a:extLst>
          </p:cNvPr>
          <p:cNvSpPr txBox="1"/>
          <p:nvPr/>
        </p:nvSpPr>
        <p:spPr>
          <a:xfrm>
            <a:off x="986828" y="1276540"/>
            <a:ext cx="10773623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dirty="0"/>
              <a:t>Parte della IBM Granite Suite, una famiglia di foundation models general-purpose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dirty="0"/>
              <a:t>Serie Temporale Multivariata: una sequenza di osservazioni raccolte nel tempo che include più variabili misurate simultaneamente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dirty="0"/>
              <a:t>TinyTimeMixer (TTM) sono dei modelli che eseguono previsioni su serie temporali di grandi dimensioni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915C21-347A-5AB9-D871-B3F56D1DD3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890" y="3708793"/>
            <a:ext cx="6642048" cy="262111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D15C9EA-128D-3DD0-B789-ABF9DAC6262A}"/>
              </a:ext>
            </a:extLst>
          </p:cNvPr>
          <p:cNvSpPr txBox="1"/>
          <p:nvPr/>
        </p:nvSpPr>
        <p:spPr>
          <a:xfrm>
            <a:off x="4112090" y="6329912"/>
            <a:ext cx="35356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i="1" dirty="0"/>
              <a:t>Esempio di Serie Temporale Multivariata</a:t>
            </a:r>
          </a:p>
        </p:txBody>
      </p:sp>
    </p:spTree>
    <p:extLst>
      <p:ext uri="{BB962C8B-B14F-4D97-AF65-F5344CB8AC3E}">
        <p14:creationId xmlns:p14="http://schemas.microsoft.com/office/powerpoint/2010/main" val="14796240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7A805-0160-25AA-6EB4-B75A6EAB2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5F28E-7882-FE63-B296-FB7382E4C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Analisi Serie Temporali - TinyTimeMixers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44B36A-82E9-2307-0A83-82F4E733C056}"/>
              </a:ext>
            </a:extLst>
          </p:cNvPr>
          <p:cNvSpPr txBox="1"/>
          <p:nvPr/>
        </p:nvSpPr>
        <p:spPr>
          <a:xfrm>
            <a:off x="986828" y="1276540"/>
            <a:ext cx="10773623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dirty="0"/>
              <a:t>Basati sull’architettura TSMixer, garantendo dimensioni molto ridotte (~1M parametri)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dirty="0"/>
              <a:t>Addestrati su un’elevata quantità di dati eterogenei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it-IT" dirty="0"/>
              <a:t>Clima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it-IT" dirty="0"/>
              <a:t>Consumi elettrici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it-IT" dirty="0"/>
              <a:t>Produzione centrali eoliche e solari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it-IT" dirty="0"/>
              <a:t>Fluttuazioni del Bitcoin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dirty="0"/>
              <a:t>Due varianti principali, </a:t>
            </a:r>
            <a:r>
              <a:rPr lang="it-IT" sz="2000" i="1" dirty="0"/>
              <a:t>r1</a:t>
            </a:r>
            <a:r>
              <a:rPr lang="it-IT" sz="2000" dirty="0"/>
              <a:t> ed </a:t>
            </a:r>
            <a:r>
              <a:rPr lang="it-IT" sz="2000" i="1" dirty="0"/>
              <a:t>r2</a:t>
            </a:r>
            <a:r>
              <a:rPr lang="it-IT" sz="2000" dirty="0"/>
              <a:t>; differiscono per quantità </a:t>
            </a:r>
            <a:br>
              <a:rPr lang="it-IT" sz="2000" dirty="0"/>
            </a:br>
            <a:r>
              <a:rPr lang="it-IT" sz="2000" dirty="0"/>
              <a:t>di dati usati durante l’addestramento</a:t>
            </a:r>
            <a:br>
              <a:rPr lang="it-IT" sz="2000" dirty="0"/>
            </a:br>
            <a:r>
              <a:rPr lang="it-IT" sz="2000" dirty="0"/>
              <a:t>(~750M r2 e ~250M r1)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it-IT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sz="2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C93F6C6-764E-3E5B-A8C5-DF089E294B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3307" y="2910569"/>
            <a:ext cx="4427144" cy="358230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F617293-2E6D-558B-57AE-11A61E1593BB}"/>
              </a:ext>
            </a:extLst>
          </p:cNvPr>
          <p:cNvSpPr txBox="1"/>
          <p:nvPr/>
        </p:nvSpPr>
        <p:spPr>
          <a:xfrm>
            <a:off x="7186990" y="6492874"/>
            <a:ext cx="46911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i="1" dirty="0"/>
              <a:t>Rapporto dimensione/tempo previsione di vari modelli</a:t>
            </a:r>
          </a:p>
        </p:txBody>
      </p:sp>
    </p:spTree>
    <p:extLst>
      <p:ext uri="{BB962C8B-B14F-4D97-AF65-F5344CB8AC3E}">
        <p14:creationId xmlns:p14="http://schemas.microsoft.com/office/powerpoint/2010/main" val="26076923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105E7-66C8-8FF6-CECB-1F41CC54F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C7EA6-E654-7447-417C-F7DC221BE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Analisi Serie Temporali - TinyTimeMixers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83338E-515E-35B2-C4FF-E2FDB94A3169}"/>
              </a:ext>
            </a:extLst>
          </p:cNvPr>
          <p:cNvSpPr txBox="1"/>
          <p:nvPr/>
        </p:nvSpPr>
        <p:spPr>
          <a:xfrm>
            <a:off x="986828" y="1276540"/>
            <a:ext cx="10773623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dirty="0"/>
              <a:t>Esistono vari modelli, diversi in termini di context e prediction length (</a:t>
            </a:r>
            <a:r>
              <a:rPr lang="it-IT" sz="2000" i="1" dirty="0"/>
              <a:t>cl </a:t>
            </a:r>
            <a:r>
              <a:rPr lang="it-IT" sz="2000" dirty="0"/>
              <a:t>e </a:t>
            </a:r>
            <a:r>
              <a:rPr lang="it-IT" sz="2000" i="1" dirty="0"/>
              <a:t>pl</a:t>
            </a:r>
            <a:r>
              <a:rPr lang="it-IT" sz="2000" dirty="0"/>
              <a:t> 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it-IT" i="1" dirty="0"/>
              <a:t>cl</a:t>
            </a:r>
            <a:r>
              <a:rPr lang="it-IT" dirty="0"/>
              <a:t>-</a:t>
            </a:r>
            <a:r>
              <a:rPr lang="it-IT" i="1" dirty="0"/>
              <a:t>pl</a:t>
            </a:r>
            <a:r>
              <a:rPr lang="it-IT" dirty="0"/>
              <a:t>-</a:t>
            </a:r>
            <a:r>
              <a:rPr lang="it-IT" i="1" dirty="0"/>
              <a:t>rn, </a:t>
            </a:r>
            <a:r>
              <a:rPr lang="it-IT" dirty="0"/>
              <a:t>quest’ultimo indica la versione </a:t>
            </a:r>
            <a:r>
              <a:rPr lang="it-IT" i="1" dirty="0"/>
              <a:t>r1</a:t>
            </a:r>
            <a:r>
              <a:rPr lang="it-IT" dirty="0"/>
              <a:t> o </a:t>
            </a:r>
            <a:r>
              <a:rPr lang="it-IT" i="1" dirty="0"/>
              <a:t>r2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dirty="0"/>
              <a:t>IBM ha rilasciato una grande quantità di guide e tutorial per eseguire il fine-tuning dei modelli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B16C81-C12B-B0EF-A5C4-0CFC5DD16F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9788" y="2458330"/>
            <a:ext cx="3220557" cy="38402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FCAEC72-60B0-06CD-269A-82C0A4BDA8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394956"/>
            <a:ext cx="4501398" cy="429401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DABD6BF-E073-2652-4608-D976C1C2FC74}"/>
              </a:ext>
            </a:extLst>
          </p:cNvPr>
          <p:cNvSpPr txBox="1"/>
          <p:nvPr/>
        </p:nvSpPr>
        <p:spPr>
          <a:xfrm>
            <a:off x="7857655" y="6323597"/>
            <a:ext cx="19248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i="1" dirty="0"/>
              <a:t>Varie versioni di TTM</a:t>
            </a:r>
          </a:p>
        </p:txBody>
      </p:sp>
    </p:spTree>
    <p:extLst>
      <p:ext uri="{BB962C8B-B14F-4D97-AF65-F5344CB8AC3E}">
        <p14:creationId xmlns:p14="http://schemas.microsoft.com/office/powerpoint/2010/main" val="23835439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1364</TotalTime>
  <Words>1031</Words>
  <Application>Microsoft Office PowerPoint</Application>
  <PresentationFormat>Widescreen</PresentationFormat>
  <Paragraphs>117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Office Theme</vt:lpstr>
      <vt:lpstr>Università degli  Studi del Sannio</vt:lpstr>
      <vt:lpstr>Perchè riusare i modelli?</vt:lpstr>
      <vt:lpstr>Precision Farming</vt:lpstr>
      <vt:lpstr>Farm-Tech</vt:lpstr>
      <vt:lpstr>Obbiettivo della tesi</vt:lpstr>
      <vt:lpstr>Metodologia di Ricerca</vt:lpstr>
      <vt:lpstr>Metodologia di Ricerca</vt:lpstr>
      <vt:lpstr>Ricerca dei modelli</vt:lpstr>
      <vt:lpstr>Filtraggio Manuale</vt:lpstr>
      <vt:lpstr>Filtraggio Manuale</vt:lpstr>
      <vt:lpstr>Modelli Rilevanti</vt:lpstr>
      <vt:lpstr>Modelli Rilevanti</vt:lpstr>
      <vt:lpstr>Modelli Rilevanti - Licenze</vt:lpstr>
      <vt:lpstr>Analisi Serie Temporali - TinyTimeMixers</vt:lpstr>
      <vt:lpstr>Analisi Serie Temporali - TinyTimeMixers</vt:lpstr>
      <vt:lpstr>Analisi Serie Temporali - TinyTimeMixers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Loris Pennucci</dc:creator>
  <cp:lastModifiedBy>Loris Pennucci</cp:lastModifiedBy>
  <cp:revision>85</cp:revision>
  <dcterms:created xsi:type="dcterms:W3CDTF">2025-12-01T17:30:07Z</dcterms:created>
  <dcterms:modified xsi:type="dcterms:W3CDTF">2025-12-04T22:32:18Z</dcterms:modified>
</cp:coreProperties>
</file>