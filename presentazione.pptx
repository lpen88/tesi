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1" r:id="rId5"/>
    <p:sldId id="259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90" r:id="rId14"/>
    <p:sldId id="279" r:id="rId15"/>
    <p:sldId id="289" r:id="rId16"/>
    <p:sldId id="281" r:id="rId17"/>
    <p:sldId id="282" r:id="rId18"/>
    <p:sldId id="286" r:id="rId19"/>
    <p:sldId id="287" r:id="rId20"/>
    <p:sldId id="288" r:id="rId2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CCC"/>
    <a:srgbClr val="EA9999"/>
    <a:srgbClr val="B7E1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35D5A-2F8F-4E7A-83D5-81749FFD959E}" v="2923" dt="2025-12-05T10:42:56.594"/>
    <p1510:client id="{B797F5BD-98D0-47E7-94A5-1C436E9EC037}" v="3802" dt="2025-12-05T11:56:41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Risulato Filtraggio</c:v>
                </c:pt>
              </c:strCache>
            </c:strRef>
          </c:tx>
          <c:dPt>
            <c:idx val="0"/>
            <c:bubble3D val="0"/>
            <c:spPr>
              <a:solidFill>
                <a:srgbClr val="EA99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81-4595-A2B7-A2A355FBA90E}"/>
              </c:ext>
            </c:extLst>
          </c:dPt>
          <c:dPt>
            <c:idx val="1"/>
            <c:bubble3D val="0"/>
            <c:spPr>
              <a:solidFill>
                <a:srgbClr val="F4CC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5481-4595-A2B7-A2A355FBA90E}"/>
              </c:ext>
            </c:extLst>
          </c:dPt>
          <c:dPt>
            <c:idx val="2"/>
            <c:bubble3D val="0"/>
            <c:spPr>
              <a:solidFill>
                <a:srgbClr val="B7E1CD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481-4595-A2B7-A2A355FBA9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5B2-4F07-9DE4-B162922D3E3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Non Rilevanti</c:v>
                </c:pt>
                <c:pt idx="1">
                  <c:v>Non Documentati</c:v>
                </c:pt>
                <c:pt idx="2">
                  <c:v>Rilevanti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81-4595-A2B7-A2A355FBA9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legendEntry>
        <c:idx val="3"/>
        <c:delete val="1"/>
      </c:legendEntry>
      <c:layout>
        <c:manualLayout>
          <c:xMode val="edge"/>
          <c:yMode val="edge"/>
          <c:x val="0.16216308878858862"/>
          <c:y val="0.85967925913516485"/>
          <c:w val="0.70158023021705684"/>
          <c:h val="0.120201451574756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F0387-846B-40EA-946D-51BC87A90898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5AF114-2902-442D-919C-9E8824142BF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0389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5AF114-2902-442D-919C-9E8824142BF2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5922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8E82-1176-EE3E-1BA5-19ED0E324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CBCE5-CF02-BE2A-18D3-75E24276F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9D2E0-3389-1911-B387-CC6D045C5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19C0-717A-BDBB-E12A-D1A29B17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BAEC8-FD5E-C1A4-9268-A1586A1B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93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ABFB-E19D-809F-36B2-9BBC5D86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4B48-EF6B-5513-7A58-D50E91AB7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2E2B-2438-DF5C-B27A-148B7E02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B466-562D-B481-45C9-78799103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94964-5084-8838-05E4-CED2005B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58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A234-9799-4416-0B08-3DADA5B96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6D823-659C-80E3-EE40-730ED83D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F58C5-A344-77CA-1964-04D5B284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8FC0C-B1F7-56AB-59A1-0C3B2BCAA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AC812-1970-1671-768F-B1B99D8E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8532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58B5-9DCE-8102-9BA1-5171CB05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A4C98-85BE-8968-411D-85DA8F948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B790-1E6F-44E9-128D-671D25766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73023-EA24-7B8A-966C-5B202874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289CE-D455-F2DD-07DD-B4D16132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1AF2C-D1F7-E1E8-A22F-6BC12A20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955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5587C-2B08-714C-5EC1-0D55D048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A109A-12D6-6712-1F96-65A6C50A4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A8F3-B250-511D-6653-1363A08D4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EE68F-95AE-660C-5534-08340B1C0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D7D7F6-A6FC-A32D-3E0C-4595C2B0A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0C1A75-3106-C0C1-9253-831CB924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CE1D0-C8ED-1DE5-E31F-7683533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84D5A-BBAC-574B-0615-D6D60099D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8758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C0A-A28E-BB37-51AB-F3E01D5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91C10-07D3-AD17-C08D-60990D40D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C3DD1-C973-506F-1C2F-6F1BF946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0C126-2680-ED41-DDA0-2F417D36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9509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CDE19-22FF-3770-2E0D-3435B6DA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8985E-F722-48B6-311D-20C17D442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3B9AC-E68E-7F2D-65C9-462760A6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6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6D39-F814-7544-7B8C-48CF352E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AA5D5-6390-BF9D-C15F-893C9F6CE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12AC1-F07F-A826-4DF4-2C8360DB4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73E4D-D131-5931-9C1D-1281A6B3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D501D-8AFD-79E9-5994-3310E5D8D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0951-8A79-A772-06CC-91387739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419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6E45-CD92-A080-713F-B0A2F3BAF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D44045-2961-4C2F-8029-AA477DBB0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8E220-CEB0-CB93-BB97-9831CF57E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0F319-7778-E56D-5171-F210F1A2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0DDEF-43B7-A34D-FF26-4802D2513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991C1-E86B-0A4D-7931-C4DE67EF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6913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1F017-12B5-0C8D-55B4-22528912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14C7A6-256C-48A5-9620-43B31BAD4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C123-E4A3-C152-0EE2-E47873964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EC93F-5E6D-0118-DE43-FCAD22C6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579C-D7F1-045C-F32E-94D5F39B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12B5F-D184-03BD-7BF9-202E18B0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ED5A4-84EA-6DD3-0EE2-A40F89AC5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691C-1371-8821-F65E-A2B338898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5356-BAFF-4C91-CA11-BBE0E26C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6568-7BE8-EDCB-23DD-F72E5B6C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244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E6AE8-61FD-79F5-0B61-97E0FBAE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657B4-2785-3D1E-3382-28910A980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4441-B849-8C8E-BCF1-09D4FBF19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BC3CB-4661-43F6-808C-2743A578ABD9}" type="datetimeFigureOut">
              <a:rPr lang="it-IT" smtClean="0"/>
              <a:t>08/12/2025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E073-91E7-9C58-44F0-727BD583E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69F31-E570-31F2-5289-4986314B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06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CDFA3-29B2-2C5F-3B65-7B3B622C6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737" y="3094843"/>
            <a:ext cx="11434527" cy="1320163"/>
          </a:xfrm>
        </p:spPr>
        <p:txBody>
          <a:bodyPr>
            <a:normAutofit/>
          </a:bodyPr>
          <a:lstStyle/>
          <a:p>
            <a:r>
              <a:rPr lang="it-IT" sz="3200" noProof="0" dirty="0"/>
              <a:t>Pre-trained models reuse: a case-study in precision farming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0DEF1D-E288-A8DD-E337-6B8C2278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9432" y="428907"/>
            <a:ext cx="2227154" cy="708434"/>
          </a:xfrm>
        </p:spPr>
        <p:txBody>
          <a:bodyPr>
            <a:normAutofit fontScale="90000"/>
          </a:bodyPr>
          <a:lstStyle/>
          <a:p>
            <a:r>
              <a:rPr lang="it-IT" sz="2600" b="1" noProof="0" dirty="0">
                <a:solidFill>
                  <a:schemeClr val="tx2"/>
                </a:solidFill>
              </a:rPr>
              <a:t>Università degli </a:t>
            </a:r>
            <a:br>
              <a:rPr lang="it-IT" sz="2600" b="1" noProof="0" dirty="0">
                <a:solidFill>
                  <a:schemeClr val="tx2"/>
                </a:solidFill>
              </a:rPr>
            </a:br>
            <a:r>
              <a:rPr lang="it-IT" sz="2600" b="1" noProof="0" dirty="0">
                <a:solidFill>
                  <a:schemeClr val="tx2"/>
                </a:solidFill>
              </a:rPr>
              <a:t>Studi del Sannio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4D617B-04B4-87BC-51B9-E12EED80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15" y="72428"/>
            <a:ext cx="1267350" cy="14213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E37B07-CE02-8DED-2F0C-8F1CA9E72EAB}"/>
              </a:ext>
            </a:extLst>
          </p:cNvPr>
          <p:cNvSpPr txBox="1"/>
          <p:nvPr/>
        </p:nvSpPr>
        <p:spPr>
          <a:xfrm>
            <a:off x="3303006" y="2082290"/>
            <a:ext cx="5585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noProof="0" dirty="0">
                <a:solidFill>
                  <a:schemeClr val="tx2"/>
                </a:solidFill>
              </a:rPr>
              <a:t>Dipartimento di Ingegneria</a:t>
            </a:r>
          </a:p>
          <a:p>
            <a:pPr algn="ctr"/>
            <a:r>
              <a:rPr lang="it-IT" i="1" noProof="0" dirty="0">
                <a:solidFill>
                  <a:schemeClr val="tx2"/>
                </a:solidFill>
              </a:rPr>
              <a:t>Corso di Laurea in Ingegneria Informatica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F9A90-42DE-83F5-BAD3-F8A2B2951487}"/>
              </a:ext>
            </a:extLst>
          </p:cNvPr>
          <p:cNvSpPr txBox="1"/>
          <p:nvPr/>
        </p:nvSpPr>
        <p:spPr>
          <a:xfrm>
            <a:off x="1056237" y="4606336"/>
            <a:ext cx="30962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Relatore</a:t>
            </a:r>
          </a:p>
          <a:p>
            <a:r>
              <a:rPr lang="it-IT" noProof="0" dirty="0"/>
              <a:t>Prof. Damian Andrew Tamburri</a:t>
            </a:r>
          </a:p>
          <a:p>
            <a:endParaRPr lang="it-IT" noProof="0" dirty="0"/>
          </a:p>
          <a:p>
            <a:r>
              <a:rPr lang="it-IT" sz="1400" noProof="0" dirty="0"/>
              <a:t>Correlatrice</a:t>
            </a:r>
          </a:p>
          <a:p>
            <a:r>
              <a:rPr lang="it-IT" noProof="0" dirty="0"/>
              <a:t>Federica Pepe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3DA0F-131A-6367-70FA-2B67687987B8}"/>
              </a:ext>
            </a:extLst>
          </p:cNvPr>
          <p:cNvSpPr txBox="1"/>
          <p:nvPr/>
        </p:nvSpPr>
        <p:spPr>
          <a:xfrm>
            <a:off x="8724526" y="4608220"/>
            <a:ext cx="24112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Candidato</a:t>
            </a:r>
          </a:p>
          <a:p>
            <a:r>
              <a:rPr lang="it-IT" noProof="0" dirty="0"/>
              <a:t>Loris Umberto Pennucci</a:t>
            </a:r>
          </a:p>
          <a:p>
            <a:r>
              <a:rPr lang="it-IT" noProof="0" dirty="0"/>
              <a:t>Matr. 863003783</a:t>
            </a:r>
          </a:p>
          <a:p>
            <a:endParaRPr lang="it-IT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4A858-E361-2356-F66D-95B48DB667E4}"/>
              </a:ext>
            </a:extLst>
          </p:cNvPr>
          <p:cNvSpPr txBox="1"/>
          <p:nvPr/>
        </p:nvSpPr>
        <p:spPr>
          <a:xfrm>
            <a:off x="4556911" y="6495905"/>
            <a:ext cx="30781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noProof="0" dirty="0"/>
              <a:t>Anno Accademico 2024-2025</a:t>
            </a:r>
          </a:p>
        </p:txBody>
      </p:sp>
    </p:spTree>
    <p:extLst>
      <p:ext uri="{BB962C8B-B14F-4D97-AF65-F5344CB8AC3E}">
        <p14:creationId xmlns:p14="http://schemas.microsoft.com/office/powerpoint/2010/main" val="8585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F9F3-0A4B-2598-4BD4-CFEFAA8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Perchè riusare i modelli?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A285E-0CBB-4FCB-DFD4-8CF59BD2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1800" noProof="0" dirty="0"/>
              <a:t>Il riuso consiste nell’adattare modelli AI già addestrati su grandi dataset a nuovi compiti</a:t>
            </a:r>
          </a:p>
          <a:p>
            <a:r>
              <a:rPr lang="it-IT" sz="1800" noProof="0" dirty="0"/>
              <a:t>Solo su HuggingFace sono caricati più di 2 milioni di modelli</a:t>
            </a:r>
          </a:p>
          <a:p>
            <a:r>
              <a:rPr lang="it-IT" sz="1800" noProof="0" dirty="0"/>
              <a:t>Riusare modelli pre-addestrati conviene in quanto:</a:t>
            </a:r>
          </a:p>
          <a:p>
            <a:pPr lvl="1"/>
            <a:r>
              <a:rPr lang="it-IT" sz="1400" noProof="0" dirty="0"/>
              <a:t>riduce tempi e costi di addestramento</a:t>
            </a:r>
          </a:p>
          <a:p>
            <a:pPr lvl="1"/>
            <a:r>
              <a:rPr lang="it-IT" sz="1400" noProof="0" dirty="0"/>
              <a:t>sfrutta conoscenze già acquisite su grandi dataset</a:t>
            </a:r>
          </a:p>
          <a:p>
            <a:pPr lvl="1"/>
            <a:r>
              <a:rPr lang="it-IT" sz="1400" noProof="0" dirty="0"/>
              <a:t>‘’facile’’ adattamento a compiti specifici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6708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615A3-6A60-2DB8-0F24-37460B30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E178E-8652-7D50-4A1D-4E2B2CC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Precision Farming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59A99-3365-E7E8-0F5A-CAF5657DB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1800" noProof="0" dirty="0"/>
              <a:t>Approccio innovativo all’agricoltura che integra tecnologie digitali per ottimizzare la gestione delle colture</a:t>
            </a:r>
          </a:p>
          <a:p>
            <a:pPr lvl="1"/>
            <a:r>
              <a:rPr lang="it-IT" sz="1400" noProof="0" dirty="0"/>
              <a:t>Sensori IoT, droni, immagini satellitarie...</a:t>
            </a:r>
          </a:p>
          <a:p>
            <a:r>
              <a:rPr lang="it-IT" sz="1800" noProof="0" dirty="0"/>
              <a:t>Aumentare le rese agricole</a:t>
            </a:r>
          </a:p>
          <a:p>
            <a:r>
              <a:rPr lang="it-IT" sz="1800" noProof="0" dirty="0"/>
              <a:t>Ridurre sprechi</a:t>
            </a:r>
          </a:p>
          <a:p>
            <a:r>
              <a:rPr lang="it-IT" sz="1800" noProof="0" dirty="0"/>
              <a:t>Fornire un tool decisionale agli agricoltori</a:t>
            </a:r>
          </a:p>
          <a:p>
            <a:endParaRPr lang="it-IT" sz="1800" noProof="0" dirty="0"/>
          </a:p>
          <a:p>
            <a:pPr marL="0" indent="0">
              <a:buNone/>
            </a:pPr>
            <a:r>
              <a:rPr lang="it-IT" sz="1800" noProof="0" dirty="0"/>
              <a:t>Vista l’elevata quantità di dati coinvolta in questa tecnica, l’AI si presta bene a processarli e analizzarli</a:t>
            </a:r>
          </a:p>
          <a:p>
            <a:pPr marL="0" indent="0">
              <a:buNone/>
            </a:pPr>
            <a:r>
              <a:rPr lang="it-IT" sz="1800" noProof="0" dirty="0"/>
              <a:t>Progetto di riferimento: Farm-Tech</a:t>
            </a:r>
          </a:p>
          <a:p>
            <a:pPr lvl="1"/>
            <a:endParaRPr lang="it-IT" sz="1400" noProof="0" dirty="0"/>
          </a:p>
          <a:p>
            <a:pPr lvl="1"/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211411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E7DC-01BA-7A78-9498-DBEAD39D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FDEB-58DA-E349-BD4E-94940C6A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Farm-Tech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DD7A-2BD1-39E5-0364-97DDD222C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25" y="1518966"/>
            <a:ext cx="10692897" cy="4351338"/>
          </a:xfrm>
        </p:spPr>
        <p:txBody>
          <a:bodyPr>
            <a:normAutofit/>
          </a:bodyPr>
          <a:lstStyle/>
          <a:p>
            <a:r>
              <a:rPr lang="it-IT" sz="1800" noProof="0" dirty="0"/>
              <a:t>Progetto di ricerca congiunto tra SmartShaped e Trace Technologies, parte dell’ecosistema Tech4You</a:t>
            </a:r>
          </a:p>
          <a:p>
            <a:r>
              <a:rPr lang="it-IT" sz="1800" noProof="0" dirty="0"/>
              <a:t>Implementazione pratica del Precision Farming, mirata a supportare l’agricoltura sostenibile in ambienti Mediterranei</a:t>
            </a:r>
          </a:p>
          <a:p>
            <a:r>
              <a:rPr lang="it-IT" sz="1800" noProof="0" dirty="0"/>
              <a:t>Architettura Modulare</a:t>
            </a:r>
          </a:p>
          <a:p>
            <a:pPr lvl="1"/>
            <a:r>
              <a:rPr lang="it-IT" sz="1400" noProof="0" dirty="0"/>
              <a:t>Immagazzinamento e gestione dati (MinIO, GeoNode)</a:t>
            </a:r>
          </a:p>
          <a:p>
            <a:pPr lvl="1"/>
            <a:r>
              <a:rPr lang="it-IT" sz="1400" noProof="0" dirty="0"/>
              <a:t>Presentazione dati (GeoServer)</a:t>
            </a:r>
          </a:p>
          <a:p>
            <a:pPr lvl="1"/>
            <a:r>
              <a:rPr lang="it-IT" sz="1400" noProof="0" dirty="0"/>
              <a:t>Machine Learning (chaM3Leon)</a:t>
            </a:r>
          </a:p>
          <a:p>
            <a:pPr lvl="1"/>
            <a:r>
              <a:rPr lang="it-IT" sz="1400" noProof="0" dirty="0"/>
              <a:t>Moduli di supporto (PostgreSQL, Spark, Django...)</a:t>
            </a:r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0" indent="0">
              <a:buNone/>
            </a:pPr>
            <a:r>
              <a:rPr lang="it-IT" sz="1800" noProof="0" dirty="0"/>
              <a:t>chaM3Leon è un framework modulare sviluppato da Smart Shaped</a:t>
            </a:r>
            <a:br>
              <a:rPr lang="it-IT" sz="1800" noProof="0" dirty="0"/>
            </a:br>
            <a:r>
              <a:rPr lang="it-IT" sz="1800" noProof="0" dirty="0"/>
              <a:t>a supporto di applicazioni machine learning; è in questo modulo</a:t>
            </a:r>
            <a:br>
              <a:rPr lang="it-IT" sz="1800" noProof="0" dirty="0"/>
            </a:br>
            <a:r>
              <a:rPr lang="it-IT" sz="1800" noProof="0" dirty="0"/>
              <a:t>che vengono addestrati/usati modelli di 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B6F499-F3EE-CFB6-56BF-515EE4169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279" y="2501391"/>
            <a:ext cx="5112190" cy="426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62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772-0061-E370-DF05-C823AA14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2AA5-70E4-A2A4-7D37-D8FF08EF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Obbiettivo della tesi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80ABC-DDAB-3C84-FA86-2E1C8C3C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7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Definire criteri e metriche per valutare la riusabilità dei modelli pre-addestrati nel contesto di </a:t>
            </a:r>
            <a:br>
              <a:rPr lang="it-IT" sz="2000" noProof="0" dirty="0"/>
            </a:br>
            <a:r>
              <a:rPr lang="it-IT" sz="2000" noProof="0" dirty="0"/>
              <a:t>Farm-Tech</a:t>
            </a:r>
          </a:p>
          <a:p>
            <a:pPr marL="0" indent="0">
              <a:buNone/>
            </a:pPr>
            <a:r>
              <a:rPr lang="it-IT" sz="2000" noProof="0" dirty="0"/>
              <a:t>Formalmente:</a:t>
            </a:r>
          </a:p>
          <a:p>
            <a:pPr lvl="1"/>
            <a:r>
              <a:rPr lang="it-IT" sz="1800" noProof="0" dirty="0"/>
              <a:t>What criteria and metrics can be considered to evaluate the reusability of pre-trained models in precision farming, and how can these be applied within the Farm-Tech project?</a:t>
            </a:r>
          </a:p>
          <a:p>
            <a:pPr lvl="1"/>
            <a:endParaRPr lang="it-IT" sz="1800" noProof="0" dirty="0"/>
          </a:p>
          <a:p>
            <a:pPr marL="0" indent="0">
              <a:buNone/>
            </a:pPr>
            <a:r>
              <a:rPr lang="it-IT" sz="2000" noProof="0" dirty="0"/>
              <a:t>Stabilito un metodo per valutare la riusabilità di modelli pre-addestrati, verrà applicato a un elenco di modelli selezionati, analizzando in modo sistematico il loro potenziale impiego in Farm-Tech.</a:t>
            </a:r>
          </a:p>
          <a:p>
            <a:pPr marL="457200" lvl="1" indent="0">
              <a:buNone/>
            </a:pPr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6490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656F-233C-2639-7CC3-1588ED464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88BB31-1D8D-B07A-4F5D-70AFCE10B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92" y="1954779"/>
            <a:ext cx="8865816" cy="453809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00D084-7EEB-6DF6-CF3F-9962FE3BD990}"/>
              </a:ext>
            </a:extLst>
          </p:cNvPr>
          <p:cNvSpPr txBox="1"/>
          <p:nvPr/>
        </p:nvSpPr>
        <p:spPr>
          <a:xfrm>
            <a:off x="950614" y="1421394"/>
            <a:ext cx="843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metodologia seguita in questa ricerca si basa sullo standard CRISP-DM</a:t>
            </a:r>
          </a:p>
        </p:txBody>
      </p:sp>
    </p:spTree>
    <p:extLst>
      <p:ext uri="{BB962C8B-B14F-4D97-AF65-F5344CB8AC3E}">
        <p14:creationId xmlns:p14="http://schemas.microsoft.com/office/powerpoint/2010/main" val="42341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C75E-C1D6-1EB5-1CB0-BA9E3EF59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D171-A5BB-F727-5758-F41FB23F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Ricerca dei modelli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356F6-74D1-DCD4-6B04-47189E6D2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 modelli considerati sono stati recuperati da HuggingFace se soddisfano le seguenti condizioni:</a:t>
            </a:r>
          </a:p>
          <a:p>
            <a:pPr lvl="1"/>
            <a:r>
              <a:rPr lang="it-IT" sz="1800" noProof="0" dirty="0"/>
              <a:t>Contiene uno qualunque dei seguenti termini all’interno della model card</a:t>
            </a:r>
          </a:p>
          <a:p>
            <a:pPr lvl="2"/>
            <a:r>
              <a:rPr lang="it-IT" sz="1400" dirty="0"/>
              <a:t>"agriculture", "crop", "biomass", "yield", "nitrogen", "phosphorus", "soil", "plant", "drone", "remote sensing", "time series", "field", "tomato", "heatmap", "organism", "vegetable"</a:t>
            </a:r>
            <a:endParaRPr lang="it-IT" sz="1400" noProof="0" dirty="0"/>
          </a:p>
          <a:p>
            <a:pPr lvl="1"/>
            <a:r>
              <a:rPr lang="it-IT" sz="1800" dirty="0"/>
              <a:t>Il modello deve avere più di 100 download totali</a:t>
            </a:r>
          </a:p>
          <a:p>
            <a:pPr lvl="2"/>
            <a:r>
              <a:rPr lang="it-IT" sz="1400" dirty="0"/>
              <a:t>Rilevanza</a:t>
            </a:r>
          </a:p>
          <a:p>
            <a:pPr lvl="2"/>
            <a:r>
              <a:rPr lang="it-IT" sz="1400" dirty="0"/>
              <a:t>Sicurezza</a:t>
            </a:r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r>
              <a:rPr lang="it-IT" sz="2000" dirty="0"/>
              <a:t>In tutto, 100 modelli sono stati recuperati</a:t>
            </a:r>
          </a:p>
        </p:txBody>
      </p:sp>
    </p:spTree>
    <p:extLst>
      <p:ext uri="{BB962C8B-B14F-4D97-AF65-F5344CB8AC3E}">
        <p14:creationId xmlns:p14="http://schemas.microsoft.com/office/powerpoint/2010/main" val="2444327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4F27-527F-22FC-0391-10EDD204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8BCF-83B9-5EA4-F734-FED57584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65CCF-D6F2-938E-822E-1C43FF2CE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Il metodo di raccolta dei modelli potrebbe includere un elevata quantità di falsi positivi</a:t>
            </a:r>
          </a:p>
          <a:p>
            <a:pPr marL="0" indent="0">
              <a:buNone/>
            </a:pPr>
            <a:r>
              <a:rPr lang="it-IT" sz="2000" noProof="0" dirty="0"/>
              <a:t>Per ovviare, una verifica manuale è stata eseguita in maniera indipendente da due ricercatori, rimuovendo modelli secondo questi parametri:</a:t>
            </a:r>
          </a:p>
          <a:p>
            <a:pPr lvl="1"/>
            <a:r>
              <a:rPr lang="it-IT" sz="1800" dirty="0"/>
              <a:t>Scopo del modello non rilevante a Farm-Tech</a:t>
            </a:r>
          </a:p>
          <a:p>
            <a:pPr lvl="1"/>
            <a:r>
              <a:rPr lang="it-IT" sz="1800" dirty="0"/>
              <a:t>Modello non documentato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411A3-BFA2-0BC1-2E80-E2A0F332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56" y="3076753"/>
            <a:ext cx="3781991" cy="3416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24914E-7E2C-242B-03C6-79FC448F7D9E}"/>
              </a:ext>
            </a:extLst>
          </p:cNvPr>
          <p:cNvSpPr txBox="1"/>
          <p:nvPr/>
        </p:nvSpPr>
        <p:spPr>
          <a:xfrm>
            <a:off x="1156543" y="6492874"/>
            <a:ext cx="2387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documentato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84E678-520D-5C23-FC22-E70D49D4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44" y="3076752"/>
            <a:ext cx="4828962" cy="34161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ABC328-B5AB-3529-A906-BD3A61098DFE}"/>
              </a:ext>
            </a:extLst>
          </p:cNvPr>
          <p:cNvSpPr txBox="1"/>
          <p:nvPr/>
        </p:nvSpPr>
        <p:spPr>
          <a:xfrm>
            <a:off x="7970408" y="6492874"/>
            <a:ext cx="2003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rilevante</a:t>
            </a:r>
          </a:p>
        </p:txBody>
      </p:sp>
    </p:spTree>
    <p:extLst>
      <p:ext uri="{BB962C8B-B14F-4D97-AF65-F5344CB8AC3E}">
        <p14:creationId xmlns:p14="http://schemas.microsoft.com/office/powerpoint/2010/main" val="1465074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5AE15-F7CC-911E-0A0B-427E474E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C11CF-743E-D110-4E8E-DC4AE4E1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7B235-AABE-407D-A715-B06DA6886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In tutto:</a:t>
            </a:r>
          </a:p>
          <a:p>
            <a:pPr lvl="1"/>
            <a:r>
              <a:rPr lang="it-IT" sz="2000" dirty="0"/>
              <a:t>60 modelli rimossi perchè non rilevanti</a:t>
            </a:r>
          </a:p>
          <a:p>
            <a:pPr lvl="1"/>
            <a:r>
              <a:rPr lang="it-IT" sz="2000" noProof="0" dirty="0"/>
              <a:t>25 modell</a:t>
            </a:r>
            <a:r>
              <a:rPr lang="it-IT" sz="2000" dirty="0"/>
              <a:t>i rimossi perchè non documentati</a:t>
            </a:r>
          </a:p>
          <a:p>
            <a:pPr lvl="1"/>
            <a:r>
              <a:rPr lang="it-IT" sz="2000" noProof="0" dirty="0"/>
              <a:t>15 modelli approvati come </a:t>
            </a:r>
            <a:r>
              <a:rPr lang="it-IT" sz="2000" dirty="0"/>
              <a:t>‘’rilevanti’’</a:t>
            </a:r>
            <a:endParaRPr lang="it-IT" sz="2000" noProof="0" dirty="0"/>
          </a:p>
          <a:p>
            <a:pPr marL="0" indent="0">
              <a:buNone/>
            </a:pPr>
            <a:endParaRPr lang="it-IT" sz="18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C8802C40-067F-D040-4D14-92204662DC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084117"/>
              </p:ext>
            </p:extLst>
          </p:nvPr>
        </p:nvGraphicFramePr>
        <p:xfrm>
          <a:off x="6427960" y="1720159"/>
          <a:ext cx="5687589" cy="4870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6E66FA2-D553-DCF2-92C2-9AC5C226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31" y="3930059"/>
            <a:ext cx="6605006" cy="2769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F91A73-5C3A-7167-1416-C81158F1F11F}"/>
              </a:ext>
            </a:extLst>
          </p:cNvPr>
          <p:cNvSpPr txBox="1"/>
          <p:nvPr/>
        </p:nvSpPr>
        <p:spPr>
          <a:xfrm>
            <a:off x="1744880" y="3509574"/>
            <a:ext cx="29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Lista Intera accessibile da [12]</a:t>
            </a:r>
          </a:p>
        </p:txBody>
      </p:sp>
    </p:spTree>
    <p:extLst>
      <p:ext uri="{BB962C8B-B14F-4D97-AF65-F5344CB8AC3E}">
        <p14:creationId xmlns:p14="http://schemas.microsoft.com/office/powerpoint/2010/main" val="2235080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6D1DD-CAF5-5B43-24D9-C2AFD5BF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298ED-78F5-6C8A-A53E-2834298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EA30E-715D-CF1B-8468-3304A7F4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dirty="0"/>
              <a:t>I 15 modelli rilevanti svolgono 4 task:</a:t>
            </a:r>
          </a:p>
          <a:p>
            <a:pPr lvl="1"/>
            <a:r>
              <a:rPr lang="it-IT" sz="2000" dirty="0"/>
              <a:t>Analisi di Serie Temporali</a:t>
            </a:r>
          </a:p>
          <a:p>
            <a:pPr lvl="1"/>
            <a:r>
              <a:rPr lang="it-IT" sz="2000" dirty="0"/>
              <a:t>Classificazione di Immagini</a:t>
            </a:r>
          </a:p>
          <a:p>
            <a:pPr lvl="1"/>
            <a:r>
              <a:rPr lang="it-IT" sz="2000" dirty="0"/>
              <a:t>Analisi di immagini acquisite da droni (Drone Image Processing)</a:t>
            </a:r>
            <a:endParaRPr lang="it-IT" sz="2000" dirty="0">
              <a:ea typeface="Calibri"/>
              <a:cs typeface="Calibri"/>
            </a:endParaRPr>
          </a:p>
          <a:p>
            <a:pPr lvl="1"/>
            <a:r>
              <a:rPr lang="it-IT" sz="2000" dirty="0"/>
              <a:t>Assistente chatbot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55469E-0F76-91F6-0E0C-7B626250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7629"/>
            <a:ext cx="9103740" cy="277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33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717C-F8F5-0091-E9F1-FD738401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1A99-5626-AAE2-7C1D-A3D9FA43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1DC8D-9C88-0C83-BE7F-DEF2D2EE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8" y="117695"/>
            <a:ext cx="7021162" cy="66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57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DAD5-FF8A-0D1A-835E-F1816F72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E4392-CCFA-B0B2-A005-ED9B61C1D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- Licenze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ACEF4-7552-94A1-327C-48A27C559D9A}"/>
              </a:ext>
            </a:extLst>
          </p:cNvPr>
          <p:cNvSpPr txBox="1"/>
          <p:nvPr/>
        </p:nvSpPr>
        <p:spPr>
          <a:xfrm>
            <a:off x="986828" y="1276540"/>
            <a:ext cx="10773623" cy="4370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/>
              <a:t>Fattore importante è la licenza con cui il modello è rilasciato.</a:t>
            </a:r>
          </a:p>
          <a:p>
            <a:r>
              <a:rPr lang="it-IT" sz="2000" dirty="0"/>
              <a:t>Maggior parte dei modelli è rilasciato sotto Apache 2.0, permette l’uso in ambito commerciale</a:t>
            </a:r>
          </a:p>
          <a:p>
            <a:endParaRPr lang="it-IT" sz="2000" dirty="0"/>
          </a:p>
          <a:p>
            <a:r>
              <a:rPr lang="it-IT" sz="2000" dirty="0"/>
              <a:t>I modelli segnati da (*) sono descritti in seguito:</a:t>
            </a:r>
            <a:endParaRPr lang="it-IT" sz="2000" dirty="0">
              <a:ea typeface="Calibri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Disease Detection [17]: rilasciato sotto MIT, è un fine-tune di ViT che presenta Apache 2.0; entrambe licenze permissive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AdaptLLM Remote Sensing [20][25]: nessuna licenza, una repository GitHub linkata riporta licenza BIGAI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Leaf Detection and Classification [22]: </a:t>
            </a:r>
            <a:r>
              <a:rPr lang="en-US" dirty="0" err="1"/>
              <a:t>nessuna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, ma </a:t>
            </a:r>
            <a:r>
              <a:rPr lang="en-US" dirty="0" err="1"/>
              <a:t>basato</a:t>
            </a:r>
            <a:r>
              <a:rPr lang="en-US" dirty="0"/>
              <a:t> </a:t>
            </a:r>
            <a:r>
              <a:rPr lang="en-US" dirty="0" err="1"/>
              <a:t>sull’architettura</a:t>
            </a:r>
            <a:r>
              <a:rPr lang="en-US" dirty="0"/>
              <a:t> YOLOv8, </a:t>
            </a:r>
            <a:r>
              <a:rPr lang="en-US" dirty="0" err="1"/>
              <a:t>disponibile</a:t>
            </a:r>
            <a:r>
              <a:rPr lang="en-US" dirty="0"/>
              <a:t> sotto </a:t>
            </a:r>
            <a:r>
              <a:rPr lang="en-US" dirty="0" err="1"/>
              <a:t>licenza</a:t>
            </a:r>
            <a:r>
              <a:rPr lang="en-US" dirty="0"/>
              <a:t> AGPL-3.0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CropSeekLLM [23]: fine-tune di DeepSeek-r1 (MIT), il modello ha licenza DARJYO 1.0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Classification of Leaf Diseases [24]: fine-tune di </a:t>
            </a:r>
            <a:r>
              <a:rPr lang="en-US" dirty="0" err="1"/>
              <a:t>LLaVA</a:t>
            </a:r>
            <a:r>
              <a:rPr lang="en-US" dirty="0"/>
              <a:t> 1.5,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presenta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 llama2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3047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543B9-7641-D660-AB72-911947DEA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25F28-0816-C1F9-27A7-5BACA047E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826" y="-8754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– Analisi </a:t>
            </a:r>
            <a:r>
              <a:rPr lang="it-IT" sz="1600" noProof="0" dirty="0">
                <a:latin typeface="+mn-lt"/>
              </a:rPr>
              <a:t>(in a nutshell)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FB4E3F-59C4-A260-BA7C-618EF0FDB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133" y="522851"/>
            <a:ext cx="7405734" cy="61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90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CDEF-6D9A-D394-0BAB-EE7842E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843F-7029-1F2E-7D08-B284C29B0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 – Transfer Learning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017241-B898-E6A5-D692-D031F1A2C3AD}"/>
              </a:ext>
            </a:extLst>
          </p:cNvPr>
          <p:cNvSpPr txBox="1"/>
          <p:nvPr/>
        </p:nvSpPr>
        <p:spPr>
          <a:xfrm>
            <a:off x="986828" y="1276540"/>
            <a:ext cx="10773623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IBM: "</a:t>
            </a:r>
            <a:r>
              <a:rPr lang="it-IT" sz="2000" dirty="0">
                <a:ea typeface="+mn-lt"/>
                <a:cs typeface="+mn-lt"/>
              </a:rPr>
              <a:t>Transfer learning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a machine learning technique in </a:t>
            </a:r>
            <a:r>
              <a:rPr lang="it-IT" sz="2000" err="1">
                <a:ea typeface="+mn-lt"/>
                <a:cs typeface="+mn-lt"/>
              </a:rPr>
              <a:t>which</a:t>
            </a:r>
            <a:r>
              <a:rPr lang="it-IT" sz="2000" dirty="0">
                <a:ea typeface="+mn-lt"/>
                <a:cs typeface="+mn-lt"/>
              </a:rPr>
              <a:t> knowledge </a:t>
            </a:r>
            <a:r>
              <a:rPr lang="it-IT" sz="2000" err="1">
                <a:ea typeface="+mn-lt"/>
                <a:cs typeface="+mn-lt"/>
              </a:rPr>
              <a:t>gained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through</a:t>
            </a:r>
            <a:r>
              <a:rPr lang="it-IT" sz="2000" dirty="0">
                <a:ea typeface="+mn-lt"/>
                <a:cs typeface="+mn-lt"/>
              </a:rPr>
              <a:t> one task or dataset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used</a:t>
            </a:r>
            <a:r>
              <a:rPr lang="it-IT" sz="2000" dirty="0">
                <a:ea typeface="+mn-lt"/>
                <a:cs typeface="+mn-lt"/>
              </a:rPr>
              <a:t>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model performance on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related</a:t>
            </a:r>
            <a:r>
              <a:rPr lang="it-IT" sz="2000" dirty="0">
                <a:ea typeface="+mn-lt"/>
                <a:cs typeface="+mn-lt"/>
              </a:rPr>
              <a:t> task or </a:t>
            </a:r>
            <a:r>
              <a:rPr lang="it-IT" sz="2000" err="1">
                <a:ea typeface="+mn-lt"/>
                <a:cs typeface="+mn-lt"/>
              </a:rPr>
              <a:t>different</a:t>
            </a:r>
            <a:r>
              <a:rPr lang="it-IT" sz="2000" dirty="0">
                <a:ea typeface="+mn-lt"/>
                <a:cs typeface="+mn-lt"/>
              </a:rPr>
              <a:t> dataset. In </a:t>
            </a:r>
            <a:r>
              <a:rPr lang="it-IT" sz="2000" err="1">
                <a:ea typeface="+mn-lt"/>
                <a:cs typeface="+mn-lt"/>
              </a:rPr>
              <a:t>other</a:t>
            </a:r>
            <a:r>
              <a:rPr lang="it-IT" sz="2000" dirty="0">
                <a:ea typeface="+mn-lt"/>
                <a:cs typeface="+mn-lt"/>
              </a:rPr>
              <a:t> words, transfer learning </a:t>
            </a:r>
            <a:r>
              <a:rPr lang="it-IT" sz="2000" err="1">
                <a:ea typeface="+mn-lt"/>
                <a:cs typeface="+mn-lt"/>
              </a:rPr>
              <a:t>uses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what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has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been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learned</a:t>
            </a:r>
            <a:r>
              <a:rPr lang="it-IT" sz="2000" dirty="0">
                <a:ea typeface="+mn-lt"/>
                <a:cs typeface="+mn-lt"/>
              </a:rPr>
              <a:t> in one setting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generalization</a:t>
            </a:r>
            <a:r>
              <a:rPr lang="it-IT" sz="2000" dirty="0">
                <a:ea typeface="+mn-lt"/>
                <a:cs typeface="+mn-lt"/>
              </a:rPr>
              <a:t> in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setting</a:t>
            </a:r>
            <a:r>
              <a:rPr lang="it-IT" sz="2000" dirty="0">
                <a:ea typeface="Calibri"/>
                <a:cs typeface="Calibri"/>
              </a:rPr>
              <a:t>."</a:t>
            </a:r>
            <a:endParaRPr lang="it-IT"/>
          </a:p>
          <a:p>
            <a:pPr marL="342900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Fattori importanti: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Compatibilità di Task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Disponibilità di dati per fine-tuning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Domain shift e </a:t>
            </a:r>
            <a:r>
              <a:rPr lang="it-IT" sz="2000" dirty="0" err="1">
                <a:ea typeface="Calibri"/>
                <a:cs typeface="Calibri"/>
              </a:rPr>
              <a:t>Bias</a:t>
            </a:r>
            <a:r>
              <a:rPr lang="it-IT" sz="2000" dirty="0">
                <a:ea typeface="Calibri"/>
                <a:cs typeface="Calibri"/>
              </a:rPr>
              <a:t>*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Limiti operativi*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BA4BF4-5616-FB95-CDD8-E46AC7AE3040}"/>
              </a:ext>
            </a:extLst>
          </p:cNvPr>
          <p:cNvSpPr txBox="1"/>
          <p:nvPr/>
        </p:nvSpPr>
        <p:spPr>
          <a:xfrm>
            <a:off x="988370" y="6410712"/>
            <a:ext cx="96011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600" dirty="0">
                <a:ea typeface="+mn-lt"/>
                <a:cs typeface="+mn-lt"/>
              </a:rPr>
              <a:t>IBM, " </a:t>
            </a:r>
            <a:r>
              <a:rPr lang="it-IT" sz="1600" dirty="0" err="1">
                <a:ea typeface="+mn-lt"/>
                <a:cs typeface="+mn-lt"/>
              </a:rPr>
              <a:t>What</a:t>
            </a:r>
            <a:r>
              <a:rPr lang="it-IT" sz="1600" dirty="0">
                <a:ea typeface="+mn-lt"/>
                <a:cs typeface="+mn-lt"/>
              </a:rPr>
              <a:t> </a:t>
            </a:r>
            <a:r>
              <a:rPr lang="it-IT" sz="1600" dirty="0" err="1">
                <a:ea typeface="+mn-lt"/>
                <a:cs typeface="+mn-lt"/>
              </a:rPr>
              <a:t>is</a:t>
            </a:r>
            <a:r>
              <a:rPr lang="it-IT" sz="1600" dirty="0">
                <a:ea typeface="+mn-lt"/>
                <a:cs typeface="+mn-lt"/>
              </a:rPr>
              <a:t> transfer learning?" [Online]. </a:t>
            </a:r>
            <a:r>
              <a:rPr lang="it-IT" sz="1600" dirty="0" err="1">
                <a:ea typeface="+mn-lt"/>
                <a:cs typeface="+mn-lt"/>
              </a:rPr>
              <a:t>Available</a:t>
            </a:r>
            <a:r>
              <a:rPr lang="it-IT" sz="1600" dirty="0">
                <a:ea typeface="+mn-lt"/>
                <a:cs typeface="+mn-lt"/>
              </a:rPr>
              <a:t>: https://www.ibm.com/think/topics/transfer-learning.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87935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E8A0-35FE-A636-21A8-B2596DE4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7478-4503-BBF8-03D3-CA408574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509102-F7C8-6058-09B6-24692955FC5F}"/>
              </a:ext>
            </a:extLst>
          </p:cNvPr>
          <p:cNvSpPr txBox="1"/>
          <p:nvPr/>
        </p:nvSpPr>
        <p:spPr>
          <a:xfrm>
            <a:off x="986828" y="1016345"/>
            <a:ext cx="10773623" cy="29546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endParaRPr lang="it-IT" sz="20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Project Alignment (PA)</a:t>
            </a:r>
            <a:r>
              <a:rPr lang="it-IT" dirty="0">
                <a:ea typeface="Calibri"/>
                <a:cs typeface="Calibri"/>
              </a:rPr>
              <a:t>: rilevanza verso Farm-Tech, sia in termini di task che dataset di addestramento</a:t>
            </a:r>
          </a:p>
          <a:p>
            <a:pPr marL="342900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Quality of Documentation (QD)</a:t>
            </a:r>
            <a:r>
              <a:rPr lang="it-IT" dirty="0">
                <a:ea typeface="Calibri"/>
                <a:cs typeface="Calibri"/>
              </a:rPr>
              <a:t>: utilità della documentazione nell'implementare il modello in un nuovo campo</a:t>
            </a:r>
          </a:p>
          <a:p>
            <a:pPr marL="285750" indent="-28575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Ease of Evaluation (EE)</a:t>
            </a:r>
            <a:r>
              <a:rPr lang="it-IT" dirty="0">
                <a:ea typeface="Calibri"/>
                <a:cs typeface="Calibri"/>
              </a:rPr>
              <a:t>: quanto è semplice valutare l'efficacia del modello nel nuovo campo</a:t>
            </a:r>
          </a:p>
          <a:p>
            <a:pPr marL="285750" indent="-28575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Licenza (LC)</a:t>
            </a:r>
            <a:endParaRPr lang="it-IT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5687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745B-E151-546B-0636-115DBAC3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0696-B8F2-7CC9-67FB-9A23E22DA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5CC1-BD15-FA0F-DC51-6D65BADFD02E}"/>
              </a:ext>
            </a:extLst>
          </p:cNvPr>
          <p:cNvSpPr txBox="1"/>
          <p:nvPr/>
        </p:nvSpPr>
        <p:spPr>
          <a:xfrm>
            <a:off x="986828" y="1192906"/>
            <a:ext cx="1077362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Un punteggio finale è calcolato come la media di tutte le categorie</a:t>
            </a:r>
            <a:endParaRPr lang="it-IT" dirty="0">
              <a:ea typeface="Calibri"/>
              <a:cs typeface="Calibri"/>
            </a:endParaRPr>
          </a:p>
          <a:p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Invece di una media, in base alle necessità del team di sviluppo, si può formulare un altro tipo di valutazione; ad esempio:</a:t>
            </a:r>
          </a:p>
          <a:p>
            <a:endParaRPr lang="it-IT" sz="2000" dirty="0">
              <a:ea typeface="+mn-lt"/>
              <a:cs typeface="+mn-lt"/>
            </a:endParaRPr>
          </a:p>
          <a:p>
            <a:pPr lvl="2"/>
            <a:r>
              <a:rPr lang="it-IT" sz="2000" dirty="0">
                <a:ea typeface="+mn-lt"/>
                <a:cs typeface="+mn-lt"/>
              </a:rPr>
              <a:t>     𝑇𝑜𝑡𝑎𝑙 𝑆𝑐𝑜𝑟𝑒 = 𝑃𝐴 ∗ 0.2 + 𝑄𝐷 ∗ 0.2 + 𝐸𝐸 ∗ 0.2 + 𝐿𝐶 ∗ 0.4</a:t>
            </a:r>
          </a:p>
          <a:p>
            <a:pPr lvl="2"/>
            <a:endParaRPr lang="it-IT" sz="2000" dirty="0">
              <a:ea typeface="Calibri" panose="020F0502020204030204"/>
              <a:cs typeface="Calibri" panose="020F0502020204030204"/>
            </a:endParaRPr>
          </a:p>
          <a:p>
            <a:r>
              <a:rPr lang="it-IT" sz="2000" dirty="0">
                <a:ea typeface="Calibri" panose="020F0502020204030204"/>
                <a:cs typeface="Calibri" panose="020F0502020204030204"/>
              </a:rPr>
              <a:t>Tramite una somma pesata si dà più peso alla categoria di interesse maggiore</a:t>
            </a:r>
          </a:p>
        </p:txBody>
      </p:sp>
    </p:spTree>
    <p:extLst>
      <p:ext uri="{BB962C8B-B14F-4D97-AF65-F5344CB8AC3E}">
        <p14:creationId xmlns:p14="http://schemas.microsoft.com/office/powerpoint/2010/main" val="500491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FAA30-5B83-65C7-AC88-FEE88746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CA08-7B7B-890C-1FA6-2A103587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pic>
        <p:nvPicPr>
          <p:cNvPr id="3" name="Immagine 2" descr="Immagine che contiene testo, schermata, numero, Parallelo&#10;&#10;Il contenuto generato dall&amp;#39;IA potrebbe non essere corretto.">
            <a:extLst>
              <a:ext uri="{FF2B5EF4-FFF2-40B4-BE49-F238E27FC236}">
                <a16:creationId xmlns:a16="http://schemas.microsoft.com/office/drawing/2014/main" id="{45DCDD2A-FA78-1CE0-D426-565C0951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716" y="120805"/>
            <a:ext cx="6850567" cy="66256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/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𝐶𝐴𝑇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/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1600" dirty="0"/>
                  <a:t>Dove </a:t>
                </a:r>
                <a14:m>
                  <m:oMath xmlns:m="http://schemas.openxmlformats.org/officeDocument/2006/math">
                    <m:r>
                      <a:rPr lang="it-IT" sz="1600" i="1">
                        <a:latin typeface="Cambria Math" panose="02040503050406030204" pitchFamily="18" charset="0"/>
                      </a:rPr>
                      <m:t>𝐶𝐴𝑇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𝑃𝐴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𝐷𝑄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𝐸𝐸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it-IT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blipFill>
                <a:blip r:embed="rId4"/>
                <a:stretch>
                  <a:fillRect l="-1082" t="-5357" b="-21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1825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12EDE-40AA-5C12-D139-6809F1FE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E2C0-FD24-E8F0-C974-456CAD90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Limitazioni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AAE23-A7D0-DF14-B184-7E0DC6327CD3}"/>
              </a:ext>
            </a:extLst>
          </p:cNvPr>
          <p:cNvSpPr txBox="1"/>
          <p:nvPr/>
        </p:nvSpPr>
        <p:spPr>
          <a:xfrm>
            <a:off x="986828" y="1137150"/>
            <a:ext cx="10773623" cy="18466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ricerca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Termini di inclusione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Requisito download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Singola sorgente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Mancanza di dati per test empirici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Dominanza di modelli IBM (46.6%)</a:t>
            </a:r>
          </a:p>
        </p:txBody>
      </p:sp>
    </p:spTree>
    <p:extLst>
      <p:ext uri="{BB962C8B-B14F-4D97-AF65-F5344CB8AC3E}">
        <p14:creationId xmlns:p14="http://schemas.microsoft.com/office/powerpoint/2010/main" val="2408469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77613-C027-BF08-DC6E-28E68DFD7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7EE9A-7BD0-BFBD-BCA4-56AC85D30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Conclusioni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CBDF80-F302-5887-856F-E1E99C82B6D5}"/>
              </a:ext>
            </a:extLst>
          </p:cNvPr>
          <p:cNvSpPr txBox="1"/>
          <p:nvPr/>
        </p:nvSpPr>
        <p:spPr>
          <a:xfrm>
            <a:off x="986828" y="1137150"/>
            <a:ext cx="10773623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Rilevanza e diversità dei modelli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Solo il 15% dei modelli sono risultati rilevanti/documentati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Il 46.6% di questi svolge analisi di serie temporali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Maggior parte dei modelli rilasciati sotto Apache 2.0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Quelli rimanenti richiedono l’acquisto di una licenza commerciale (tranne CropSeek)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Bias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Scarsamente documentato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Necessiterà un’attenta valutazione nella pratica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 modelli general-purpose presentano comunque una solida opzione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Modelli specializzati possono essere implementati più facilmente</a:t>
            </a:r>
          </a:p>
        </p:txBody>
      </p:sp>
    </p:spTree>
    <p:extLst>
      <p:ext uri="{BB962C8B-B14F-4D97-AF65-F5344CB8AC3E}">
        <p14:creationId xmlns:p14="http://schemas.microsoft.com/office/powerpoint/2010/main" val="951339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6C84-922C-B956-3DAD-E99F88C1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A13B-3AA9-444D-F64E-D160B2B87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  <a:ea typeface="Calibri"/>
                <a:cs typeface="Calibri"/>
              </a:rPr>
              <a:t>Sintesi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A91BF-EF06-C454-7F4E-647F05D6F3F7}"/>
              </a:ext>
            </a:extLst>
          </p:cNvPr>
          <p:cNvSpPr txBox="1"/>
          <p:nvPr/>
        </p:nvSpPr>
        <p:spPr>
          <a:xfrm>
            <a:off x="986828" y="1137150"/>
            <a:ext cx="10773623" cy="36933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Riuso modelli in Precision Farming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Farm-Tech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CRISP-DM per strutturare la ricerca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Raccolta dei modelli da HuggingFace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Revisione Manuale dei modelli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Analisi di ogni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Dataset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Architettura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Licenza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Transfer Learning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Metodo di valutazione</a:t>
            </a:r>
          </a:p>
          <a:p>
            <a:pPr marL="800100" lvl="1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42B90-9935-0982-5ED5-7384457D4913}"/>
              </a:ext>
            </a:extLst>
          </p:cNvPr>
          <p:cNvSpPr txBox="1"/>
          <p:nvPr/>
        </p:nvSpPr>
        <p:spPr>
          <a:xfrm>
            <a:off x="10608397" y="6581001"/>
            <a:ext cx="19072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413644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1766</TotalTime>
  <Words>1102</Words>
  <Application>Microsoft Office PowerPoint</Application>
  <PresentationFormat>Widescreen</PresentationFormat>
  <Paragraphs>161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Office Theme</vt:lpstr>
      <vt:lpstr>Università degli  Studi del Sannio</vt:lpstr>
      <vt:lpstr>Perchè riusare i modelli?</vt:lpstr>
      <vt:lpstr>Precision Farming</vt:lpstr>
      <vt:lpstr>Farm-Tech</vt:lpstr>
      <vt:lpstr>Obbiettivo della tesi</vt:lpstr>
      <vt:lpstr>Metodologia di Ricerca</vt:lpstr>
      <vt:lpstr>Ricerca dei modelli</vt:lpstr>
      <vt:lpstr>Filtraggio Manuale</vt:lpstr>
      <vt:lpstr>Filtraggio Manuale</vt:lpstr>
      <vt:lpstr>Modelli Rilevanti</vt:lpstr>
      <vt:lpstr>Modelli Rilevanti</vt:lpstr>
      <vt:lpstr>Modelli Rilevanti - Licenze</vt:lpstr>
      <vt:lpstr>Modelli Rilevanti – Analisi (in a nutshell)</vt:lpstr>
      <vt:lpstr>Valutazione Riusabilità – Transfer Learning</vt:lpstr>
      <vt:lpstr>Valutazione Riusabilità</vt:lpstr>
      <vt:lpstr>Valutazione Riusabilità</vt:lpstr>
      <vt:lpstr>Valutazione Riusabilità</vt:lpstr>
      <vt:lpstr>Limitazioni</vt:lpstr>
      <vt:lpstr>Conclusioni</vt:lpstr>
      <vt:lpstr>Sintesi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Pennucci</dc:creator>
  <cp:lastModifiedBy>Loris Pennucci</cp:lastModifiedBy>
  <cp:revision>762</cp:revision>
  <dcterms:created xsi:type="dcterms:W3CDTF">2025-12-01T17:30:07Z</dcterms:created>
  <dcterms:modified xsi:type="dcterms:W3CDTF">2025-12-08T18:51:05Z</dcterms:modified>
</cp:coreProperties>
</file>