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2" r:id="rId6"/>
    <p:sldId id="264" r:id="rId7"/>
    <p:sldId id="265" r:id="rId8"/>
    <p:sldId id="266" r:id="rId9"/>
    <p:sldId id="267" r:id="rId10"/>
    <p:sldId id="268" r:id="rId11"/>
    <p:sldId id="290" r:id="rId12"/>
    <p:sldId id="279" r:id="rId13"/>
    <p:sldId id="289" r:id="rId14"/>
    <p:sldId id="282" r:id="rId15"/>
    <p:sldId id="286" r:id="rId16"/>
    <p:sldId id="287" r:id="rId17"/>
    <p:sldId id="288" r:id="rId1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CCCC"/>
    <a:srgbClr val="EA9999"/>
    <a:srgbClr val="B7E1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35D5A-2F8F-4E7A-83D5-81749FFD959E}" v="2923" dt="2025-12-05T10:42:56.594"/>
    <p1510:client id="{B797F5BD-98D0-47E7-94A5-1C436E9EC037}" v="3802" dt="2025-12-05T11:56:41.3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Risulato Filtraggio</c:v>
                </c:pt>
              </c:strCache>
            </c:strRef>
          </c:tx>
          <c:dPt>
            <c:idx val="0"/>
            <c:bubble3D val="0"/>
            <c:spPr>
              <a:solidFill>
                <a:srgbClr val="EA9999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5481-4595-A2B7-A2A355FBA90E}"/>
              </c:ext>
            </c:extLst>
          </c:dPt>
          <c:dPt>
            <c:idx val="1"/>
            <c:bubble3D val="0"/>
            <c:spPr>
              <a:solidFill>
                <a:srgbClr val="F4CCCC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5481-4595-A2B7-A2A355FBA90E}"/>
              </c:ext>
            </c:extLst>
          </c:dPt>
          <c:dPt>
            <c:idx val="2"/>
            <c:bubble3D val="0"/>
            <c:spPr>
              <a:solidFill>
                <a:srgbClr val="B7E1CD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5481-4595-A2B7-A2A355FBA90E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75B2-4F07-9DE4-B162922D3E3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it-IT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Non Rilevanti</c:v>
                </c:pt>
                <c:pt idx="1">
                  <c:v>Non Documentati</c:v>
                </c:pt>
                <c:pt idx="2">
                  <c:v>Rilevanti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60</c:v>
                </c:pt>
                <c:pt idx="1">
                  <c:v>25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81-4595-A2B7-A2A355FBA90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it-IT"/>
          </a:p>
        </c:txPr>
      </c:legendEntry>
      <c:legendEntry>
        <c:idx val="3"/>
        <c:delete val="1"/>
      </c:legendEntry>
      <c:layout>
        <c:manualLayout>
          <c:xMode val="edge"/>
          <c:yMode val="edge"/>
          <c:x val="0.16216308878858862"/>
          <c:y val="0.85967925913516485"/>
          <c:w val="0.70158023021705684"/>
          <c:h val="0.1202014515747565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it-IT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it-IT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29:26.559"/>
    </inkml:context>
    <inkml:brush xml:id="br0">
      <inkml:brushProperty name="width" value="0.3" units="cm"/>
      <inkml:brushProperty name="height" value="0.6" units="cm"/>
      <inkml:brushProperty name="color" value="#66FF6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1,'5370'0,"-5347"0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29:32.624"/>
    </inkml:context>
    <inkml:brush xml:id="br0">
      <inkml:brushProperty name="width" value="0.3" units="cm"/>
      <inkml:brushProperty name="height" value="0.6" units="cm"/>
      <inkml:brushProperty name="color" value="#66FF6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0,'2722'0,"-2706"0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29:45.932"/>
    </inkml:context>
    <inkml:brush xml:id="br0">
      <inkml:brushProperty name="width" value="0.3" units="cm"/>
      <inkml:brushProperty name="height" value="0.6" units="cm"/>
      <inkml:brushProperty name="color" value="#66FF6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0,'4127'0,"-4104"0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29:52.990"/>
    </inkml:context>
    <inkml:brush xml:id="br0">
      <inkml:brushProperty name="width" value="0.3" units="cm"/>
      <inkml:brushProperty name="height" value="0.6" units="cm"/>
      <inkml:brushProperty name="color" value="#66FF6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0,'3201'0,"-3178"0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0:03.386"/>
    </inkml:context>
    <inkml:brush xml:id="br0">
      <inkml:brushProperty name="width" value="0.3" units="cm"/>
      <inkml:brushProperty name="height" value="0.6" units="cm"/>
      <inkml:brushProperty name="color" value="#66FF6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0,'5370'0,"-5347"0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0:11.868"/>
    </inkml:context>
    <inkml:brush xml:id="br0">
      <inkml:brushProperty name="width" value="0.3" units="cm"/>
      <inkml:brushProperty name="height" value="0.6" units="cm"/>
      <inkml:brushProperty name="color" value="#66FF66"/>
      <inkml:brushProperty name="tip" value="rectangle"/>
      <inkml:brushProperty name="rasterOp" value="maskPen"/>
      <inkml:brushProperty name="ignorePressure" value="1"/>
    </inkml:brush>
  </inkml:definitions>
  <inkml:trace contextRef="#ctx0" brushRef="#br0">28 1,'-27'0,"46"0,47 0,2824 0,-2872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0:50.099"/>
    </inkml:context>
    <inkml:brush xml:id="br0">
      <inkml:brushProperty name="width" value="0.3" units="cm"/>
      <inkml:brushProperty name="height" value="0.6" units="cm"/>
      <inkml:brushProperty name="color" value="#FF993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0,'7990'0,"-7967"0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0:57.972"/>
    </inkml:context>
    <inkml:brush xml:id="br0">
      <inkml:brushProperty name="width" value="0.3" units="cm"/>
      <inkml:brushProperty name="height" value="0.6" units="cm"/>
      <inkml:brushProperty name="color" value="#FF993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0,'7912'0,"-7890"0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1:14.031"/>
    </inkml:context>
    <inkml:brush xml:id="br0">
      <inkml:brushProperty name="width" value="0.3" units="cm"/>
      <inkml:brushProperty name="height" value="0.6" units="cm"/>
      <inkml:brushProperty name="color" value="#FF993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0,'8256'0,"-8234"0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1:26.565"/>
    </inkml:context>
    <inkml:brush xml:id="br0">
      <inkml:brushProperty name="width" value="0.3" units="cm"/>
      <inkml:brushProperty name="height" value="0.6" units="cm"/>
      <inkml:brushProperty name="color" value="#FF993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0,'7567'0,"-7544"0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1:40.606"/>
    </inkml:context>
    <inkml:brush xml:id="br0">
      <inkml:brushProperty name="width" value="0.3" units="cm"/>
      <inkml:brushProperty name="height" value="0.6" units="cm"/>
      <inkml:brushProperty name="color" value="#FF33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0,'4129'0,"-4107"0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2:04.544"/>
    </inkml:context>
    <inkml:brush xml:id="br0">
      <inkml:brushProperty name="width" value="0.3" units="cm"/>
      <inkml:brushProperty name="height" value="0.6" units="cm"/>
      <inkml:brushProperty name="color" value="#66FF6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1,'7938'0,"-7916"0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2:13.640"/>
    </inkml:context>
    <inkml:brush xml:id="br0">
      <inkml:brushProperty name="width" value="0.3" units="cm"/>
      <inkml:brushProperty name="height" value="0.6" units="cm"/>
      <inkml:brushProperty name="color" value="#66FF66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1,'4816'0,"-4794"0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2:36.064"/>
    </inkml:context>
    <inkml:brush xml:id="br0">
      <inkml:brushProperty name="width" value="0.3" units="cm"/>
      <inkml:brushProperty name="height" value="0.6" units="cm"/>
      <inkml:brushProperty name="color" value="#66FF66"/>
      <inkml:brushProperty name="tip" value="rectangle"/>
      <inkml:brushProperty name="rasterOp" value="maskPen"/>
      <inkml:brushProperty name="ignorePressure" value="1"/>
    </inkml:brush>
  </inkml:definitions>
  <inkml:trace contextRef="#ctx0" brushRef="#br0">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2:41.005"/>
    </inkml:context>
    <inkml:brush xml:id="br0">
      <inkml:brushProperty name="width" value="0.3" units="cm"/>
      <inkml:brushProperty name="height" value="0.6" units="cm"/>
      <inkml:brushProperty name="color" value="#FF9933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9T09:32:45.087"/>
    </inkml:context>
    <inkml:brush xml:id="br0">
      <inkml:brushProperty name="width" value="0.3" units="cm"/>
      <inkml:brushProperty name="height" value="0.6" units="cm"/>
      <inkml:brushProperty name="color" value="#FF33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1F0387-846B-40EA-946D-51BC87A90898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5AF114-2902-442D-919C-9E8824142BF2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80389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5AF114-2902-442D-919C-9E8824142BF2}" type="slidenum">
              <a:rPr lang="it-IT" smtClean="0"/>
              <a:t>17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485922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88E82-1176-EE3E-1BA5-19ED0E324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6CBCE5-CF02-BE2A-18D3-75E24276F8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9D2E0-3389-1911-B387-CC6D045C5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9C19C0-717A-BDBB-E12A-D1A29B171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6BAEC8-FD5E-C1A4-9268-A1586A1B7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793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ABFB-E19D-809F-36B2-9BBC5D865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74B48-EF6B-5513-7A58-D50E91AB7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72E2B-2438-DF5C-B27A-148B7E020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7DB466-562D-B481-45C9-78799103C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694964-5084-8838-05E4-CED2005B0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65836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1A234-9799-4416-0B08-3DADA5B96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B6D823-659C-80E3-EE40-730ED83D3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F58C5-A344-77CA-1964-04D5B2843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8FC0C-B1F7-56AB-59A1-0C3B2BCAAF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AC812-1970-1671-768F-B1B99D8E1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28532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5B58B5-9DCE-8102-9BA1-5171CB05C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5A4C98-85BE-8968-411D-85DA8F9481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1DBB790-1E6F-44E9-128D-671D257663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73023-EA24-7B8A-966C-5B2028743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289CE-D455-F2DD-07DD-B4D16132FD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21AF2C-D1F7-E1E8-A22F-6BC12A20D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495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587C-2B08-714C-5EC1-0D55D0485C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A109A-12D6-6712-1F96-65A6C50A4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11A8F3-B250-511D-6653-1363A08D4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EE68F-95AE-660C-5534-08340B1C05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D7D7F6-A6FC-A32D-3E0C-4595C2B0AA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0C1A75-3106-C0C1-9253-831CB9249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1CE1D0-C8ED-1DE5-E31F-7683533D7C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1384D5A-BBAC-574B-0615-D6D60099D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87582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9EC0A-A28E-BB37-51AB-F3E01D5B91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91C10-07D3-AD17-C08D-60990D40D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6C3DD1-C973-506F-1C2F-6F1BF9462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10C126-2680-ED41-DDA0-2F417D36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950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8CCDE19-22FF-3770-2E0D-3435B6DA4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28985E-F722-48B6-311D-20C17D442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43B9AC-E68E-7F2D-65C9-462760A67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91261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376D39-F814-7544-7B8C-48CF352E5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0AA5D5-6390-BF9D-C15F-893C9F6CEF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D12AC1-F07F-A826-4DF4-2C8360DB49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373E4D-D131-5931-9C1D-1281A6B3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2D501D-8AFD-79E9-5994-3310E5D8D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930951-8A79-A772-06CC-913877394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034193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B6E45-CD92-A080-713F-B0A2F3BAFD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D44045-2961-4C2F-8029-AA477DBB0A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38E220-CEB0-CB93-BB97-9831CF57EC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90F319-7778-E56D-5171-F210F1A20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20DDEF-43B7-A34D-FF26-4802D2513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D991C1-E86B-0A4D-7931-C4DE67EFD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6913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1F017-12B5-0C8D-55B4-225289129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14C7A6-256C-48A5-9620-43B31BAD44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F5C123-E4A3-C152-0EE2-E47873964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FEC93F-5E6D-0118-DE43-FCAD22C62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B579C-D7F1-045C-F32E-94D5F39B4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42770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012B5F-D184-03BD-7BF9-202E18B084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6ED5A4-84EA-6DD3-0EE2-A40F89AC53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B691C-1371-8821-F65E-A2B338898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35356-BAFF-4C91-CA11-BBE0E26CB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C6568-7BE8-EDCB-23DD-F72E5B6C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22448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8E6AE8-61FD-79F5-0B61-97E0FBAEA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6657B4-2785-3D1E-3382-28910A980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154441-B849-8C8E-BCF1-09D4FBF196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5BC3CB-4661-43F6-808C-2743A578ABD9}" type="datetimeFigureOut">
              <a:rPr lang="it-IT" smtClean="0"/>
              <a:t>09/12/2025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DE073-91E7-9C58-44F0-727BD583E6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669F31-E570-31F2-5289-4986314BD9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9AF563-3BBE-4E13-B88A-DA5D71AE154D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00619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customXml" Target="../ink/ink9.xml"/><Relationship Id="rId26" Type="http://schemas.openxmlformats.org/officeDocument/2006/relationships/customXml" Target="../ink/ink13.xml"/><Relationship Id="rId3" Type="http://schemas.openxmlformats.org/officeDocument/2006/relationships/customXml" Target="../ink/ink1.xml"/><Relationship Id="rId21" Type="http://schemas.openxmlformats.org/officeDocument/2006/relationships/image" Target="../media/image18.png"/><Relationship Id="rId7" Type="http://schemas.openxmlformats.org/officeDocument/2006/relationships/customXml" Target="../ink/ink3.xml"/><Relationship Id="rId12" Type="http://schemas.openxmlformats.org/officeDocument/2006/relationships/customXml" Target="../ink/ink6.xml"/><Relationship Id="rId17" Type="http://schemas.openxmlformats.org/officeDocument/2006/relationships/image" Target="../media/image16.png"/><Relationship Id="rId25" Type="http://schemas.openxmlformats.org/officeDocument/2006/relationships/image" Target="../media/image20.png"/><Relationship Id="rId33" Type="http://schemas.openxmlformats.org/officeDocument/2006/relationships/image" Target="../media/image24.png"/><Relationship Id="rId2" Type="http://schemas.openxmlformats.org/officeDocument/2006/relationships/image" Target="../media/image9.png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29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customXml" Target="../ink/ink5.xml"/><Relationship Id="rId24" Type="http://schemas.openxmlformats.org/officeDocument/2006/relationships/customXml" Target="../ink/ink12.xml"/><Relationship Id="rId32" Type="http://schemas.openxmlformats.org/officeDocument/2006/relationships/customXml" Target="../ink/ink16.xml"/><Relationship Id="rId5" Type="http://schemas.openxmlformats.org/officeDocument/2006/relationships/customXml" Target="../ink/ink2.xml"/><Relationship Id="rId15" Type="http://schemas.openxmlformats.org/officeDocument/2006/relationships/image" Target="../media/image15.png"/><Relationship Id="rId23" Type="http://schemas.openxmlformats.org/officeDocument/2006/relationships/image" Target="../media/image19.png"/><Relationship Id="rId28" Type="http://schemas.openxmlformats.org/officeDocument/2006/relationships/customXml" Target="../ink/ink14.xml"/><Relationship Id="rId10" Type="http://schemas.openxmlformats.org/officeDocument/2006/relationships/image" Target="../media/image13.png"/><Relationship Id="rId19" Type="http://schemas.openxmlformats.org/officeDocument/2006/relationships/image" Target="../media/image17.png"/><Relationship Id="rId31" Type="http://schemas.openxmlformats.org/officeDocument/2006/relationships/image" Target="../media/image23.png"/><Relationship Id="rId4" Type="http://schemas.openxmlformats.org/officeDocument/2006/relationships/image" Target="../media/image10.png"/><Relationship Id="rId9" Type="http://schemas.openxmlformats.org/officeDocument/2006/relationships/customXml" Target="../ink/ink4.xml"/><Relationship Id="rId14" Type="http://schemas.openxmlformats.org/officeDocument/2006/relationships/customXml" Target="../ink/ink7.xml"/><Relationship Id="rId22" Type="http://schemas.openxmlformats.org/officeDocument/2006/relationships/customXml" Target="../ink/ink11.xml"/><Relationship Id="rId27" Type="http://schemas.openxmlformats.org/officeDocument/2006/relationships/image" Target="../media/image21.png"/><Relationship Id="rId30" Type="http://schemas.openxmlformats.org/officeDocument/2006/relationships/customXml" Target="../ink/ink15.xml"/><Relationship Id="rId8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0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62CDFA3-29B2-2C5F-3B65-7B3B622C6B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737" y="3094843"/>
            <a:ext cx="11434527" cy="1320163"/>
          </a:xfrm>
        </p:spPr>
        <p:txBody>
          <a:bodyPr>
            <a:normAutofit/>
          </a:bodyPr>
          <a:lstStyle/>
          <a:p>
            <a:r>
              <a:rPr lang="it-IT" sz="3200" noProof="0" dirty="0"/>
              <a:t>Pre-trained models reuse: a case-study in precision farming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0DEF1D-E288-A8DD-E337-6B8C227809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09432" y="428907"/>
            <a:ext cx="2227154" cy="708434"/>
          </a:xfrm>
        </p:spPr>
        <p:txBody>
          <a:bodyPr>
            <a:normAutofit fontScale="90000"/>
          </a:bodyPr>
          <a:lstStyle/>
          <a:p>
            <a:r>
              <a:rPr lang="it-IT" sz="2600" b="1" noProof="0" dirty="0">
                <a:solidFill>
                  <a:schemeClr val="tx2"/>
                </a:solidFill>
              </a:rPr>
              <a:t>Università degli </a:t>
            </a:r>
            <a:br>
              <a:rPr lang="it-IT" sz="2600" b="1" noProof="0" dirty="0">
                <a:solidFill>
                  <a:schemeClr val="tx2"/>
                </a:solidFill>
              </a:rPr>
            </a:br>
            <a:r>
              <a:rPr lang="it-IT" sz="2600" b="1" noProof="0" dirty="0">
                <a:solidFill>
                  <a:schemeClr val="tx2"/>
                </a:solidFill>
              </a:rPr>
              <a:t>Studi del Sannio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D4D617B-04B4-87BC-51B9-E12EED80F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0015" y="72428"/>
            <a:ext cx="1267350" cy="142139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E37B07-CE02-8DED-2F0C-8F1CA9E72EAB}"/>
              </a:ext>
            </a:extLst>
          </p:cNvPr>
          <p:cNvSpPr txBox="1"/>
          <p:nvPr/>
        </p:nvSpPr>
        <p:spPr>
          <a:xfrm>
            <a:off x="3303006" y="2082290"/>
            <a:ext cx="5585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b="1" noProof="0" dirty="0">
                <a:solidFill>
                  <a:schemeClr val="tx2"/>
                </a:solidFill>
              </a:rPr>
              <a:t>Dipartimento di Ingegneria</a:t>
            </a:r>
          </a:p>
          <a:p>
            <a:pPr algn="ctr"/>
            <a:r>
              <a:rPr lang="it-IT" i="1" noProof="0" dirty="0">
                <a:solidFill>
                  <a:schemeClr val="tx2"/>
                </a:solidFill>
              </a:rPr>
              <a:t>Corso di Laurea in Ingegneria Informatica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03F9A90-42DE-83F5-BAD3-F8A2B2951487}"/>
              </a:ext>
            </a:extLst>
          </p:cNvPr>
          <p:cNvSpPr txBox="1"/>
          <p:nvPr/>
        </p:nvSpPr>
        <p:spPr>
          <a:xfrm>
            <a:off x="1056237" y="4606336"/>
            <a:ext cx="3096286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noProof="0" dirty="0"/>
              <a:t>Relatore</a:t>
            </a:r>
          </a:p>
          <a:p>
            <a:r>
              <a:rPr lang="it-IT" noProof="0" dirty="0"/>
              <a:t>Prof. Damian Andrew Tamburri</a:t>
            </a:r>
          </a:p>
          <a:p>
            <a:endParaRPr lang="it-IT" noProof="0" dirty="0"/>
          </a:p>
          <a:p>
            <a:r>
              <a:rPr lang="it-IT" sz="1400" noProof="0" dirty="0"/>
              <a:t>Correlatrice</a:t>
            </a:r>
          </a:p>
          <a:p>
            <a:r>
              <a:rPr lang="it-IT" noProof="0" dirty="0"/>
              <a:t>Federica Pepe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F33DA0F-131A-6367-70FA-2B67687987B8}"/>
              </a:ext>
            </a:extLst>
          </p:cNvPr>
          <p:cNvSpPr txBox="1"/>
          <p:nvPr/>
        </p:nvSpPr>
        <p:spPr>
          <a:xfrm>
            <a:off x="8724526" y="4608220"/>
            <a:ext cx="241123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400" noProof="0" dirty="0"/>
              <a:t>Candidato</a:t>
            </a:r>
          </a:p>
          <a:p>
            <a:r>
              <a:rPr lang="it-IT" noProof="0" dirty="0"/>
              <a:t>Loris Umberto Pennucci</a:t>
            </a:r>
          </a:p>
          <a:p>
            <a:r>
              <a:rPr lang="it-IT" noProof="0" dirty="0"/>
              <a:t>Matr. 863003783</a:t>
            </a:r>
          </a:p>
          <a:p>
            <a:endParaRPr lang="it-IT" noProof="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34A858-E361-2356-F66D-95B48DB667E4}"/>
              </a:ext>
            </a:extLst>
          </p:cNvPr>
          <p:cNvSpPr txBox="1"/>
          <p:nvPr/>
        </p:nvSpPr>
        <p:spPr>
          <a:xfrm>
            <a:off x="4556911" y="6495905"/>
            <a:ext cx="30781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400" noProof="0" dirty="0"/>
              <a:t>Anno Accademico 2024-2025</a:t>
            </a:r>
          </a:p>
        </p:txBody>
      </p:sp>
    </p:spTree>
    <p:extLst>
      <p:ext uri="{BB962C8B-B14F-4D97-AF65-F5344CB8AC3E}">
        <p14:creationId xmlns:p14="http://schemas.microsoft.com/office/powerpoint/2010/main" val="8585714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CF9F3-0A4B-2598-4BD4-CFEFAA887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noProof="0" dirty="0">
                <a:latin typeface="+mn-lt"/>
              </a:rPr>
              <a:t>Perchè riusare i modelli?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0A285E-0CBB-4FCB-DFD4-8CF59BD27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sz="2000" noProof="0" dirty="0"/>
              <a:t>Il riuso consiste nell’adattare modelli AI già addestrati su grandi dataset a nuovi compiti</a:t>
            </a:r>
          </a:p>
          <a:p>
            <a:r>
              <a:rPr lang="it-IT" sz="2000" noProof="0" dirty="0"/>
              <a:t>Solo su HuggingFace sono caricati più di 2 milioni di modelli</a:t>
            </a:r>
          </a:p>
          <a:p>
            <a:r>
              <a:rPr lang="it-IT" sz="2000" noProof="0" dirty="0"/>
              <a:t>Riusare modelli pre-addestrati conviene in quanto:</a:t>
            </a:r>
          </a:p>
          <a:p>
            <a:pPr lvl="1"/>
            <a:r>
              <a:rPr lang="it-IT" sz="1800" noProof="0" dirty="0"/>
              <a:t>riduce tempi e costi di addestramento</a:t>
            </a:r>
          </a:p>
          <a:p>
            <a:pPr lvl="1"/>
            <a:r>
              <a:rPr lang="it-IT" sz="1800" noProof="0" dirty="0"/>
              <a:t>sfrutta conoscenze già acquisite su grandi dataset</a:t>
            </a:r>
          </a:p>
          <a:p>
            <a:pPr lvl="1"/>
            <a:r>
              <a:rPr lang="it-IT" sz="1800" noProof="0" dirty="0"/>
              <a:t>‘’facile’’ adattamento a compiti specifici</a:t>
            </a:r>
          </a:p>
          <a:p>
            <a:endParaRPr lang="it-IT" noProof="0" dirty="0"/>
          </a:p>
        </p:txBody>
      </p:sp>
    </p:spTree>
    <p:extLst>
      <p:ext uri="{BB962C8B-B14F-4D97-AF65-F5344CB8AC3E}">
        <p14:creationId xmlns:p14="http://schemas.microsoft.com/office/powerpoint/2010/main" val="2967086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4615A3-6A60-2DB8-0F24-37460B30D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178E-8652-7D50-4A1D-4E2B2CC7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866" y="175004"/>
            <a:ext cx="10515600" cy="1325563"/>
          </a:xfrm>
        </p:spPr>
        <p:txBody>
          <a:bodyPr>
            <a:normAutofit/>
          </a:bodyPr>
          <a:lstStyle/>
          <a:p>
            <a:r>
              <a:rPr lang="it-IT" sz="3200" noProof="0" dirty="0">
                <a:latin typeface="+mn-lt"/>
              </a:rPr>
              <a:t>Precision Farming – Farm-Tech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59A99-3365-E7E8-0F5A-CAF5657DB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4996" y="1572132"/>
            <a:ext cx="10515600" cy="4351338"/>
          </a:xfrm>
        </p:spPr>
        <p:txBody>
          <a:bodyPr>
            <a:normAutofit/>
          </a:bodyPr>
          <a:lstStyle/>
          <a:p>
            <a:r>
              <a:rPr lang="it-IT" sz="1800" noProof="0" dirty="0"/>
              <a:t>Approccio innovativo all’agricoltura che integra tecnologie digitali per ottimizzare la gestione delle colture</a:t>
            </a:r>
          </a:p>
          <a:p>
            <a:pPr lvl="1"/>
            <a:r>
              <a:rPr lang="it-IT" sz="1600" noProof="0" dirty="0"/>
              <a:t>Sensori IoT, droni, immagini satellitarie...</a:t>
            </a:r>
          </a:p>
          <a:p>
            <a:r>
              <a:rPr lang="it-IT" sz="1800" noProof="0" dirty="0"/>
              <a:t>Aumentare le rese agricole</a:t>
            </a:r>
          </a:p>
          <a:p>
            <a:r>
              <a:rPr lang="it-IT" sz="1800" noProof="0" dirty="0"/>
              <a:t>Ridurre sprechi</a:t>
            </a:r>
          </a:p>
          <a:p>
            <a:r>
              <a:rPr lang="it-IT" sz="1800" noProof="0" dirty="0"/>
              <a:t>Fornire un tool decisionale agli agricoltori</a:t>
            </a:r>
          </a:p>
          <a:p>
            <a:endParaRPr lang="it-IT" sz="1800" noProof="0" dirty="0"/>
          </a:p>
          <a:p>
            <a:pPr marL="0" indent="0">
              <a:buNone/>
            </a:pPr>
            <a:r>
              <a:rPr lang="it-IT" sz="1800" noProof="0" dirty="0"/>
              <a:t>Progetto di riferimento: Farm-Tech</a:t>
            </a:r>
          </a:p>
          <a:p>
            <a:pPr marL="0" indent="0">
              <a:buNone/>
            </a:pPr>
            <a:endParaRPr lang="it-IT" sz="1800" dirty="0"/>
          </a:p>
          <a:p>
            <a:pPr marL="0" indent="0">
              <a:buNone/>
            </a:pPr>
            <a:endParaRPr lang="it-IT" sz="1800" noProof="0" dirty="0"/>
          </a:p>
          <a:p>
            <a:pPr marL="0" indent="0">
              <a:buNone/>
            </a:pPr>
            <a:r>
              <a:rPr lang="it-IT" sz="1800" dirty="0"/>
              <a:t>chaM3Leon è un framework modulare sviluppato da Smart Shaped</a:t>
            </a:r>
            <a:br>
              <a:rPr lang="it-IT" sz="1800" dirty="0"/>
            </a:br>
            <a:r>
              <a:rPr lang="it-IT" sz="1800" dirty="0"/>
              <a:t>a supporto di applicazioni machine learning; è in questo modulo</a:t>
            </a:r>
            <a:br>
              <a:rPr lang="it-IT" sz="1800" dirty="0"/>
            </a:br>
            <a:r>
              <a:rPr lang="it-IT" sz="1800" dirty="0"/>
              <a:t>che vengono addestrati/usati modelli di ML</a:t>
            </a:r>
          </a:p>
          <a:p>
            <a:pPr marL="0" indent="0">
              <a:buNone/>
            </a:pPr>
            <a:endParaRPr lang="it-IT" sz="1800" noProof="0" dirty="0"/>
          </a:p>
          <a:p>
            <a:pPr lvl="1"/>
            <a:endParaRPr lang="it-IT" sz="1400" noProof="0" dirty="0"/>
          </a:p>
          <a:p>
            <a:pPr lvl="1"/>
            <a:endParaRPr lang="it-IT" sz="1400" noProof="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3BEE62-659D-A0C9-FCB9-76D7EB0558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5554" y="2172832"/>
            <a:ext cx="5505915" cy="459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4111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03E772-0061-E370-DF05-C823AA142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F2AA5-70E4-A2A4-7D37-D8FF08EFE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noProof="0" dirty="0">
                <a:latin typeface="+mn-lt"/>
              </a:rPr>
              <a:t>Obbiettivo della tesi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80ABC-DDAB-3C84-FA86-2E1C8C3C59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87274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noProof="0" dirty="0"/>
              <a:t>Definire criteri e metriche per valutare la riusabilità dei modelli pre-addestrati nel contesto di </a:t>
            </a:r>
            <a:br>
              <a:rPr lang="it-IT" sz="2000" noProof="0" dirty="0"/>
            </a:br>
            <a:r>
              <a:rPr lang="it-IT" sz="2000" noProof="0" dirty="0"/>
              <a:t>Farm-Tech</a:t>
            </a:r>
          </a:p>
          <a:p>
            <a:pPr marL="0" indent="0">
              <a:buNone/>
            </a:pPr>
            <a:r>
              <a:rPr lang="it-IT" sz="2000" noProof="0" dirty="0"/>
              <a:t>Formalmente:</a:t>
            </a:r>
          </a:p>
          <a:p>
            <a:pPr lvl="1"/>
            <a:r>
              <a:rPr lang="it-IT" sz="1800" noProof="0" dirty="0"/>
              <a:t>What criteria and metrics can be considered to evaluate the reusability of pre-trained models in precision farming, and how can these be applied within the Farm-Tech project?</a:t>
            </a:r>
          </a:p>
          <a:p>
            <a:pPr lvl="1"/>
            <a:endParaRPr lang="it-IT" sz="1800" noProof="0" dirty="0"/>
          </a:p>
          <a:p>
            <a:pPr marL="0" indent="0">
              <a:buNone/>
            </a:pPr>
            <a:r>
              <a:rPr lang="it-IT" sz="2000" noProof="0" dirty="0"/>
              <a:t>Stabilito un metodo per valutare la riusabilità di modelli pre-addestrati, verrà applicato a un elenco di modelli selezionati, analizzando in modo sistematico il loro impiego in Farm-Tech</a:t>
            </a:r>
          </a:p>
          <a:p>
            <a:pPr marL="457200" lvl="1" indent="0">
              <a:buNone/>
            </a:pPr>
            <a:endParaRPr lang="it-IT" sz="1400" noProof="0" dirty="0"/>
          </a:p>
        </p:txBody>
      </p:sp>
    </p:spTree>
    <p:extLst>
      <p:ext uri="{BB962C8B-B14F-4D97-AF65-F5344CB8AC3E}">
        <p14:creationId xmlns:p14="http://schemas.microsoft.com/office/powerpoint/2010/main" val="164904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7656F-233C-2639-7CC3-1588ED464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56900"/>
            <a:ext cx="10515600" cy="1325563"/>
          </a:xfrm>
        </p:spPr>
        <p:txBody>
          <a:bodyPr>
            <a:normAutofit/>
          </a:bodyPr>
          <a:lstStyle/>
          <a:p>
            <a:r>
              <a:rPr lang="it-IT" sz="3200" noProof="0" dirty="0">
                <a:latin typeface="+mn-lt"/>
              </a:rPr>
              <a:t>Metodologia di Ricerca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88BB31-1D8D-B07A-4F5D-70AFCE10B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100" y="1740025"/>
            <a:ext cx="9373800" cy="479811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00D084-7EEB-6DF6-CF3F-9962FE3BD990}"/>
              </a:ext>
            </a:extLst>
          </p:cNvPr>
          <p:cNvSpPr txBox="1"/>
          <p:nvPr/>
        </p:nvSpPr>
        <p:spPr>
          <a:xfrm>
            <a:off x="950614" y="1339915"/>
            <a:ext cx="84378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000" noProof="0" dirty="0"/>
              <a:t>La metodologia seguita in questa ricerca si basa sullo standard CRISP-DM</a:t>
            </a:r>
          </a:p>
        </p:txBody>
      </p:sp>
    </p:spTree>
    <p:extLst>
      <p:ext uri="{BB962C8B-B14F-4D97-AF65-F5344CB8AC3E}">
        <p14:creationId xmlns:p14="http://schemas.microsoft.com/office/powerpoint/2010/main" val="4234133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EC75E-C1D6-1EB5-1CB0-BA9E3EF59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0D171-A5BB-F727-5758-F41FB23FA2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3200" noProof="0" dirty="0">
                <a:latin typeface="+mn-lt"/>
              </a:rPr>
              <a:t>Ricerca dei modelli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92356F6-74D1-DCD4-6B04-47189E6D21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7393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it-IT" sz="2000" noProof="0" dirty="0"/>
              <a:t>I modelli considerati sono stati recuperati da HuggingFace se soddisfano le seguenti condizioni:</a:t>
            </a:r>
          </a:p>
          <a:p>
            <a:pPr marL="0" indent="0">
              <a:buNone/>
            </a:pPr>
            <a:endParaRPr lang="it-IT" sz="2000" noProof="0" dirty="0"/>
          </a:p>
          <a:p>
            <a:pPr lvl="1"/>
            <a:r>
              <a:rPr lang="it-IT" sz="2000" noProof="0" dirty="0"/>
              <a:t>Contiene uno qualunque dei seguenti termini all’interno della model card</a:t>
            </a:r>
          </a:p>
          <a:p>
            <a:pPr lvl="2"/>
            <a:r>
              <a:rPr lang="it-IT" sz="1800" dirty="0"/>
              <a:t>"agriculture", "crop", "biomass", "yield", "nitrogen", "phosphorus", "soil", "plant", "drone", "remote sensing", "time series", "field", "tomato", "heatmap", "organism", "vegetable "</a:t>
            </a:r>
          </a:p>
          <a:p>
            <a:pPr lvl="2"/>
            <a:endParaRPr lang="it-IT" sz="1800" noProof="0" dirty="0"/>
          </a:p>
          <a:p>
            <a:pPr lvl="1"/>
            <a:r>
              <a:rPr lang="it-IT" sz="2000" dirty="0"/>
              <a:t>Il modello deve avere più di 100 download totali</a:t>
            </a:r>
          </a:p>
          <a:p>
            <a:pPr lvl="2"/>
            <a:r>
              <a:rPr lang="it-IT" sz="1800" dirty="0"/>
              <a:t>Rilevanza</a:t>
            </a:r>
          </a:p>
          <a:p>
            <a:pPr lvl="2"/>
            <a:r>
              <a:rPr lang="it-IT" sz="1800" dirty="0"/>
              <a:t>Sicurezza</a:t>
            </a:r>
          </a:p>
          <a:p>
            <a:pPr marL="0" indent="0">
              <a:buNone/>
            </a:pPr>
            <a:endParaRPr lang="it-IT" sz="1400" dirty="0"/>
          </a:p>
          <a:p>
            <a:pPr marL="0" indent="0">
              <a:buNone/>
            </a:pPr>
            <a:endParaRPr lang="it-IT" sz="1400" dirty="0"/>
          </a:p>
          <a:p>
            <a:pPr marL="0" indent="0">
              <a:buNone/>
            </a:pPr>
            <a:r>
              <a:rPr lang="it-IT" sz="2000" dirty="0"/>
              <a:t>In tutto, sono stati recuperati 100 modelli</a:t>
            </a:r>
          </a:p>
          <a:p>
            <a:pPr marL="0" indent="0">
              <a:buNone/>
            </a:pPr>
            <a:endParaRPr lang="it-IT" sz="2000" dirty="0"/>
          </a:p>
          <a:p>
            <a:pPr marL="0" indent="0">
              <a:buNone/>
            </a:pPr>
            <a:r>
              <a:rPr lang="it-IT" sz="1600" dirty="0"/>
              <a:t>Lo script usato è accessibile dall’appendice della tesi</a:t>
            </a:r>
          </a:p>
        </p:txBody>
      </p:sp>
    </p:spTree>
    <p:extLst>
      <p:ext uri="{BB962C8B-B14F-4D97-AF65-F5344CB8AC3E}">
        <p14:creationId xmlns:p14="http://schemas.microsoft.com/office/powerpoint/2010/main" val="24443276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54F27-527F-22FC-0391-10EDD2041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58BCF-83B9-5EA4-F734-FED575847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8364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noProof="0" dirty="0">
                <a:latin typeface="+mn-lt"/>
              </a:rPr>
              <a:t>Filtraggio Manuale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665CCF-D6F2-938E-822E-1C43FF2CE2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135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noProof="0" dirty="0"/>
              <a:t>Il metodo di raccolta dei modelli potrebbe includere un elevata quantità di falsi positivi</a:t>
            </a:r>
          </a:p>
          <a:p>
            <a:pPr marL="0" indent="0">
              <a:buNone/>
            </a:pPr>
            <a:r>
              <a:rPr lang="it-IT" sz="2000" noProof="0" dirty="0"/>
              <a:t>Per ovviare, una verifica manuale è stata eseguita in maniera indipendente da due ricercatori, rimuovendo modelli secondo questi parametri:</a:t>
            </a:r>
          </a:p>
          <a:p>
            <a:pPr lvl="1"/>
            <a:r>
              <a:rPr lang="it-IT" sz="1800" dirty="0"/>
              <a:t>Scopo del modello non rilevante a Farm-Tech</a:t>
            </a:r>
          </a:p>
          <a:p>
            <a:pPr lvl="1"/>
            <a:r>
              <a:rPr lang="it-IT" sz="1800" dirty="0"/>
              <a:t>Modello non documentato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0411A3-BFA2-0BC1-2E80-E2A0F3322D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108" y="2826127"/>
            <a:ext cx="4059460" cy="366674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A24914E-7E2C-242B-03C6-79FC448F7D9E}"/>
              </a:ext>
            </a:extLst>
          </p:cNvPr>
          <p:cNvSpPr txBox="1"/>
          <p:nvPr/>
        </p:nvSpPr>
        <p:spPr>
          <a:xfrm>
            <a:off x="1174649" y="6501927"/>
            <a:ext cx="238789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i="1" dirty="0"/>
              <a:t>Modello non documentato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284E678-520D-5C23-FC22-E70D49D45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3067" y="2826126"/>
            <a:ext cx="5183243" cy="36667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ABC328-B5AB-3529-A906-BD3A61098DFE}"/>
              </a:ext>
            </a:extLst>
          </p:cNvPr>
          <p:cNvSpPr txBox="1"/>
          <p:nvPr/>
        </p:nvSpPr>
        <p:spPr>
          <a:xfrm>
            <a:off x="7970408" y="6492874"/>
            <a:ext cx="200343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600" i="1" dirty="0"/>
              <a:t>Modello non rilevante</a:t>
            </a:r>
          </a:p>
        </p:txBody>
      </p:sp>
    </p:spTree>
    <p:extLst>
      <p:ext uri="{BB962C8B-B14F-4D97-AF65-F5344CB8AC3E}">
        <p14:creationId xmlns:p14="http://schemas.microsoft.com/office/powerpoint/2010/main" val="1465074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D5AE15-F7CC-911E-0A0B-427E474E60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C11CF-743E-D110-4E8E-DC4AE4E10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noProof="0" dirty="0">
                <a:latin typeface="+mn-lt"/>
              </a:rPr>
              <a:t>Filtraggio Manuale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7B235-AABE-407D-A715-B06DA68860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2837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sz="2000" noProof="0" dirty="0"/>
              <a:t>In tutto:</a:t>
            </a:r>
          </a:p>
          <a:p>
            <a:pPr lvl="1"/>
            <a:r>
              <a:rPr lang="it-IT" sz="2000" dirty="0"/>
              <a:t>60 modelli rimossi perchè non rilevanti</a:t>
            </a:r>
          </a:p>
          <a:p>
            <a:pPr lvl="1"/>
            <a:r>
              <a:rPr lang="it-IT" sz="2000" noProof="0" dirty="0"/>
              <a:t>25 modell</a:t>
            </a:r>
            <a:r>
              <a:rPr lang="it-IT" sz="2000" dirty="0"/>
              <a:t>i rimossi perchè non documentati</a:t>
            </a:r>
          </a:p>
          <a:p>
            <a:pPr lvl="1"/>
            <a:r>
              <a:rPr lang="it-IT" sz="2000" noProof="0" dirty="0"/>
              <a:t>15 modelli approvati come </a:t>
            </a:r>
            <a:r>
              <a:rPr lang="it-IT" sz="2000" dirty="0"/>
              <a:t>‘’rilevanti’’</a:t>
            </a:r>
            <a:endParaRPr lang="it-IT" sz="2000" noProof="0" dirty="0"/>
          </a:p>
          <a:p>
            <a:pPr marL="0" indent="0">
              <a:buNone/>
            </a:pPr>
            <a:endParaRPr lang="it-IT" sz="18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C8802C40-067F-D040-4D14-92204662DC6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4084117"/>
              </p:ext>
            </p:extLst>
          </p:nvPr>
        </p:nvGraphicFramePr>
        <p:xfrm>
          <a:off x="6427960" y="1720159"/>
          <a:ext cx="5687589" cy="487084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2" name="Picture 11">
            <a:extLst>
              <a:ext uri="{FF2B5EF4-FFF2-40B4-BE49-F238E27FC236}">
                <a16:creationId xmlns:a16="http://schemas.microsoft.com/office/drawing/2014/main" id="{96E66FA2-D553-DCF2-92C2-9AC5C22603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931" y="3930059"/>
            <a:ext cx="6605006" cy="276950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AF91A73-5C3A-7167-1416-C81158F1F11F}"/>
              </a:ext>
            </a:extLst>
          </p:cNvPr>
          <p:cNvSpPr txBox="1"/>
          <p:nvPr/>
        </p:nvSpPr>
        <p:spPr>
          <a:xfrm>
            <a:off x="1744880" y="3509574"/>
            <a:ext cx="29767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Lista Intera accessibile da [12]</a:t>
            </a:r>
          </a:p>
        </p:txBody>
      </p:sp>
    </p:spTree>
    <p:extLst>
      <p:ext uri="{BB962C8B-B14F-4D97-AF65-F5344CB8AC3E}">
        <p14:creationId xmlns:p14="http://schemas.microsoft.com/office/powerpoint/2010/main" val="2235080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D1DD-CAF5-5B43-24D9-C2AFD5BF4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298ED-78F5-6C8A-A53E-2834298F6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noProof="0" dirty="0">
                <a:latin typeface="+mn-lt"/>
              </a:rPr>
              <a:t>Modelli Rilevanti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DEA30E-715D-CF1B-8468-3304A7F48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283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it-IT" sz="2000" dirty="0"/>
              <a:t>I 15 modelli rilevanti svolgono 4 task:</a:t>
            </a:r>
          </a:p>
          <a:p>
            <a:pPr lvl="1"/>
            <a:r>
              <a:rPr lang="it-IT" sz="2000" dirty="0"/>
              <a:t>Analisi di Serie Temporali</a:t>
            </a:r>
          </a:p>
          <a:p>
            <a:pPr lvl="1"/>
            <a:r>
              <a:rPr lang="it-IT" sz="2000" dirty="0"/>
              <a:t>Classificazione di Immagini</a:t>
            </a:r>
          </a:p>
          <a:p>
            <a:pPr lvl="1"/>
            <a:r>
              <a:rPr lang="it-IT" sz="2000" dirty="0"/>
              <a:t>Analisi di immagini acquisite da droni (Drone Image Processing)</a:t>
            </a:r>
            <a:endParaRPr lang="it-IT" sz="2000" dirty="0">
              <a:ea typeface="Calibri"/>
              <a:cs typeface="Calibri"/>
            </a:endParaRPr>
          </a:p>
          <a:p>
            <a:pPr lvl="1"/>
            <a:r>
              <a:rPr lang="it-IT" sz="2000" dirty="0"/>
              <a:t>Assistente chatbot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55469E-0F76-91F6-0E0C-7B626250A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517629"/>
            <a:ext cx="9103740" cy="277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8330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6A717C-F8F5-0091-E9F1-FD7384015C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441A99-5626-AAE2-7C1D-A3D9FA43C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noProof="0" dirty="0">
                <a:latin typeface="+mn-lt"/>
              </a:rPr>
              <a:t>Modelli Rilevanti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961DC8D-9C88-0C83-BE7F-DEF2D2EE51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7771" y="0"/>
            <a:ext cx="72707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57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543B9-7641-D660-AB72-911947DEA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25F28-0816-C1F9-27A7-5BACA047E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826" y="-87546"/>
            <a:ext cx="10515600" cy="766558"/>
          </a:xfrm>
        </p:spPr>
        <p:txBody>
          <a:bodyPr>
            <a:normAutofit/>
          </a:bodyPr>
          <a:lstStyle/>
          <a:p>
            <a:r>
              <a:rPr lang="it-IT" sz="3100" noProof="0" dirty="0">
                <a:latin typeface="+mn-lt"/>
              </a:rPr>
              <a:t>Modelli Rilevanti – Analisi</a:t>
            </a:r>
            <a:r>
              <a:rPr lang="it-IT" sz="3200" noProof="0" dirty="0">
                <a:latin typeface="+mn-lt"/>
              </a:rPr>
              <a:t> </a:t>
            </a:r>
            <a:r>
              <a:rPr lang="it-IT" sz="1600" noProof="0" dirty="0">
                <a:latin typeface="+mn-lt"/>
              </a:rPr>
              <a:t>(in a nutshell)</a:t>
            </a:r>
          </a:p>
        </p:txBody>
      </p:sp>
      <p:pic>
        <p:nvPicPr>
          <p:cNvPr id="4" name="Picture 3" descr="A diagram of a leaf detection&#10;&#10;AI-generated content may be incorrect.">
            <a:extLst>
              <a:ext uri="{FF2B5EF4-FFF2-40B4-BE49-F238E27FC236}">
                <a16:creationId xmlns:a16="http://schemas.microsoft.com/office/drawing/2014/main" id="{B42E78B2-B733-BA81-CAED-B00349BDA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580" y="468319"/>
            <a:ext cx="7997461" cy="63896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A87F1EBB-35B8-A3BE-AE0F-AFCB04E6B963}"/>
                  </a:ext>
                </a:extLst>
              </p14:cNvPr>
              <p14:cNvContentPartPr/>
              <p14:nvPr/>
            </p14:nvContentPartPr>
            <p14:xfrm>
              <a:off x="3181095" y="5920545"/>
              <a:ext cx="1941840" cy="36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A87F1EBB-35B8-A3BE-AE0F-AFCB04E6B963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27455" y="5812905"/>
                <a:ext cx="2049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447C772-D3F3-E73C-84CE-F352FB70122D}"/>
                  </a:ext>
                </a:extLst>
              </p14:cNvPr>
              <p14:cNvContentPartPr/>
              <p14:nvPr/>
            </p14:nvContentPartPr>
            <p14:xfrm>
              <a:off x="3590415" y="5663505"/>
              <a:ext cx="986400" cy="3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447C772-D3F3-E73C-84CE-F352FB70122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536775" y="5555505"/>
                <a:ext cx="1094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FE0B2F3-4841-35C2-A8C0-17C6DF05AF7B}"/>
                  </a:ext>
                </a:extLst>
              </p14:cNvPr>
              <p14:cNvContentPartPr/>
              <p14:nvPr/>
            </p14:nvContentPartPr>
            <p14:xfrm>
              <a:off x="3333375" y="5368305"/>
              <a:ext cx="1494360" cy="3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FE0B2F3-4841-35C2-A8C0-17C6DF05AF7B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3279735" y="5260305"/>
                <a:ext cx="1602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36604EC6-DAB7-372F-BF03-8B96BB8793CE}"/>
                  </a:ext>
                </a:extLst>
              </p14:cNvPr>
              <p14:cNvContentPartPr/>
              <p14:nvPr/>
            </p14:nvContentPartPr>
            <p14:xfrm>
              <a:off x="5276295" y="4101465"/>
              <a:ext cx="1161000" cy="36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36604EC6-DAB7-372F-BF03-8B96BB8793C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222655" y="3993465"/>
                <a:ext cx="12686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34208423-86D3-6FE2-F35E-5095EA4623AE}"/>
                  </a:ext>
                </a:extLst>
              </p14:cNvPr>
              <p14:cNvContentPartPr/>
              <p14:nvPr/>
            </p14:nvContentPartPr>
            <p14:xfrm>
              <a:off x="7133895" y="5873025"/>
              <a:ext cx="1941840" cy="36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34208423-86D3-6FE2-F35E-5095EA4623AE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080255" y="5765025"/>
                <a:ext cx="2049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73B67B43-8E03-9110-B6BD-DD0AF4B1E3B1}"/>
                  </a:ext>
                </a:extLst>
              </p14:cNvPr>
              <p14:cNvContentPartPr/>
              <p14:nvPr/>
            </p14:nvContentPartPr>
            <p14:xfrm>
              <a:off x="7647975" y="5606265"/>
              <a:ext cx="1077840" cy="3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73B67B43-8E03-9110-B6BD-DD0AF4B1E3B1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594335" y="5498625"/>
                <a:ext cx="11854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6C00369E-2D82-ABD0-5CE0-37C15B520384}"/>
                  </a:ext>
                </a:extLst>
              </p14:cNvPr>
              <p14:cNvContentPartPr/>
              <p14:nvPr/>
            </p14:nvContentPartPr>
            <p14:xfrm>
              <a:off x="6790815" y="2129745"/>
              <a:ext cx="2885040" cy="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6C00369E-2D82-ABD0-5CE0-37C15B52038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737175" y="2021745"/>
                <a:ext cx="29926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7F6E13A7-7922-4768-F326-57363322487A}"/>
                  </a:ext>
                </a:extLst>
              </p14:cNvPr>
              <p14:cNvContentPartPr/>
              <p14:nvPr/>
            </p14:nvContentPartPr>
            <p14:xfrm>
              <a:off x="4419135" y="4415745"/>
              <a:ext cx="2856960" cy="36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7F6E13A7-7922-4768-F326-57363322487A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365495" y="4307745"/>
                <a:ext cx="29646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D35777A8-575F-836E-6065-2892E29ED68F}"/>
                  </a:ext>
                </a:extLst>
              </p14:cNvPr>
              <p14:cNvContentPartPr/>
              <p14:nvPr/>
            </p14:nvContentPartPr>
            <p14:xfrm>
              <a:off x="4419135" y="3415665"/>
              <a:ext cx="2980440" cy="3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D35777A8-575F-836E-6065-2892E29ED68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365495" y="3307665"/>
                <a:ext cx="308808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2FBC051C-F071-EEA3-2934-0366FD7BE8A6}"/>
                  </a:ext>
                </a:extLst>
              </p14:cNvPr>
              <p14:cNvContentPartPr/>
              <p14:nvPr/>
            </p14:nvContentPartPr>
            <p14:xfrm>
              <a:off x="6943455" y="1862985"/>
              <a:ext cx="2732760" cy="3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2FBC051C-F071-EEA3-2934-0366FD7BE8A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6889815" y="1754985"/>
                <a:ext cx="28404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50E11510-63CD-8E66-453F-23AF77BD07C4}"/>
                  </a:ext>
                </a:extLst>
              </p14:cNvPr>
              <p14:cNvContentPartPr/>
              <p14:nvPr/>
            </p14:nvContentPartPr>
            <p14:xfrm>
              <a:off x="7419375" y="5311065"/>
              <a:ext cx="1495080" cy="36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50E11510-63CD-8E66-453F-23AF77BD07C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365735" y="5203065"/>
                <a:ext cx="160272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A8E882AA-944F-227E-2AE9-44E67FA94C49}"/>
                  </a:ext>
                </a:extLst>
              </p14:cNvPr>
              <p14:cNvContentPartPr/>
              <p14:nvPr/>
            </p14:nvContentPartPr>
            <p14:xfrm>
              <a:off x="2876175" y="1853265"/>
              <a:ext cx="2866320" cy="36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A8E882AA-944F-227E-2AE9-44E67FA94C49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822535" y="1745625"/>
                <a:ext cx="297396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96329053-CC80-4D5A-B22E-50FA01A23CF6}"/>
                  </a:ext>
                </a:extLst>
              </p14:cNvPr>
              <p14:cNvContentPartPr/>
              <p14:nvPr/>
            </p14:nvContentPartPr>
            <p14:xfrm>
              <a:off x="7429095" y="1624665"/>
              <a:ext cx="1742400" cy="3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96329053-CC80-4D5A-B22E-50FA01A23CF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7375455" y="1517025"/>
                <a:ext cx="185004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6BEDFEE2-F5F9-C650-1DEF-BA0AD111614F}"/>
                  </a:ext>
                </a:extLst>
              </p14:cNvPr>
              <p14:cNvContentPartPr/>
              <p14:nvPr/>
            </p14:nvContentPartPr>
            <p14:xfrm>
              <a:off x="195974" y="5658691"/>
              <a:ext cx="360" cy="3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6BEDFEE2-F5F9-C650-1DEF-BA0AD111614F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42334" y="555069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9B8D3C7-F6D5-FCB0-64D5-CA5C16CE1AEC}"/>
                  </a:ext>
                </a:extLst>
              </p14:cNvPr>
              <p14:cNvContentPartPr/>
              <p14:nvPr/>
            </p14:nvContentPartPr>
            <p14:xfrm>
              <a:off x="176894" y="6144331"/>
              <a:ext cx="360" cy="36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9B8D3C7-F6D5-FCB0-64D5-CA5C16CE1AEC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23254" y="6036331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F68039CD-F897-9309-0E5E-1D89F83156D1}"/>
                  </a:ext>
                </a:extLst>
              </p14:cNvPr>
              <p14:cNvContentPartPr/>
              <p14:nvPr/>
            </p14:nvContentPartPr>
            <p14:xfrm>
              <a:off x="176894" y="6592171"/>
              <a:ext cx="360" cy="3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F68039CD-F897-9309-0E5E-1D89F83156D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23254" y="6484171"/>
                <a:ext cx="108000" cy="216000"/>
              </a:xfrm>
              <a:prstGeom prst="rect">
                <a:avLst/>
              </a:prstGeom>
            </p:spPr>
          </p:pic>
        </mc:Fallback>
      </mc:AlternateContent>
      <p:sp>
        <p:nvSpPr>
          <p:cNvPr id="42" name="TextBox 41">
            <a:extLst>
              <a:ext uri="{FF2B5EF4-FFF2-40B4-BE49-F238E27FC236}">
                <a16:creationId xmlns:a16="http://schemas.microsoft.com/office/drawing/2014/main" id="{3C8FC1AF-330F-22E6-57CD-C9A18B07DEB0}"/>
              </a:ext>
            </a:extLst>
          </p:cNvPr>
          <p:cNvSpPr txBox="1"/>
          <p:nvPr/>
        </p:nvSpPr>
        <p:spPr>
          <a:xfrm>
            <a:off x="276432" y="5474025"/>
            <a:ext cx="173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Permissiva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BC64FAB4-7311-5898-782E-8D04C7F7C16B}"/>
              </a:ext>
            </a:extLst>
          </p:cNvPr>
          <p:cNvSpPr txBox="1"/>
          <p:nvPr/>
        </p:nvSpPr>
        <p:spPr>
          <a:xfrm>
            <a:off x="246582" y="5959665"/>
            <a:ext cx="234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Commerciale/Nessuna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6A693E9-416C-FD57-F113-862930E27CEB}"/>
              </a:ext>
            </a:extLst>
          </p:cNvPr>
          <p:cNvSpPr txBox="1"/>
          <p:nvPr/>
        </p:nvSpPr>
        <p:spPr>
          <a:xfrm>
            <a:off x="246582" y="6365280"/>
            <a:ext cx="1733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dirty="0"/>
              <a:t>Restrittiva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8C50D0C-6CBE-B29C-09D4-4A3123DC1C53}"/>
              </a:ext>
            </a:extLst>
          </p:cNvPr>
          <p:cNvSpPr txBox="1"/>
          <p:nvPr/>
        </p:nvSpPr>
        <p:spPr>
          <a:xfrm>
            <a:off x="176894" y="5086552"/>
            <a:ext cx="23495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Licenze</a:t>
            </a:r>
          </a:p>
        </p:txBody>
      </p:sp>
    </p:spTree>
    <p:extLst>
      <p:ext uri="{BB962C8B-B14F-4D97-AF65-F5344CB8AC3E}">
        <p14:creationId xmlns:p14="http://schemas.microsoft.com/office/powerpoint/2010/main" val="345390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ACDEF-6D9A-D394-0BAB-EE7842EFA9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D843F-7029-1F2E-7D08-B284C29B0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dirty="0">
                <a:latin typeface="+mn-lt"/>
              </a:rPr>
              <a:t>Valutazione Riusabilità – Transfer Learning</a:t>
            </a:r>
            <a:endParaRPr lang="it-IT" sz="3200" u="sng" noProof="0" dirty="0" err="1">
              <a:latin typeface="+mn-lt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7017241-B898-E6A5-D692-D031F1A2C3AD}"/>
              </a:ext>
            </a:extLst>
          </p:cNvPr>
          <p:cNvSpPr txBox="1"/>
          <p:nvPr/>
        </p:nvSpPr>
        <p:spPr>
          <a:xfrm>
            <a:off x="986828" y="1276540"/>
            <a:ext cx="10773623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000" dirty="0">
                <a:ea typeface="Calibri"/>
                <a:cs typeface="Calibri"/>
              </a:rPr>
              <a:t>IBM: "</a:t>
            </a:r>
            <a:r>
              <a:rPr lang="it-IT" sz="2000" dirty="0">
                <a:ea typeface="+mn-lt"/>
                <a:cs typeface="+mn-lt"/>
              </a:rPr>
              <a:t>Transfer learning </a:t>
            </a:r>
            <a:r>
              <a:rPr lang="it-IT" sz="2000" err="1">
                <a:ea typeface="+mn-lt"/>
                <a:cs typeface="+mn-lt"/>
              </a:rPr>
              <a:t>is</a:t>
            </a:r>
            <a:r>
              <a:rPr lang="it-IT" sz="2000" dirty="0">
                <a:ea typeface="+mn-lt"/>
                <a:cs typeface="+mn-lt"/>
              </a:rPr>
              <a:t> a machine learning technique in </a:t>
            </a:r>
            <a:r>
              <a:rPr lang="it-IT" sz="2000" err="1">
                <a:ea typeface="+mn-lt"/>
                <a:cs typeface="+mn-lt"/>
              </a:rPr>
              <a:t>which</a:t>
            </a:r>
            <a:r>
              <a:rPr lang="it-IT" sz="2000" dirty="0">
                <a:ea typeface="+mn-lt"/>
                <a:cs typeface="+mn-lt"/>
              </a:rPr>
              <a:t> knowledge </a:t>
            </a:r>
            <a:r>
              <a:rPr lang="it-IT" sz="2000" err="1">
                <a:ea typeface="+mn-lt"/>
                <a:cs typeface="+mn-lt"/>
              </a:rPr>
              <a:t>gained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err="1">
                <a:ea typeface="+mn-lt"/>
                <a:cs typeface="+mn-lt"/>
              </a:rPr>
              <a:t>through</a:t>
            </a:r>
            <a:r>
              <a:rPr lang="it-IT" sz="2000" dirty="0">
                <a:ea typeface="+mn-lt"/>
                <a:cs typeface="+mn-lt"/>
              </a:rPr>
              <a:t> one task or dataset </a:t>
            </a:r>
            <a:r>
              <a:rPr lang="it-IT" sz="2000" err="1">
                <a:ea typeface="+mn-lt"/>
                <a:cs typeface="+mn-lt"/>
              </a:rPr>
              <a:t>is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err="1">
                <a:ea typeface="+mn-lt"/>
                <a:cs typeface="+mn-lt"/>
              </a:rPr>
              <a:t>used</a:t>
            </a:r>
            <a:r>
              <a:rPr lang="it-IT" sz="2000" dirty="0">
                <a:ea typeface="+mn-lt"/>
                <a:cs typeface="+mn-lt"/>
              </a:rPr>
              <a:t> to </a:t>
            </a:r>
            <a:r>
              <a:rPr lang="it-IT" sz="2000" err="1">
                <a:ea typeface="+mn-lt"/>
                <a:cs typeface="+mn-lt"/>
              </a:rPr>
              <a:t>improve</a:t>
            </a:r>
            <a:r>
              <a:rPr lang="it-IT" sz="2000" dirty="0">
                <a:ea typeface="+mn-lt"/>
                <a:cs typeface="+mn-lt"/>
              </a:rPr>
              <a:t> model performance on </a:t>
            </a:r>
            <a:r>
              <a:rPr lang="it-IT" sz="2000" err="1">
                <a:ea typeface="+mn-lt"/>
                <a:cs typeface="+mn-lt"/>
              </a:rPr>
              <a:t>another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err="1">
                <a:ea typeface="+mn-lt"/>
                <a:cs typeface="+mn-lt"/>
              </a:rPr>
              <a:t>related</a:t>
            </a:r>
            <a:r>
              <a:rPr lang="it-IT" sz="2000" dirty="0">
                <a:ea typeface="+mn-lt"/>
                <a:cs typeface="+mn-lt"/>
              </a:rPr>
              <a:t> task or </a:t>
            </a:r>
            <a:r>
              <a:rPr lang="it-IT" sz="2000" err="1">
                <a:ea typeface="+mn-lt"/>
                <a:cs typeface="+mn-lt"/>
              </a:rPr>
              <a:t>different</a:t>
            </a:r>
            <a:r>
              <a:rPr lang="it-IT" sz="2000" dirty="0">
                <a:ea typeface="+mn-lt"/>
                <a:cs typeface="+mn-lt"/>
              </a:rPr>
              <a:t> dataset. In </a:t>
            </a:r>
            <a:r>
              <a:rPr lang="it-IT" sz="2000" err="1">
                <a:ea typeface="+mn-lt"/>
                <a:cs typeface="+mn-lt"/>
              </a:rPr>
              <a:t>other</a:t>
            </a:r>
            <a:r>
              <a:rPr lang="it-IT" sz="2000" dirty="0">
                <a:ea typeface="+mn-lt"/>
                <a:cs typeface="+mn-lt"/>
              </a:rPr>
              <a:t> words, transfer learning </a:t>
            </a:r>
            <a:r>
              <a:rPr lang="it-IT" sz="2000" err="1">
                <a:ea typeface="+mn-lt"/>
                <a:cs typeface="+mn-lt"/>
              </a:rPr>
              <a:t>uses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err="1">
                <a:ea typeface="+mn-lt"/>
                <a:cs typeface="+mn-lt"/>
              </a:rPr>
              <a:t>what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err="1">
                <a:ea typeface="+mn-lt"/>
                <a:cs typeface="+mn-lt"/>
              </a:rPr>
              <a:t>has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err="1">
                <a:ea typeface="+mn-lt"/>
                <a:cs typeface="+mn-lt"/>
              </a:rPr>
              <a:t>been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err="1">
                <a:ea typeface="+mn-lt"/>
                <a:cs typeface="+mn-lt"/>
              </a:rPr>
              <a:t>learned</a:t>
            </a:r>
            <a:r>
              <a:rPr lang="it-IT" sz="2000" dirty="0">
                <a:ea typeface="+mn-lt"/>
                <a:cs typeface="+mn-lt"/>
              </a:rPr>
              <a:t> in one setting to </a:t>
            </a:r>
            <a:r>
              <a:rPr lang="it-IT" sz="2000" err="1">
                <a:ea typeface="+mn-lt"/>
                <a:cs typeface="+mn-lt"/>
              </a:rPr>
              <a:t>improve</a:t>
            </a:r>
            <a:r>
              <a:rPr lang="it-IT" sz="2000" dirty="0">
                <a:ea typeface="+mn-lt"/>
                <a:cs typeface="+mn-lt"/>
              </a:rPr>
              <a:t> </a:t>
            </a:r>
            <a:r>
              <a:rPr lang="it-IT" sz="2000" err="1">
                <a:ea typeface="+mn-lt"/>
                <a:cs typeface="+mn-lt"/>
              </a:rPr>
              <a:t>generalization</a:t>
            </a:r>
            <a:r>
              <a:rPr lang="it-IT" sz="2000" dirty="0">
                <a:ea typeface="+mn-lt"/>
                <a:cs typeface="+mn-lt"/>
              </a:rPr>
              <a:t> in </a:t>
            </a:r>
            <a:r>
              <a:rPr lang="it-IT" sz="2000" err="1">
                <a:ea typeface="+mn-lt"/>
                <a:cs typeface="+mn-lt"/>
              </a:rPr>
              <a:t>another</a:t>
            </a:r>
            <a:r>
              <a:rPr lang="it-IT" sz="2000" dirty="0">
                <a:ea typeface="+mn-lt"/>
                <a:cs typeface="+mn-lt"/>
              </a:rPr>
              <a:t> setting</a:t>
            </a:r>
            <a:r>
              <a:rPr lang="it-IT" sz="2000" dirty="0">
                <a:ea typeface="Calibri"/>
                <a:cs typeface="Calibri"/>
              </a:rPr>
              <a:t>."</a:t>
            </a:r>
            <a:endParaRPr lang="it-IT"/>
          </a:p>
          <a:p>
            <a:pPr marL="342900" indent="-342900">
              <a:buFont typeface="Arial"/>
              <a:buChar char="•"/>
            </a:pPr>
            <a:endParaRPr lang="it-IT" sz="2000" dirty="0">
              <a:ea typeface="Calibri"/>
              <a:cs typeface="Calibri"/>
            </a:endParaRPr>
          </a:p>
          <a:p>
            <a:r>
              <a:rPr lang="it-IT" sz="2000" dirty="0">
                <a:ea typeface="Calibri"/>
                <a:cs typeface="Calibri"/>
              </a:rPr>
              <a:t>Fattori importanti: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Compatibilità di Task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Disponibilità di dati per fine-tuning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Licenze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Domain shift e </a:t>
            </a:r>
            <a:r>
              <a:rPr lang="it-IT" sz="2000" dirty="0" err="1">
                <a:ea typeface="Calibri"/>
                <a:cs typeface="Calibri"/>
              </a:rPr>
              <a:t>Bias</a:t>
            </a:r>
            <a:r>
              <a:rPr lang="it-IT" sz="2000" dirty="0">
                <a:ea typeface="Calibri"/>
                <a:cs typeface="Calibri"/>
              </a:rPr>
              <a:t>*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Limiti operativi*</a:t>
            </a:r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EDBA4BF4-5616-FB95-CDD8-E46AC7AE3040}"/>
              </a:ext>
            </a:extLst>
          </p:cNvPr>
          <p:cNvSpPr txBox="1"/>
          <p:nvPr/>
        </p:nvSpPr>
        <p:spPr>
          <a:xfrm>
            <a:off x="988370" y="6410712"/>
            <a:ext cx="960119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it-IT" sz="1600" dirty="0">
                <a:ea typeface="+mn-lt"/>
                <a:cs typeface="+mn-lt"/>
              </a:rPr>
              <a:t>IBM, " </a:t>
            </a:r>
            <a:r>
              <a:rPr lang="it-IT" sz="1600" dirty="0" err="1">
                <a:ea typeface="+mn-lt"/>
                <a:cs typeface="+mn-lt"/>
              </a:rPr>
              <a:t>What</a:t>
            </a:r>
            <a:r>
              <a:rPr lang="it-IT" sz="1600" dirty="0">
                <a:ea typeface="+mn-lt"/>
                <a:cs typeface="+mn-lt"/>
              </a:rPr>
              <a:t> </a:t>
            </a:r>
            <a:r>
              <a:rPr lang="it-IT" sz="1600" dirty="0" err="1">
                <a:ea typeface="+mn-lt"/>
                <a:cs typeface="+mn-lt"/>
              </a:rPr>
              <a:t>is</a:t>
            </a:r>
            <a:r>
              <a:rPr lang="it-IT" sz="1600" dirty="0">
                <a:ea typeface="+mn-lt"/>
                <a:cs typeface="+mn-lt"/>
              </a:rPr>
              <a:t> transfer learning?" [Online]. </a:t>
            </a:r>
            <a:r>
              <a:rPr lang="it-IT" sz="1600" dirty="0" err="1">
                <a:ea typeface="+mn-lt"/>
                <a:cs typeface="+mn-lt"/>
              </a:rPr>
              <a:t>Available</a:t>
            </a:r>
            <a:r>
              <a:rPr lang="it-IT" sz="1600" dirty="0">
                <a:ea typeface="+mn-lt"/>
                <a:cs typeface="+mn-lt"/>
              </a:rPr>
              <a:t>: https://www.ibm.com/think/topics/transfer-learning.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487935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B1E8A0-35FE-A636-21A8-B2596DE493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87478-4503-BBF8-03D3-CA4085745E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dirty="0">
                <a:latin typeface="+mn-lt"/>
              </a:rPr>
              <a:t>Valutazione Riusabilità</a:t>
            </a:r>
            <a:endParaRPr lang="it-IT" sz="3200" u="sng" noProof="0" dirty="0" err="1">
              <a:latin typeface="+mn-lt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6509102-F7C8-6058-09B6-24692955FC5F}"/>
              </a:ext>
            </a:extLst>
          </p:cNvPr>
          <p:cNvSpPr txBox="1"/>
          <p:nvPr/>
        </p:nvSpPr>
        <p:spPr>
          <a:xfrm>
            <a:off x="688064" y="1016345"/>
            <a:ext cx="11072388" cy="57554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it-IT" sz="2200" dirty="0">
                <a:ea typeface="Calibri"/>
                <a:cs typeface="Calibri"/>
              </a:rPr>
              <a:t>La metodologia proposta prevede l'assegnazione di un punteggio, da 1 a 3, in 4 categorie</a:t>
            </a:r>
          </a:p>
          <a:p>
            <a:endParaRPr lang="it-IT" sz="2200" dirty="0">
              <a:ea typeface="Calibri"/>
              <a:cs typeface="Calibri"/>
            </a:endParaRPr>
          </a:p>
          <a:p>
            <a:endParaRPr lang="it-IT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it-IT" sz="2000" b="1" dirty="0">
                <a:ea typeface="Calibri"/>
                <a:cs typeface="Calibri"/>
              </a:rPr>
              <a:t>Project Alignment (PA)</a:t>
            </a:r>
            <a:r>
              <a:rPr lang="it-IT" sz="2000" dirty="0">
                <a:ea typeface="Calibri"/>
                <a:cs typeface="Calibri"/>
              </a:rPr>
              <a:t>: rilevanza verso Farm-Tech, sia in termini di task che dataset di addestramento</a:t>
            </a:r>
          </a:p>
          <a:p>
            <a:pPr marL="342900" indent="-342900">
              <a:buFont typeface="Arial"/>
              <a:buChar char="•"/>
            </a:pPr>
            <a:endParaRPr lang="it-IT" sz="22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it-IT" sz="2000" b="1" dirty="0">
                <a:ea typeface="Calibri"/>
                <a:cs typeface="Calibri"/>
              </a:rPr>
              <a:t>Quality of Documentation (QD)</a:t>
            </a:r>
            <a:r>
              <a:rPr lang="it-IT" sz="2000" dirty="0">
                <a:ea typeface="Calibri"/>
                <a:cs typeface="Calibri"/>
              </a:rPr>
              <a:t>: utilità della documentazione nell'implementare il modello in un nuovo campo</a:t>
            </a:r>
          </a:p>
          <a:p>
            <a:pPr marL="285750" indent="-285750">
              <a:buFont typeface="Arial"/>
              <a:buChar char="•"/>
            </a:pPr>
            <a:endParaRPr lang="it-IT" sz="20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it-IT" sz="2000" b="1" dirty="0">
                <a:ea typeface="Calibri"/>
                <a:cs typeface="Calibri"/>
              </a:rPr>
              <a:t>Ease of Evaluation (EE)</a:t>
            </a:r>
            <a:r>
              <a:rPr lang="it-IT" sz="2000" dirty="0">
                <a:ea typeface="Calibri"/>
                <a:cs typeface="Calibri"/>
              </a:rPr>
              <a:t>: quanto è semplice valutare l'efficacia del modello nel nuovo campo</a:t>
            </a:r>
          </a:p>
          <a:p>
            <a:pPr marL="285750" indent="-285750">
              <a:buFont typeface="Arial"/>
              <a:buChar char="•"/>
            </a:pPr>
            <a:endParaRPr lang="it-IT" sz="2200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it-IT" sz="2000" b="1" dirty="0">
                <a:ea typeface="Calibri"/>
                <a:cs typeface="Calibri"/>
              </a:rPr>
              <a:t>Licenza (LC)</a:t>
            </a:r>
          </a:p>
          <a:p>
            <a:pPr marL="285750" indent="-285750">
              <a:buFont typeface="Arial"/>
              <a:buChar char="•"/>
            </a:pPr>
            <a:endParaRPr lang="it-IT" sz="2000" b="1" dirty="0">
              <a:ea typeface="Calibri"/>
              <a:cs typeface="Calibri"/>
            </a:endParaRPr>
          </a:p>
          <a:p>
            <a:pPr marL="285750" indent="-285750">
              <a:buFont typeface="Arial"/>
              <a:buChar char="•"/>
            </a:pPr>
            <a:endParaRPr lang="it-IT" sz="2000" b="1" dirty="0">
              <a:ea typeface="Calibri"/>
              <a:cs typeface="Calibri"/>
            </a:endParaRPr>
          </a:p>
          <a:p>
            <a:r>
              <a:rPr lang="it-IT" sz="2000" dirty="0">
                <a:ea typeface="Calibri"/>
                <a:cs typeface="Calibri"/>
              </a:rPr>
              <a:t>Un punteggio finale è calcolato come la media di tutte le categorie</a:t>
            </a:r>
          </a:p>
          <a:p>
            <a:r>
              <a:rPr lang="it-IT" sz="2000" dirty="0">
                <a:ea typeface="Calibri"/>
                <a:cs typeface="Calibri"/>
              </a:rPr>
              <a:t>Alternativamente, somma pesata:</a:t>
            </a:r>
          </a:p>
          <a:p>
            <a:endParaRPr lang="it-IT" sz="2000" dirty="0">
              <a:ea typeface="Calibri"/>
              <a:cs typeface="Calibri"/>
            </a:endParaRPr>
          </a:p>
          <a:p>
            <a:r>
              <a:rPr lang="it-IT" sz="2000" dirty="0">
                <a:ea typeface="Calibri"/>
                <a:cs typeface="Calibri"/>
              </a:rPr>
              <a:t>			</a:t>
            </a:r>
            <a:r>
              <a:rPr lang="it-IT" sz="2000" dirty="0">
                <a:ea typeface="+mn-lt"/>
                <a:cs typeface="+mn-lt"/>
              </a:rPr>
              <a:t>𝑇𝑜𝑡𝑎𝑙 𝑆𝑐𝑜𝑟𝑒 = 𝑃𝐴 ∗ 0.2 + 𝑄𝐷 ∗ 0.2 + 𝐸𝐸 ∗ 0.2 + 𝐿𝐶 ∗ 0.4</a:t>
            </a:r>
          </a:p>
          <a:p>
            <a:endParaRPr lang="it-IT" sz="20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56871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FAA30-5B83-65C7-AC88-FEE8874677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34CA08-7B7B-890C-1FA6-2A1035872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922" y="36512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dirty="0">
                <a:latin typeface="+mn-lt"/>
              </a:rPr>
              <a:t>Valutazione Riusabilità</a:t>
            </a:r>
            <a:endParaRPr lang="it-IT" sz="3200" u="sng" noProof="0" dirty="0" err="1">
              <a:latin typeface="+mn-lt"/>
              <a:ea typeface="Calibri"/>
              <a:cs typeface="Calibri"/>
            </a:endParaRPr>
          </a:p>
        </p:txBody>
      </p:sp>
      <p:pic>
        <p:nvPicPr>
          <p:cNvPr id="3" name="Immagine 2" descr="Immagine che contiene testo, schermata, numero, Parallelo&#10;&#10;Il contenuto generato dall&amp;#39;IA potrebbe non essere corretto.">
            <a:extLst>
              <a:ext uri="{FF2B5EF4-FFF2-40B4-BE49-F238E27FC236}">
                <a16:creationId xmlns:a16="http://schemas.microsoft.com/office/drawing/2014/main" id="{45DCDD2A-FA78-1CE0-D426-565C095168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1812" y="0"/>
            <a:ext cx="7090768" cy="685799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64F934-476C-407A-FA28-CA94535F8784}"/>
                  </a:ext>
                </a:extLst>
              </p:cNvPr>
              <p:cNvSpPr txBox="1"/>
              <p:nvPr/>
            </p:nvSpPr>
            <p:spPr>
              <a:xfrm>
                <a:off x="1249379" y="3040175"/>
                <a:ext cx="2708562" cy="77764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𝑇𝑜𝑡𝑎𝑙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𝑆𝑐𝑜𝑟𝑒</m:t>
                      </m:r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nary>
                        <m:naryPr>
                          <m:chr m:val="∑"/>
                          <m:ctrlPr>
                            <a:rPr lang="it-IT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it-IT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sup>
                        <m:e>
                          <m:sSub>
                            <m:sSubPr>
                              <m:ctrlP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𝐶𝐴𝑇</m:t>
                              </m:r>
                            </m:e>
                            <m:sub>
                              <m:r>
                                <a:rPr lang="it-IT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nary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2F64F934-476C-407A-FA28-CA94535F87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379" y="3040175"/>
                <a:ext cx="2708562" cy="77764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C8105A-5E39-3894-D6F7-436FC53AEDAA}"/>
                  </a:ext>
                </a:extLst>
              </p:cNvPr>
              <p:cNvSpPr txBox="1"/>
              <p:nvPr/>
            </p:nvSpPr>
            <p:spPr>
              <a:xfrm>
                <a:off x="1196964" y="4189894"/>
                <a:ext cx="281339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it-IT" sz="1600" dirty="0"/>
                  <a:t>Dove </a:t>
                </a:r>
                <a14:m>
                  <m:oMath xmlns:m="http://schemas.openxmlformats.org/officeDocument/2006/math">
                    <m:r>
                      <a:rPr lang="it-IT" sz="1600" i="1">
                        <a:latin typeface="Cambria Math" panose="02040503050406030204" pitchFamily="18" charset="0"/>
                      </a:rPr>
                      <m:t>𝐶𝐴𝑇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={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𝑃𝐴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𝐷𝑄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𝐸𝐸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𝐿𝐶</m:t>
                    </m:r>
                    <m:r>
                      <a:rPr lang="it-IT" sz="16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endParaRPr lang="it-IT" sz="16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5C8105A-5E39-3894-D6F7-436FC53AE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96964" y="4189894"/>
                <a:ext cx="2813392" cy="338554"/>
              </a:xfrm>
              <a:prstGeom prst="rect">
                <a:avLst/>
              </a:prstGeom>
              <a:blipFill>
                <a:blip r:embed="rId4"/>
                <a:stretch>
                  <a:fillRect l="-1082" t="-5357" b="-21429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71825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12EDE-40AA-5C12-D139-6809F1FEC8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5EE2C0-FD24-E8F0-C974-456CAD90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dirty="0">
                <a:latin typeface="+mn-lt"/>
              </a:rPr>
              <a:t>Limitazioni</a:t>
            </a:r>
            <a:endParaRPr lang="it-IT" sz="3200" u="sng" noProof="0" dirty="0" err="1">
              <a:latin typeface="+mn-lt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3AAE23-A7D0-DF14-B184-7E0DC6327CD3}"/>
              </a:ext>
            </a:extLst>
          </p:cNvPr>
          <p:cNvSpPr txBox="1"/>
          <p:nvPr/>
        </p:nvSpPr>
        <p:spPr>
          <a:xfrm>
            <a:off x="986828" y="1137150"/>
            <a:ext cx="10773623" cy="233910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Metodo di ricerca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Termini di inclusione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Requisito download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Singola sorgente</a:t>
            </a:r>
          </a:p>
          <a:p>
            <a:pPr marL="800100" lvl="1" indent="-342900">
              <a:buFont typeface="Arial"/>
              <a:buChar char="•"/>
            </a:pPr>
            <a:endParaRPr lang="it-IT" sz="2000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Mancanza di dati per test empirici</a:t>
            </a:r>
          </a:p>
          <a:p>
            <a:pPr marL="342900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Dominanza di modelli IBM (46.6%)</a:t>
            </a:r>
          </a:p>
        </p:txBody>
      </p:sp>
    </p:spTree>
    <p:extLst>
      <p:ext uri="{BB962C8B-B14F-4D97-AF65-F5344CB8AC3E}">
        <p14:creationId xmlns:p14="http://schemas.microsoft.com/office/powerpoint/2010/main" val="24084696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877613-C027-BF08-DC6E-28E68DFD7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7EE9A-7BD0-BFBD-BCA4-56AC85D301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dirty="0">
                <a:latin typeface="+mn-lt"/>
              </a:rPr>
              <a:t>Conclusioni</a:t>
            </a:r>
            <a:endParaRPr lang="it-IT" sz="3200" u="sng" noProof="0" dirty="0" err="1">
              <a:latin typeface="+mn-lt"/>
              <a:ea typeface="Calibri"/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CBDF80-F302-5887-856F-E1E99C82B6D5}"/>
              </a:ext>
            </a:extLst>
          </p:cNvPr>
          <p:cNvSpPr txBox="1"/>
          <p:nvPr/>
        </p:nvSpPr>
        <p:spPr>
          <a:xfrm>
            <a:off x="986828" y="1137150"/>
            <a:ext cx="10773623" cy="470898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Rilevanza e diversità dei modelli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Solo il 15% dei modelli sono risultati rilevanti/documentati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Il 46.6% di questi svolge analisi di serie temporali</a:t>
            </a:r>
          </a:p>
          <a:p>
            <a:pPr marL="800100" lvl="1" indent="-342900">
              <a:buFont typeface="Arial"/>
              <a:buChar char="•"/>
            </a:pPr>
            <a:endParaRPr lang="it-IT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Licenze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Maggior parte dei modelli rilasciati sotto Apache 2.0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Quelli rimanenti richiedono l’acquisto di una licenza commerciale (tranne CropSeek)</a:t>
            </a:r>
          </a:p>
          <a:p>
            <a:pPr marL="800100" lvl="1" indent="-342900">
              <a:buFont typeface="Arial"/>
              <a:buChar char="•"/>
            </a:pPr>
            <a:endParaRPr lang="it-IT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Bias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Scarsamente documentato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Necessiterà un’attenta valutazione nella pratica</a:t>
            </a:r>
          </a:p>
          <a:p>
            <a:pPr marL="800100" lvl="1" indent="-342900">
              <a:buFont typeface="Arial"/>
              <a:buChar char="•"/>
            </a:pPr>
            <a:endParaRPr lang="it-IT" dirty="0">
              <a:ea typeface="Calibri"/>
              <a:cs typeface="Calibri"/>
            </a:endParaRPr>
          </a:p>
          <a:p>
            <a:pPr marL="342900" indent="-342900">
              <a:buFont typeface="Arial"/>
              <a:buChar char="•"/>
            </a:pPr>
            <a:r>
              <a:rPr lang="it-IT" sz="2200" dirty="0">
                <a:ea typeface="Calibri"/>
                <a:cs typeface="Calibri"/>
              </a:rPr>
              <a:t>IBM Granite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I modelli general-purpose presentano comunque una solida opzione</a:t>
            </a:r>
          </a:p>
          <a:p>
            <a:pPr marL="800100" lvl="1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Modelli specializzati possono essere implementati più facilmente</a:t>
            </a:r>
          </a:p>
        </p:txBody>
      </p:sp>
    </p:spTree>
    <p:extLst>
      <p:ext uri="{BB962C8B-B14F-4D97-AF65-F5344CB8AC3E}">
        <p14:creationId xmlns:p14="http://schemas.microsoft.com/office/powerpoint/2010/main" val="951339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7B6C84-922C-B956-3DAD-E99F88C163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9A13B-3AA9-444D-F64E-D160B2B87D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66558"/>
          </a:xfrm>
        </p:spPr>
        <p:txBody>
          <a:bodyPr>
            <a:normAutofit/>
          </a:bodyPr>
          <a:lstStyle/>
          <a:p>
            <a:r>
              <a:rPr lang="it-IT" sz="3200" noProof="0" dirty="0">
                <a:latin typeface="+mn-lt"/>
                <a:ea typeface="Calibri"/>
                <a:cs typeface="Calibri"/>
              </a:rPr>
              <a:t>Sintesi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FA91BF-EF06-C454-7F4E-647F05D6F3F7}"/>
              </a:ext>
            </a:extLst>
          </p:cNvPr>
          <p:cNvSpPr txBox="1"/>
          <p:nvPr/>
        </p:nvSpPr>
        <p:spPr>
          <a:xfrm>
            <a:off x="986828" y="1137150"/>
            <a:ext cx="10773623" cy="369331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Riuso modelli in Precision Farming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Farm-Tech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CRISP-DM per strutturare la ricerca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Raccolta dei modelli da HuggingFace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Revisione Manuale dei modelli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Analisi di ogni modello</a:t>
            </a:r>
          </a:p>
          <a:p>
            <a:pPr marL="800100" lvl="1" indent="-342900">
              <a:buFont typeface="Arial"/>
              <a:buChar char="•"/>
            </a:pPr>
            <a:r>
              <a:rPr lang="it-IT" dirty="0">
                <a:ea typeface="Calibri"/>
                <a:cs typeface="Calibri"/>
              </a:rPr>
              <a:t>Dataset</a:t>
            </a:r>
          </a:p>
          <a:p>
            <a:pPr marL="800100" lvl="1" indent="-342900">
              <a:buFont typeface="Arial"/>
              <a:buChar char="•"/>
            </a:pPr>
            <a:r>
              <a:rPr lang="it-IT" dirty="0">
                <a:ea typeface="Calibri"/>
                <a:cs typeface="Calibri"/>
              </a:rPr>
              <a:t>Architettura</a:t>
            </a:r>
          </a:p>
          <a:p>
            <a:pPr marL="800100" lvl="1" indent="-342900">
              <a:buFont typeface="Arial"/>
              <a:buChar char="•"/>
            </a:pPr>
            <a:r>
              <a:rPr lang="it-IT" dirty="0">
                <a:ea typeface="Calibri"/>
                <a:cs typeface="Calibri"/>
              </a:rPr>
              <a:t>Licenza</a:t>
            </a:r>
          </a:p>
          <a:p>
            <a:pPr marL="342900" indent="-342900">
              <a:buFont typeface="Arial"/>
              <a:buChar char="•"/>
            </a:pPr>
            <a:r>
              <a:rPr lang="it-IT" sz="2000" dirty="0">
                <a:ea typeface="Calibri"/>
                <a:cs typeface="Calibri"/>
              </a:rPr>
              <a:t>Transfer Learning</a:t>
            </a:r>
          </a:p>
          <a:p>
            <a:pPr marL="800100" lvl="1" indent="-342900">
              <a:buFont typeface="Arial"/>
              <a:buChar char="•"/>
            </a:pPr>
            <a:r>
              <a:rPr lang="it-IT" dirty="0">
                <a:ea typeface="Calibri"/>
                <a:cs typeface="Calibri"/>
              </a:rPr>
              <a:t>Metodo di valutazione</a:t>
            </a:r>
          </a:p>
          <a:p>
            <a:pPr marL="800100" lvl="1" indent="-342900">
              <a:buFont typeface="Arial"/>
              <a:buChar char="•"/>
            </a:pPr>
            <a:endParaRPr lang="it-IT" sz="2000" dirty="0">
              <a:ea typeface="Calibri"/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B42B90-9935-0982-5ED5-7384457D4913}"/>
              </a:ext>
            </a:extLst>
          </p:cNvPr>
          <p:cNvSpPr txBox="1"/>
          <p:nvPr/>
        </p:nvSpPr>
        <p:spPr>
          <a:xfrm>
            <a:off x="10608397" y="6581001"/>
            <a:ext cx="190726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Grazie per l’attenzione</a:t>
            </a:r>
          </a:p>
        </p:txBody>
      </p:sp>
    </p:spTree>
    <p:extLst>
      <p:ext uri="{BB962C8B-B14F-4D97-AF65-F5344CB8AC3E}">
        <p14:creationId xmlns:p14="http://schemas.microsoft.com/office/powerpoint/2010/main" val="14136447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1836</TotalTime>
  <Words>873</Words>
  <Application>Microsoft Office PowerPoint</Application>
  <PresentationFormat>Widescreen</PresentationFormat>
  <Paragraphs>148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Cambria Math</vt:lpstr>
      <vt:lpstr>Office Theme</vt:lpstr>
      <vt:lpstr>Università degli  Studi del Sannio</vt:lpstr>
      <vt:lpstr>Perchè riusare i modelli?</vt:lpstr>
      <vt:lpstr>Precision Farming – Farm-Tech</vt:lpstr>
      <vt:lpstr>Obbiettivo della tesi</vt:lpstr>
      <vt:lpstr>Metodologia di Ricerca</vt:lpstr>
      <vt:lpstr>Ricerca dei modelli</vt:lpstr>
      <vt:lpstr>Filtraggio Manuale</vt:lpstr>
      <vt:lpstr>Filtraggio Manuale</vt:lpstr>
      <vt:lpstr>Modelli Rilevanti</vt:lpstr>
      <vt:lpstr>Modelli Rilevanti</vt:lpstr>
      <vt:lpstr>Modelli Rilevanti – Analisi (in a nutshell)</vt:lpstr>
      <vt:lpstr>Valutazione Riusabilità – Transfer Learning</vt:lpstr>
      <vt:lpstr>Valutazione Riusabilità</vt:lpstr>
      <vt:lpstr>Valutazione Riusabilità</vt:lpstr>
      <vt:lpstr>Limitazioni</vt:lpstr>
      <vt:lpstr>Conclusioni</vt:lpstr>
      <vt:lpstr>Sintesi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Loris Pennucci</dc:creator>
  <cp:lastModifiedBy>Loris Pennucci</cp:lastModifiedBy>
  <cp:revision>800</cp:revision>
  <dcterms:created xsi:type="dcterms:W3CDTF">2025-12-01T17:30:07Z</dcterms:created>
  <dcterms:modified xsi:type="dcterms:W3CDTF">2025-12-09T10:28:38Z</dcterms:modified>
</cp:coreProperties>
</file>